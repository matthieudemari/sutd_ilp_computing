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415" r:id="rId2"/>
    <p:sldId id="416" r:id="rId3"/>
    <p:sldId id="275" r:id="rId4"/>
    <p:sldId id="277" r:id="rId5"/>
    <p:sldId id="296" r:id="rId6"/>
    <p:sldId id="298" r:id="rId7"/>
    <p:sldId id="370" r:id="rId8"/>
    <p:sldId id="371" r:id="rId9"/>
    <p:sldId id="418" r:id="rId10"/>
    <p:sldId id="372" r:id="rId11"/>
    <p:sldId id="373" r:id="rId12"/>
    <p:sldId id="374" r:id="rId13"/>
    <p:sldId id="375" r:id="rId14"/>
    <p:sldId id="377" r:id="rId15"/>
    <p:sldId id="378" r:id="rId16"/>
    <p:sldId id="379" r:id="rId17"/>
    <p:sldId id="380" r:id="rId18"/>
    <p:sldId id="410" r:id="rId19"/>
    <p:sldId id="284" r:id="rId20"/>
    <p:sldId id="411" r:id="rId21"/>
    <p:sldId id="381" r:id="rId22"/>
    <p:sldId id="384" r:id="rId23"/>
    <p:sldId id="386" r:id="rId24"/>
    <p:sldId id="389" r:id="rId25"/>
    <p:sldId id="399" r:id="rId26"/>
    <p:sldId id="388" r:id="rId27"/>
    <p:sldId id="391" r:id="rId28"/>
    <p:sldId id="419" r:id="rId29"/>
    <p:sldId id="392" r:id="rId30"/>
    <p:sldId id="393" r:id="rId31"/>
    <p:sldId id="406" r:id="rId32"/>
    <p:sldId id="396" r:id="rId33"/>
    <p:sldId id="398" r:id="rId34"/>
    <p:sldId id="407" r:id="rId35"/>
    <p:sldId id="397" r:id="rId36"/>
    <p:sldId id="404" r:id="rId37"/>
    <p:sldId id="286" r:id="rId38"/>
    <p:sldId id="412" r:id="rId39"/>
    <p:sldId id="405" r:id="rId40"/>
    <p:sldId id="413" r:id="rId41"/>
    <p:sldId id="417" r:id="rId42"/>
    <p:sldId id="420" r:id="rId43"/>
    <p:sldId id="421" r:id="rId44"/>
    <p:sldId id="422" r:id="rId45"/>
    <p:sldId id="423" r:id="rId46"/>
    <p:sldId id="424" r:id="rId47"/>
  </p:sldIdLst>
  <p:sldSz cx="12192000" cy="6858000"/>
  <p:notesSz cx="6858000" cy="9144000"/>
  <p:custDataLst>
    <p:tags r:id="rId49"/>
  </p:custData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1BF0B2F-DB36-44CE-8114-D60DFF170E92}">
          <p14:sldIdLst>
            <p14:sldId id="415"/>
            <p14:sldId id="416"/>
          </p14:sldIdLst>
        </p14:section>
        <p14:section name="About tuples" id="{A1746D69-28F8-4B84-B637-B48A1D61FE89}">
          <p14:sldIdLst>
            <p14:sldId id="275"/>
            <p14:sldId id="277"/>
          </p14:sldIdLst>
        </p14:section>
        <p14:section name="1. Dictionaries: basics" id="{463AAE56-8654-4FC7-A8B3-E5C12A31EC13}">
          <p14:sldIdLst>
            <p14:sldId id="296"/>
            <p14:sldId id="298"/>
            <p14:sldId id="370"/>
            <p14:sldId id="371"/>
            <p14:sldId id="418"/>
            <p14:sldId id="372"/>
            <p14:sldId id="373"/>
            <p14:sldId id="374"/>
            <p14:sldId id="375"/>
            <p14:sldId id="377"/>
            <p14:sldId id="378"/>
            <p14:sldId id="379"/>
            <p14:sldId id="380"/>
          </p14:sldIdLst>
        </p14:section>
        <p14:section name="Activity 1" id="{E181EDC5-D57B-4AE6-B456-4D210AA080AD}">
          <p14:sldIdLst>
            <p14:sldId id="410"/>
          </p14:sldIdLst>
        </p14:section>
        <p14:section name="Activity 2" id="{9BD3C77B-CB15-42CD-BC85-B14E6CD19823}">
          <p14:sldIdLst>
            <p14:sldId id="284"/>
            <p14:sldId id="411"/>
          </p14:sldIdLst>
        </p14:section>
        <p14:section name="2. Dictionaries: thinking objects" id="{7A721FEF-E9DE-43F5-90A4-0BD5570F6F94}">
          <p14:sldIdLst>
            <p14:sldId id="381"/>
            <p14:sldId id="384"/>
          </p14:sldIdLst>
        </p14:section>
        <p14:section name="3.a. OOP Demo" id="{29EB7C2A-B8E2-4263-BF6F-432CEABF3D8D}">
          <p14:sldIdLst>
            <p14:sldId id="386"/>
            <p14:sldId id="389"/>
            <p14:sldId id="399"/>
            <p14:sldId id="388"/>
            <p14:sldId id="391"/>
            <p14:sldId id="419"/>
            <p14:sldId id="392"/>
            <p14:sldId id="393"/>
            <p14:sldId id="406"/>
            <p14:sldId id="396"/>
            <p14:sldId id="398"/>
            <p14:sldId id="407"/>
            <p14:sldId id="397"/>
            <p14:sldId id="404"/>
          </p14:sldIdLst>
        </p14:section>
        <p14:section name="Activity 3" id="{64AE686F-01E3-4FBC-9BE6-C5F04022DD42}">
          <p14:sldIdLst>
            <p14:sldId id="286"/>
            <p14:sldId id="412"/>
          </p14:sldIdLst>
        </p14:section>
        <p14:section name="Activity 4" id="{3EA8DD4D-2A47-4F6A-84AB-615F429F35A2}">
          <p14:sldIdLst>
            <p14:sldId id="405"/>
            <p14:sldId id="413"/>
          </p14:sldIdLst>
        </p14:section>
        <p14:section name="Conclusion" id="{8FC5B4E0-8B82-44CE-8E2E-949C5DB81C7E}">
          <p14:sldIdLst>
            <p14:sldId id="417"/>
          </p14:sldIdLst>
        </p14:section>
        <p14:section name="Quiz" id="{51B133BC-467C-441C-B21C-F7625EDD0699}">
          <p14:sldIdLst>
            <p14:sldId id="420"/>
            <p14:sldId id="421"/>
            <p14:sldId id="422"/>
            <p14:sldId id="423"/>
            <p14:sldId id="4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331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058B2BC9-9442-47E8-B826-49F8A060D8C7}"/>
    <pc:docChg chg="modSld">
      <pc:chgData name="Matthieu De Mari" userId="dfb708c9-d8dc-439f-9a3b-c772bf4a311c" providerId="ADAL" clId="{058B2BC9-9442-47E8-B826-49F8A060D8C7}" dt="2025-08-29T07:43:26.538" v="5" actId="20577"/>
      <pc:docMkLst>
        <pc:docMk/>
      </pc:docMkLst>
      <pc:sldChg chg="modSp mod">
        <pc:chgData name="Matthieu De Mari" userId="dfb708c9-d8dc-439f-9a3b-c772bf4a311c" providerId="ADAL" clId="{058B2BC9-9442-47E8-B826-49F8A060D8C7}" dt="2025-08-29T07:43:19.378" v="1" actId="20577"/>
        <pc:sldMkLst>
          <pc:docMk/>
          <pc:sldMk cId="2033612700" sldId="415"/>
        </pc:sldMkLst>
        <pc:spChg chg="mod">
          <ac:chgData name="Matthieu De Mari" userId="dfb708c9-d8dc-439f-9a3b-c772bf4a311c" providerId="ADAL" clId="{058B2BC9-9442-47E8-B826-49F8A060D8C7}" dt="2025-08-29T07:43:19.378" v="1" actId="20577"/>
          <ac:spMkLst>
            <pc:docMk/>
            <pc:sldMk cId="2033612700" sldId="415"/>
            <ac:spMk id="2" creationId="{D1A4800C-4604-46C3-8534-E496416410D8}"/>
          </ac:spMkLst>
        </pc:spChg>
      </pc:sldChg>
      <pc:sldChg chg="modSp mod">
        <pc:chgData name="Matthieu De Mari" userId="dfb708c9-d8dc-439f-9a3b-c772bf4a311c" providerId="ADAL" clId="{058B2BC9-9442-47E8-B826-49F8A060D8C7}" dt="2025-08-29T07:43:21.841" v="3" actId="20577"/>
        <pc:sldMkLst>
          <pc:docMk/>
          <pc:sldMk cId="109241041" sldId="416"/>
        </pc:sldMkLst>
        <pc:spChg chg="mod">
          <ac:chgData name="Matthieu De Mari" userId="dfb708c9-d8dc-439f-9a3b-c772bf4a311c" providerId="ADAL" clId="{058B2BC9-9442-47E8-B826-49F8A060D8C7}" dt="2025-08-29T07:43:21.841" v="3" actId="20577"/>
          <ac:spMkLst>
            <pc:docMk/>
            <pc:sldMk cId="109241041" sldId="416"/>
            <ac:spMk id="2" creationId="{F15BC776-F489-4F89-B9D1-64DFC920472A}"/>
          </ac:spMkLst>
        </pc:spChg>
      </pc:sldChg>
      <pc:sldChg chg="modSp mod">
        <pc:chgData name="Matthieu De Mari" userId="dfb708c9-d8dc-439f-9a3b-c772bf4a311c" providerId="ADAL" clId="{058B2BC9-9442-47E8-B826-49F8A060D8C7}" dt="2025-08-29T07:43:26.538" v="5" actId="20577"/>
        <pc:sldMkLst>
          <pc:docMk/>
          <pc:sldMk cId="1630382845" sldId="417"/>
        </pc:sldMkLst>
        <pc:spChg chg="mod">
          <ac:chgData name="Matthieu De Mari" userId="dfb708c9-d8dc-439f-9a3b-c772bf4a311c" providerId="ADAL" clId="{058B2BC9-9442-47E8-B826-49F8A060D8C7}" dt="2025-08-29T07:43:26.538" v="5" actId="20577"/>
          <ac:spMkLst>
            <pc:docMk/>
            <pc:sldMk cId="1630382845" sldId="417"/>
            <ac:spMk id="2" creationId="{F15BC776-F489-4F89-B9D1-64DFC920472A}"/>
          </ac:spMkLst>
        </pc:spChg>
      </pc:sldChg>
    </pc:docChg>
  </pc:docChgLst>
  <pc:docChgLst>
    <pc:chgData name="Matthieu De Mari" userId="dfb708c9-d8dc-439f-9a3b-c772bf4a311c" providerId="ADAL" clId="{658F5552-561D-4866-9D73-1E4895D2482B}"/>
    <pc:docChg chg="custSel modSld">
      <pc:chgData name="Matthieu De Mari" userId="dfb708c9-d8dc-439f-9a3b-c772bf4a311c" providerId="ADAL" clId="{658F5552-561D-4866-9D73-1E4895D2482B}" dt="2025-08-08T06:26:17.797" v="37" actId="20577"/>
      <pc:docMkLst>
        <pc:docMk/>
      </pc:docMkLst>
      <pc:sldChg chg="modSp mod">
        <pc:chgData name="Matthieu De Mari" userId="dfb708c9-d8dc-439f-9a3b-c772bf4a311c" providerId="ADAL" clId="{658F5552-561D-4866-9D73-1E4895D2482B}" dt="2025-08-08T06:26:17.797" v="37" actId="20577"/>
        <pc:sldMkLst>
          <pc:docMk/>
          <pc:sldMk cId="3525489756" sldId="381"/>
        </pc:sldMkLst>
        <pc:spChg chg="mod">
          <ac:chgData name="Matthieu De Mari" userId="dfb708c9-d8dc-439f-9a3b-c772bf4a311c" providerId="ADAL" clId="{658F5552-561D-4866-9D73-1E4895D2482B}" dt="2025-08-08T06:26:17.797" v="37" actId="20577"/>
          <ac:spMkLst>
            <pc:docMk/>
            <pc:sldMk cId="3525489756" sldId="381"/>
            <ac:spMk id="9" creationId="{ED569D6F-BC92-40F3-82E8-2041D580BAA2}"/>
          </ac:spMkLst>
        </pc:spChg>
      </pc:sldChg>
    </pc:docChg>
  </pc:docChgLst>
  <pc:docChgLst>
    <pc:chgData name="Matthieu De Mari" userId="dfb708c9-d8dc-439f-9a3b-c772bf4a311c" providerId="ADAL" clId="{1AA4CDC7-B315-44A7-9464-0CB2F878F390}"/>
    <pc:docChg chg="modSld sldOrd modSection">
      <pc:chgData name="Matthieu De Mari" userId="dfb708c9-d8dc-439f-9a3b-c772bf4a311c" providerId="ADAL" clId="{1AA4CDC7-B315-44A7-9464-0CB2F878F390}" dt="2023-08-14T09:36:43.734" v="5"/>
      <pc:docMkLst>
        <pc:docMk/>
      </pc:docMkLst>
      <pc:sldChg chg="ord">
        <pc:chgData name="Matthieu De Mari" userId="dfb708c9-d8dc-439f-9a3b-c772bf4a311c" providerId="ADAL" clId="{1AA4CDC7-B315-44A7-9464-0CB2F878F390}" dt="2023-08-14T09:36:39.821" v="3"/>
        <pc:sldMkLst>
          <pc:docMk/>
          <pc:sldMk cId="2355647265" sldId="284"/>
        </pc:sldMkLst>
      </pc:sldChg>
      <pc:sldChg chg="modSp mod">
        <pc:chgData name="Matthieu De Mari" userId="dfb708c9-d8dc-439f-9a3b-c772bf4a311c" providerId="ADAL" clId="{1AA4CDC7-B315-44A7-9464-0CB2F878F390}" dt="2023-08-14T09:36:07.678" v="1" actId="20577"/>
        <pc:sldMkLst>
          <pc:docMk/>
          <pc:sldMk cId="1709695177" sldId="377"/>
        </pc:sldMkLst>
      </pc:sldChg>
      <pc:sldChg chg="ord">
        <pc:chgData name="Matthieu De Mari" userId="dfb708c9-d8dc-439f-9a3b-c772bf4a311c" providerId="ADAL" clId="{1AA4CDC7-B315-44A7-9464-0CB2F878F390}" dt="2023-08-14T09:36:43.734" v="5"/>
        <pc:sldMkLst>
          <pc:docMk/>
          <pc:sldMk cId="1142054979" sldId="410"/>
        </pc:sldMkLst>
      </pc:sldChg>
      <pc:sldChg chg="ord">
        <pc:chgData name="Matthieu De Mari" userId="dfb708c9-d8dc-439f-9a3b-c772bf4a311c" providerId="ADAL" clId="{1AA4CDC7-B315-44A7-9464-0CB2F878F390}" dt="2023-08-14T09:36:39.821" v="3"/>
        <pc:sldMkLst>
          <pc:docMk/>
          <pc:sldMk cId="2015225676" sldId="411"/>
        </pc:sldMkLst>
      </pc:sldChg>
    </pc:docChg>
  </pc:docChgLst>
  <pc:docChgLst>
    <pc:chgData name="Matthieu De Mari" userId="dfb708c9-d8dc-439f-9a3b-c772bf4a311c" providerId="ADAL" clId="{81E9B007-0C2C-493E-9B93-55A62C9C1F12}"/>
    <pc:docChg chg="modSld">
      <pc:chgData name="Matthieu De Mari" userId="dfb708c9-d8dc-439f-9a3b-c772bf4a311c" providerId="ADAL" clId="{81E9B007-0C2C-493E-9B93-55A62C9C1F12}" dt="2025-09-02T05:42:46.889" v="5" actId="20577"/>
      <pc:docMkLst>
        <pc:docMk/>
      </pc:docMkLst>
      <pc:sldChg chg="modSp mod">
        <pc:chgData name="Matthieu De Mari" userId="dfb708c9-d8dc-439f-9a3b-c772bf4a311c" providerId="ADAL" clId="{81E9B007-0C2C-493E-9B93-55A62C9C1F12}" dt="2025-09-02T05:42:39.327" v="1" actId="20577"/>
        <pc:sldMkLst>
          <pc:docMk/>
          <pc:sldMk cId="2033612700" sldId="415"/>
        </pc:sldMkLst>
        <pc:spChg chg="mod">
          <ac:chgData name="Matthieu De Mari" userId="dfb708c9-d8dc-439f-9a3b-c772bf4a311c" providerId="ADAL" clId="{81E9B007-0C2C-493E-9B93-55A62C9C1F12}" dt="2025-09-02T05:42:39.327" v="1" actId="20577"/>
          <ac:spMkLst>
            <pc:docMk/>
            <pc:sldMk cId="2033612700" sldId="415"/>
            <ac:spMk id="2" creationId="{D1A4800C-4604-46C3-8534-E496416410D8}"/>
          </ac:spMkLst>
        </pc:spChg>
      </pc:sldChg>
      <pc:sldChg chg="modSp mod">
        <pc:chgData name="Matthieu De Mari" userId="dfb708c9-d8dc-439f-9a3b-c772bf4a311c" providerId="ADAL" clId="{81E9B007-0C2C-493E-9B93-55A62C9C1F12}" dt="2025-09-02T05:42:41.912" v="3" actId="20577"/>
        <pc:sldMkLst>
          <pc:docMk/>
          <pc:sldMk cId="109241041" sldId="416"/>
        </pc:sldMkLst>
        <pc:spChg chg="mod">
          <ac:chgData name="Matthieu De Mari" userId="dfb708c9-d8dc-439f-9a3b-c772bf4a311c" providerId="ADAL" clId="{81E9B007-0C2C-493E-9B93-55A62C9C1F12}" dt="2025-09-02T05:42:41.912" v="3" actId="20577"/>
          <ac:spMkLst>
            <pc:docMk/>
            <pc:sldMk cId="109241041" sldId="416"/>
            <ac:spMk id="2" creationId="{F15BC776-F489-4F89-B9D1-64DFC920472A}"/>
          </ac:spMkLst>
        </pc:spChg>
      </pc:sldChg>
      <pc:sldChg chg="modSp mod">
        <pc:chgData name="Matthieu De Mari" userId="dfb708c9-d8dc-439f-9a3b-c772bf4a311c" providerId="ADAL" clId="{81E9B007-0C2C-493E-9B93-55A62C9C1F12}" dt="2025-09-02T05:42:46.889" v="5" actId="20577"/>
        <pc:sldMkLst>
          <pc:docMk/>
          <pc:sldMk cId="1630382845" sldId="417"/>
        </pc:sldMkLst>
        <pc:spChg chg="mod">
          <ac:chgData name="Matthieu De Mari" userId="dfb708c9-d8dc-439f-9a3b-c772bf4a311c" providerId="ADAL" clId="{81E9B007-0C2C-493E-9B93-55A62C9C1F12}" dt="2025-09-02T05:42:46.889" v="5" actId="20577"/>
          <ac:spMkLst>
            <pc:docMk/>
            <pc:sldMk cId="1630382845" sldId="417"/>
            <ac:spMk id="2" creationId="{F15BC776-F489-4F89-B9D1-64DFC920472A}"/>
          </ac:spMkLst>
        </pc:spChg>
      </pc:sldChg>
    </pc:docChg>
  </pc:docChgLst>
  <pc:docChgLst>
    <pc:chgData name="Matthieu De Mari" userId="dfb708c9-d8dc-439f-9a3b-c772bf4a311c" providerId="ADAL" clId="{56521BA6-5D72-43DC-BA88-F9E77C72E9D8}"/>
    <pc:docChg chg="mod modSld">
      <pc:chgData name="Matthieu De Mari" userId="dfb708c9-d8dc-439f-9a3b-c772bf4a311c" providerId="ADAL" clId="{56521BA6-5D72-43DC-BA88-F9E77C72E9D8}" dt="2023-07-25T04:40:45.580" v="38" actId="20577"/>
      <pc:docMkLst>
        <pc:docMk/>
      </pc:docMkLst>
      <pc:sldChg chg="modSp mod">
        <pc:chgData name="Matthieu De Mari" userId="dfb708c9-d8dc-439f-9a3b-c772bf4a311c" providerId="ADAL" clId="{56521BA6-5D72-43DC-BA88-F9E77C72E9D8}" dt="2023-07-25T02:54:18.258" v="26" actId="20577"/>
        <pc:sldMkLst>
          <pc:docMk/>
          <pc:sldMk cId="3314370689" sldId="256"/>
        </pc:sldMkLst>
      </pc:sldChg>
      <pc:sldChg chg="modSp mod">
        <pc:chgData name="Matthieu De Mari" userId="dfb708c9-d8dc-439f-9a3b-c772bf4a311c" providerId="ADAL" clId="{56521BA6-5D72-43DC-BA88-F9E77C72E9D8}" dt="2023-07-25T02:54:23.771" v="34" actId="20577"/>
        <pc:sldMkLst>
          <pc:docMk/>
          <pc:sldMk cId="2865792470" sldId="257"/>
        </pc:sldMkLst>
      </pc:sldChg>
      <pc:sldChg chg="modSp mod">
        <pc:chgData name="Matthieu De Mari" userId="dfb708c9-d8dc-439f-9a3b-c772bf4a311c" providerId="ADAL" clId="{56521BA6-5D72-43DC-BA88-F9E77C72E9D8}" dt="2023-07-25T04:40:45.580" v="38" actId="20577"/>
        <pc:sldMkLst>
          <pc:docMk/>
          <pc:sldMk cId="2627067342" sldId="40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02C633-D211-40C3-887C-3CBAB266044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2E642-F25B-493E-A2A1-636081A892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708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2E642-F25B-493E-A2A1-636081A8920E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0889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2E642-F25B-493E-A2A1-636081A8920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3544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2E642-F25B-493E-A2A1-636081A8920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7795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EC17A-674A-4C3F-BC30-BFBA08ABE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F5FC8E-927A-465A-BBB8-B7B92B3C9F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EB0EA-53CB-4CDA-B75C-3E2C0A58F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A7DCCC-6D71-4A4E-AEEE-0B2218F23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5B211-9797-446B-9E37-7716E2D79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692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8D279-2F57-4FAF-AB35-927128639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AB7B-BDD2-44C6-A0D1-49B275275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74F15B-13DA-414B-AA9E-312EFCEC1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40AAF-93D5-4761-BABD-CA5844B68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15DF0-2325-4507-A975-10BD0ADE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369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40304-AE73-4302-87CC-24B0F632C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06D78E-EC4B-4813-8A1F-F2E52F342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7BA979-9BB4-4289-9DB5-99722695E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DD1C4A-4B37-4BBF-8D8D-70C15BECC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98B3E8-97FD-4D5A-9E7F-094803E19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329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79A6-32DF-4326-9558-98EBAD6F1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0E257-587A-4977-8F41-AC11FABE0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BFC17D-7B18-4463-8AD1-02096A762F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1CB84B-1E02-4B58-B40A-9406EB7A3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8E644-3B10-48AC-B26F-53BB6C5E5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4137B-E451-4550-AC5E-FDD5EF4A3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554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34C46-E763-4454-A55C-4D073D796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418599-2549-42D4-AE6A-3AE6303DDC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EF7BEA-1052-47EE-8737-373B5B8A06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0484B2-0AA6-4BCD-A9C2-F9C52D16B0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A28E02-2399-4E06-958B-7F589C2322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92E8A1-B60E-4D34-8808-9610FA62B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BA7C6-C3AF-4002-9A64-8ECB2CF95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DD379B-4439-4262-993D-E8601E57D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90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CA69B-B8CF-4606-A5D7-3544652F8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260713-AF76-4836-9359-28352216B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876BFC-C6C6-4391-96C0-036E3423C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E3CDA8-423E-4EBF-B090-31D689A9D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589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4F8BF8-883B-45CC-977C-3F5DE7B26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F6F30B-59C0-47FD-961E-565406508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4EFC5-04B3-470E-A42E-0A939BE50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86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EC26F-BC54-47EA-8422-7DDFC0F15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9CE83-1B05-4B29-8D3C-E6D85F87F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788935-BCA0-4009-B1D3-1BA39A4F30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39C54D-351E-4CB1-A9A9-1F8DA5306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A79FC4-2B2A-4D94-8376-6C57104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4330FF-9589-4440-AE48-2C69F5A4B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657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9373B-C9EC-4F6B-A67F-B51B01220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BBD4C5-42CF-4F3B-BB31-69B2FEE048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ABE619-7DBC-4F48-8E20-C4870284DC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24D82F-3C69-4C72-AC90-41D10B952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239B8B-B801-4287-A83C-8B7FBF03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07A3F8-BBC8-4F62-A0AD-2511EE0A9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265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671A0-F864-4A74-B2F3-7FBE77203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948ACD-F019-4406-9C30-2C5A770161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EA5E0-D375-4F3F-9AD5-1441B5995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C4CD-9620-4676-9662-448832098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3F1F2-AFC7-4EBE-B003-21CEE11A5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447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A82569-1D65-4E5C-BD57-29B9DC19CE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D6F27E-5FB9-4CAB-8A03-0B351C448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FFC07-50E2-48CF-8AA1-5F9484122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95BAE-CED5-43DE-82FA-5CA17A011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DCF8A-5E6C-4D03-9E8B-B531C59FD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386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31D2B0-631C-48D1-9B72-3E71AD362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3816A-C1DA-4952-B535-751DF2311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DAE84-914B-4B93-B507-4EDA527FA2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D92ED-88E0-4D42-8630-3B50EDC3B1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073A48-E58F-431C-822F-923321606F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30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eb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29.png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image" Target="../media/image28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image" Target="../media/image27.png"/><Relationship Id="rId5" Type="http://schemas.openxmlformats.org/officeDocument/2006/relationships/tags" Target="../tags/tag6.xml"/><Relationship Id="rId10" Type="http://schemas.openxmlformats.org/officeDocument/2006/relationships/image" Target="../media/image26.svg"/><Relationship Id="rId4" Type="http://schemas.openxmlformats.org/officeDocument/2006/relationships/tags" Target="../tags/tag5.xml"/><Relationship Id="rId9" Type="http://schemas.openxmlformats.org/officeDocument/2006/relationships/image" Target="../media/image25.png"/><Relationship Id="rId14" Type="http://schemas.openxmlformats.org/officeDocument/2006/relationships/image" Target="../media/image30.sv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29.png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12" Type="http://schemas.openxmlformats.org/officeDocument/2006/relationships/image" Target="../media/image28.sv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image" Target="../media/image27.png"/><Relationship Id="rId5" Type="http://schemas.openxmlformats.org/officeDocument/2006/relationships/tags" Target="../tags/tag13.xml"/><Relationship Id="rId10" Type="http://schemas.openxmlformats.org/officeDocument/2006/relationships/image" Target="../media/image26.svg"/><Relationship Id="rId4" Type="http://schemas.openxmlformats.org/officeDocument/2006/relationships/tags" Target="../tags/tag12.xml"/><Relationship Id="rId9" Type="http://schemas.openxmlformats.org/officeDocument/2006/relationships/image" Target="../media/image25.png"/><Relationship Id="rId14" Type="http://schemas.openxmlformats.org/officeDocument/2006/relationships/image" Target="../media/image30.sv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29.png"/><Relationship Id="rId3" Type="http://schemas.openxmlformats.org/officeDocument/2006/relationships/tags" Target="../tags/tag18.xml"/><Relationship Id="rId7" Type="http://schemas.openxmlformats.org/officeDocument/2006/relationships/tags" Target="../tags/tag22.xml"/><Relationship Id="rId12" Type="http://schemas.openxmlformats.org/officeDocument/2006/relationships/image" Target="../media/image28.sv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tags" Target="../tags/tag21.xml"/><Relationship Id="rId11" Type="http://schemas.openxmlformats.org/officeDocument/2006/relationships/image" Target="../media/image27.png"/><Relationship Id="rId5" Type="http://schemas.openxmlformats.org/officeDocument/2006/relationships/tags" Target="../tags/tag20.xml"/><Relationship Id="rId10" Type="http://schemas.openxmlformats.org/officeDocument/2006/relationships/image" Target="../media/image26.svg"/><Relationship Id="rId4" Type="http://schemas.openxmlformats.org/officeDocument/2006/relationships/tags" Target="../tags/tag19.xml"/><Relationship Id="rId9" Type="http://schemas.openxmlformats.org/officeDocument/2006/relationships/image" Target="../media/image25.png"/><Relationship Id="rId14" Type="http://schemas.openxmlformats.org/officeDocument/2006/relationships/image" Target="../media/image30.sv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29.png"/><Relationship Id="rId3" Type="http://schemas.openxmlformats.org/officeDocument/2006/relationships/tags" Target="../tags/tag25.xml"/><Relationship Id="rId7" Type="http://schemas.openxmlformats.org/officeDocument/2006/relationships/tags" Target="../tags/tag29.xml"/><Relationship Id="rId12" Type="http://schemas.openxmlformats.org/officeDocument/2006/relationships/image" Target="../media/image28.sv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11" Type="http://schemas.openxmlformats.org/officeDocument/2006/relationships/image" Target="../media/image27.png"/><Relationship Id="rId5" Type="http://schemas.openxmlformats.org/officeDocument/2006/relationships/tags" Target="../tags/tag27.xml"/><Relationship Id="rId10" Type="http://schemas.openxmlformats.org/officeDocument/2006/relationships/image" Target="../media/image26.svg"/><Relationship Id="rId4" Type="http://schemas.openxmlformats.org/officeDocument/2006/relationships/tags" Target="../tags/tag26.xml"/><Relationship Id="rId9" Type="http://schemas.openxmlformats.org/officeDocument/2006/relationships/image" Target="../media/image25.png"/><Relationship Id="rId14" Type="http://schemas.openxmlformats.org/officeDocument/2006/relationships/image" Target="../media/image30.sv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29.png"/><Relationship Id="rId3" Type="http://schemas.openxmlformats.org/officeDocument/2006/relationships/tags" Target="../tags/tag32.xml"/><Relationship Id="rId7" Type="http://schemas.openxmlformats.org/officeDocument/2006/relationships/tags" Target="../tags/tag36.xml"/><Relationship Id="rId12" Type="http://schemas.openxmlformats.org/officeDocument/2006/relationships/image" Target="../media/image28.sv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tags" Target="../tags/tag35.xml"/><Relationship Id="rId11" Type="http://schemas.openxmlformats.org/officeDocument/2006/relationships/image" Target="../media/image27.png"/><Relationship Id="rId5" Type="http://schemas.openxmlformats.org/officeDocument/2006/relationships/tags" Target="../tags/tag34.xml"/><Relationship Id="rId10" Type="http://schemas.openxmlformats.org/officeDocument/2006/relationships/image" Target="../media/image26.svg"/><Relationship Id="rId4" Type="http://schemas.openxmlformats.org/officeDocument/2006/relationships/tags" Target="../tags/tag33.xml"/><Relationship Id="rId9" Type="http://schemas.openxmlformats.org/officeDocument/2006/relationships/image" Target="../media/image25.png"/><Relationship Id="rId14" Type="http://schemas.openxmlformats.org/officeDocument/2006/relationships/image" Target="../media/image3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4800C-4604-46C3-8534-E49641641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16310"/>
            <a:ext cx="12192000" cy="3897006"/>
          </a:xfrm>
        </p:spPr>
        <p:txBody>
          <a:bodyPr>
            <a:normAutofit fontScale="90000"/>
          </a:bodyPr>
          <a:lstStyle/>
          <a:p>
            <a:r>
              <a:rPr lang="en-US" dirty="0"/>
              <a:t>A gamified introduction to</a:t>
            </a:r>
            <a:br>
              <a:rPr lang="en-US" dirty="0"/>
            </a:br>
            <a:r>
              <a:rPr lang="en-US" dirty="0"/>
              <a:t>Python Programming</a:t>
            </a:r>
            <a:br>
              <a:rPr lang="en-US" dirty="0"/>
            </a:br>
            <a:br>
              <a:rPr lang="en-US" dirty="0"/>
            </a:br>
            <a:r>
              <a:rPr lang="en-US" dirty="0"/>
              <a:t>Lecture 16</a:t>
            </a:r>
            <a:br>
              <a:rPr lang="en-US" dirty="0"/>
            </a:br>
            <a:r>
              <a:rPr lang="en-US" dirty="0"/>
              <a:t>Dictionaries and Object-Oriented Thinking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8C5E95-F1FD-4A67-A3DE-8055EE3B66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3316"/>
            <a:ext cx="9144000" cy="1655762"/>
          </a:xfrm>
        </p:spPr>
        <p:txBody>
          <a:bodyPr/>
          <a:lstStyle/>
          <a:p>
            <a:r>
              <a:rPr lang="en-US" dirty="0"/>
              <a:t>Matthieu DE MARI – Singapore University of Technology and Design</a:t>
            </a:r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9755DB92-2D71-489C-96BD-2993BB4CC9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995521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6127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BC776-F489-4F89-B9D1-64DFC9204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4" y="406968"/>
            <a:ext cx="6798541" cy="837884"/>
          </a:xfrm>
        </p:spPr>
        <p:txBody>
          <a:bodyPr anchor="b">
            <a:normAutofit/>
          </a:bodyPr>
          <a:lstStyle/>
          <a:p>
            <a:r>
              <a:rPr lang="en-US" sz="4000" dirty="0"/>
              <a:t>Outline (Chapter 16)</a:t>
            </a:r>
          </a:p>
        </p:txBody>
      </p:sp>
      <p:pic>
        <p:nvPicPr>
          <p:cNvPr id="5" name="Picture 4" descr="Closeup of a keyboard">
            <a:extLst>
              <a:ext uri="{FF2B5EF4-FFF2-40B4-BE49-F238E27FC236}">
                <a16:creationId xmlns:a16="http://schemas.microsoft.com/office/drawing/2014/main" id="{943E5914-5549-6D68-0D39-CD2945350A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164" r="40215" b="1"/>
          <a:stretch/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85463-414E-4F5F-96DD-C1BA37CF0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3734" y="1651819"/>
            <a:ext cx="7362963" cy="5004619"/>
          </a:xfrm>
        </p:spPr>
        <p:txBody>
          <a:bodyPr>
            <a:normAutofit/>
          </a:bodyPr>
          <a:lstStyle/>
          <a:p>
            <a:r>
              <a:rPr lang="en-US" dirty="0"/>
              <a:t>What is the </a:t>
            </a:r>
            <a:r>
              <a:rPr lang="en-US" b="1" dirty="0"/>
              <a:t>tuple</a:t>
            </a:r>
            <a:r>
              <a:rPr lang="en-US" dirty="0"/>
              <a:t> type? (fast version)</a:t>
            </a:r>
          </a:p>
          <a:p>
            <a:r>
              <a:rPr lang="en-US" dirty="0"/>
              <a:t>What is the </a:t>
            </a:r>
            <a:r>
              <a:rPr lang="en-US" b="1" dirty="0"/>
              <a:t>dictionary</a:t>
            </a:r>
            <a:r>
              <a:rPr lang="en-US" dirty="0"/>
              <a:t> type?</a:t>
            </a:r>
          </a:p>
          <a:p>
            <a:r>
              <a:rPr lang="en-US" dirty="0"/>
              <a:t>What are </a:t>
            </a:r>
            <a:r>
              <a:rPr lang="en-US" b="1" dirty="0"/>
              <a:t>typical operations on dictionaries</a:t>
            </a:r>
            <a:r>
              <a:rPr lang="en-US" dirty="0"/>
              <a:t>?</a:t>
            </a:r>
          </a:p>
          <a:p>
            <a:r>
              <a:rPr lang="en-US" dirty="0"/>
              <a:t>How are </a:t>
            </a:r>
            <a:r>
              <a:rPr lang="en-US" b="1" dirty="0"/>
              <a:t>dictionaries</a:t>
            </a:r>
            <a:r>
              <a:rPr lang="en-US" dirty="0"/>
              <a:t> and </a:t>
            </a:r>
            <a:r>
              <a:rPr lang="en-US" b="1" dirty="0"/>
              <a:t>the concept of object-oriented programming </a:t>
            </a:r>
            <a:r>
              <a:rPr lang="en-US" dirty="0"/>
              <a:t>related?</a:t>
            </a:r>
          </a:p>
          <a:p>
            <a:r>
              <a:rPr lang="en-US" dirty="0"/>
              <a:t>What is “object-oriented thinking”?</a:t>
            </a:r>
          </a:p>
          <a:p>
            <a:r>
              <a:rPr lang="en-US" b="1" dirty="0"/>
              <a:t>Practice</a:t>
            </a:r>
            <a:r>
              <a:rPr lang="en-US" dirty="0"/>
              <a:t> on dictionaries.</a:t>
            </a:r>
          </a:p>
          <a:p>
            <a:r>
              <a:rPr lang="en-US" i="1" dirty="0"/>
              <a:t>(If time allows, what is the set types?)</a:t>
            </a:r>
          </a:p>
        </p:txBody>
      </p:sp>
    </p:spTree>
    <p:extLst>
      <p:ext uri="{BB962C8B-B14F-4D97-AF65-F5344CB8AC3E}">
        <p14:creationId xmlns:p14="http://schemas.microsoft.com/office/powerpoint/2010/main" val="10924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CC028C-2DBB-4E59-9B3C-D76A36F01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tuple</a:t>
            </a:r>
            <a:r>
              <a:rPr lang="en-US" dirty="0"/>
              <a:t> type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27E03E-D0DC-4144-ABA0-A7652DBB33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Definition (the </a:t>
            </a:r>
            <a:r>
              <a:rPr lang="en-US" b="1" dirty="0">
                <a:solidFill>
                  <a:srgbClr val="00B050"/>
                </a:solidFill>
              </a:rPr>
              <a:t>tuple</a:t>
            </a:r>
            <a:r>
              <a:rPr lang="en-US" b="1" dirty="0"/>
              <a:t> type):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Tuples</a:t>
            </a:r>
            <a:r>
              <a:rPr lang="en-US" dirty="0"/>
              <a:t> are </a:t>
            </a:r>
            <a:r>
              <a:rPr lang="en-US" b="1" dirty="0"/>
              <a:t>collections of variables</a:t>
            </a:r>
            <a:r>
              <a:rPr lang="en-US" dirty="0"/>
              <a:t>, very similar to </a:t>
            </a:r>
            <a:r>
              <a:rPr lang="en-US" b="1" dirty="0">
                <a:solidFill>
                  <a:srgbClr val="00B050"/>
                </a:solidFill>
              </a:rPr>
              <a:t>lists</a:t>
            </a:r>
            <a:r>
              <a:rPr lang="en-US" dirty="0"/>
              <a:t>, but they have their elements listed between </a:t>
            </a:r>
            <a:r>
              <a:rPr lang="en-US" b="1" dirty="0"/>
              <a:t>parentheses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r>
              <a:rPr lang="en-US" dirty="0"/>
              <a:t>, instead of square brackets </a:t>
            </a:r>
            <a:r>
              <a:rPr lang="en-US" b="1" dirty="0">
                <a:solidFill>
                  <a:srgbClr val="00B050"/>
                </a:solidFill>
              </a:rPr>
              <a:t>[]</a:t>
            </a:r>
            <a:r>
              <a:rPr lang="en-US" dirty="0"/>
              <a:t>.</a:t>
            </a:r>
          </a:p>
          <a:p>
            <a:r>
              <a:rPr lang="en-US" dirty="0"/>
              <a:t>They share many functions with lists, such as the </a:t>
            </a:r>
            <a:r>
              <a:rPr lang="en-US" b="1" dirty="0" err="1">
                <a:solidFill>
                  <a:srgbClr val="00B050"/>
                </a:solidFill>
              </a:rPr>
              <a:t>len</a:t>
            </a:r>
            <a:r>
              <a:rPr lang="en-US" b="1" dirty="0"/>
              <a:t>() </a:t>
            </a:r>
            <a:r>
              <a:rPr lang="en-US" dirty="0"/>
              <a:t>function for instance.</a:t>
            </a:r>
          </a:p>
          <a:p>
            <a:r>
              <a:rPr lang="en-US" dirty="0"/>
              <a:t>Tuples are indexed/accessed, sliced and traversed as in lists.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E97F2B-1474-4536-BD0B-5F0D5A8F38E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95" t="25641" r="28398" b="32103"/>
          <a:stretch/>
        </p:blipFill>
        <p:spPr>
          <a:xfrm>
            <a:off x="6019800" y="1087199"/>
            <a:ext cx="6061703" cy="5405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786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481A9-900F-4638-9DFF-54086249B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tuple</a:t>
            </a:r>
            <a:r>
              <a:rPr lang="en-US" dirty="0"/>
              <a:t> type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05919-2DBC-4AD2-BFE6-B72714D31C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(the </a:t>
            </a:r>
            <a:r>
              <a:rPr lang="en-US" b="1" dirty="0">
                <a:solidFill>
                  <a:srgbClr val="00B050"/>
                </a:solidFill>
              </a:rPr>
              <a:t>tuple</a:t>
            </a:r>
            <a:r>
              <a:rPr lang="en-US" b="1" dirty="0"/>
              <a:t> type):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Tuples</a:t>
            </a:r>
            <a:r>
              <a:rPr lang="en-US" dirty="0"/>
              <a:t> are </a:t>
            </a:r>
            <a:r>
              <a:rPr lang="en-US" b="1" dirty="0"/>
              <a:t>collections of variables</a:t>
            </a:r>
            <a:r>
              <a:rPr lang="en-US" dirty="0"/>
              <a:t>, very similar to </a:t>
            </a:r>
            <a:r>
              <a:rPr lang="en-US" b="1" dirty="0">
                <a:solidFill>
                  <a:srgbClr val="00B050"/>
                </a:solidFill>
              </a:rPr>
              <a:t>lists</a:t>
            </a:r>
            <a:r>
              <a:rPr lang="en-US" dirty="0"/>
              <a:t>, but they have their elements listed between </a:t>
            </a:r>
            <a:r>
              <a:rPr lang="en-US" b="1" dirty="0"/>
              <a:t>parentheses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()</a:t>
            </a:r>
            <a:r>
              <a:rPr lang="en-US" dirty="0"/>
              <a:t>, instead of square brackets </a:t>
            </a:r>
            <a:r>
              <a:rPr lang="en-US" b="1" dirty="0">
                <a:solidFill>
                  <a:srgbClr val="00B050"/>
                </a:solidFill>
              </a:rPr>
              <a:t>[]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However, the</a:t>
            </a:r>
            <a:r>
              <a:rPr lang="en-US" b="1" dirty="0"/>
              <a:t> difference </a:t>
            </a:r>
            <a:r>
              <a:rPr lang="en-US" dirty="0"/>
              <a:t>between lists and tuples is that tuples, just like strings, are </a:t>
            </a:r>
            <a:r>
              <a:rPr lang="en-US" b="1" dirty="0">
                <a:solidFill>
                  <a:srgbClr val="7030A0"/>
                </a:solidFill>
              </a:rPr>
              <a:t>immutable</a:t>
            </a:r>
            <a:r>
              <a:rPr lang="en-US" dirty="0"/>
              <a:t>.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3EB8DA-8EE7-4557-A1F7-5AF074D3814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67" t="30975" r="23909" b="26154"/>
          <a:stretch/>
        </p:blipFill>
        <p:spPr>
          <a:xfrm>
            <a:off x="6172202" y="738825"/>
            <a:ext cx="5863491" cy="40441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89687F2-983F-9E8E-4BE9-944F19A45578}"/>
              </a:ext>
            </a:extLst>
          </p:cNvPr>
          <p:cNvSpPr txBox="1"/>
          <p:nvPr/>
        </p:nvSpPr>
        <p:spPr>
          <a:xfrm>
            <a:off x="6361723" y="5080000"/>
            <a:ext cx="553329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1"/>
                </a:solidFill>
                <a:sym typeface="Wingdings" panose="05000000000000000000" pitchFamily="2" charset="2"/>
              </a:rPr>
              <a:t> </a:t>
            </a:r>
            <a:r>
              <a:rPr lang="en-US" sz="2800" dirty="0">
                <a:solidFill>
                  <a:schemeClr val="accent1"/>
                </a:solidFill>
              </a:rPr>
              <a:t>Added practice on tuples (for those interested) in the extra practice folder on today’s materials!</a:t>
            </a:r>
            <a:endParaRPr lang="en-GB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8999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391D5-72FF-4ADC-9A30-3A0F8528F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 err="1">
                <a:solidFill>
                  <a:srgbClr val="00B050"/>
                </a:solidFill>
              </a:rPr>
              <a:t>dict</a:t>
            </a:r>
            <a:r>
              <a:rPr lang="en-US" dirty="0"/>
              <a:t> type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4CC65-0BE8-4224-AACA-B207472A39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Definition (the </a:t>
            </a:r>
            <a:r>
              <a:rPr lang="en-US" b="1" dirty="0">
                <a:solidFill>
                  <a:srgbClr val="00B050"/>
                </a:solidFill>
              </a:rPr>
              <a:t>dictionary</a:t>
            </a:r>
            <a:r>
              <a:rPr lang="en-US" b="1" dirty="0"/>
              <a:t> type):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Dictionaries</a:t>
            </a:r>
            <a:r>
              <a:rPr lang="en-US" dirty="0"/>
              <a:t> (</a:t>
            </a:r>
            <a:r>
              <a:rPr lang="en-US" b="1" dirty="0" err="1">
                <a:solidFill>
                  <a:srgbClr val="00B050"/>
                </a:solidFill>
              </a:rPr>
              <a:t>dict</a:t>
            </a:r>
            <a:r>
              <a:rPr lang="en-US" dirty="0"/>
              <a:t>) are the last type of built-in variables we will cover during this course.</a:t>
            </a:r>
          </a:p>
          <a:p>
            <a:pPr marL="0" indent="0">
              <a:buNone/>
            </a:pPr>
            <a:r>
              <a:rPr lang="en-US" dirty="0"/>
              <a:t>They operate as </a:t>
            </a:r>
            <a:r>
              <a:rPr lang="en-US" b="1" dirty="0">
                <a:solidFill>
                  <a:srgbClr val="00B050"/>
                </a:solidFill>
              </a:rPr>
              <a:t>lists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But they give the user the possibility to choose </a:t>
            </a:r>
            <a:r>
              <a:rPr lang="en-US" b="1" u="sng" dirty="0"/>
              <a:t>custom indexes/keys</a:t>
            </a:r>
            <a:r>
              <a:rPr lang="en-US" b="1" dirty="0"/>
              <a:t> </a:t>
            </a:r>
            <a:r>
              <a:rPr lang="en-US" dirty="0"/>
              <a:t>to use for elements instead of the default list values for positional indexes.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791DA6-7090-4FE9-B081-3770DABACD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03" t="21538" r="26795" b="14257"/>
          <a:stretch/>
        </p:blipFill>
        <p:spPr>
          <a:xfrm>
            <a:off x="6330462" y="104411"/>
            <a:ext cx="5502030" cy="6649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790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391D5-72FF-4ADC-9A30-3A0F8528F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 err="1">
                <a:solidFill>
                  <a:srgbClr val="00B050"/>
                </a:solidFill>
              </a:rPr>
              <a:t>dict</a:t>
            </a:r>
            <a:r>
              <a:rPr lang="en-US" dirty="0"/>
              <a:t> type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4CC65-0BE8-4224-AACA-B207472A3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6594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Dictionaries</a:t>
            </a:r>
            <a:r>
              <a:rPr lang="en-US" dirty="0"/>
              <a:t> (</a:t>
            </a:r>
            <a:r>
              <a:rPr lang="en-US" b="1" dirty="0" err="1">
                <a:solidFill>
                  <a:srgbClr val="00B050"/>
                </a:solidFill>
              </a:rPr>
              <a:t>dict</a:t>
            </a:r>
            <a:r>
              <a:rPr lang="en-US" dirty="0"/>
              <a:t>) operate as </a:t>
            </a:r>
            <a:r>
              <a:rPr lang="en-US" b="1" dirty="0">
                <a:solidFill>
                  <a:srgbClr val="00B050"/>
                </a:solidFill>
              </a:rPr>
              <a:t>lists</a:t>
            </a:r>
            <a:r>
              <a:rPr lang="en-US" dirty="0"/>
              <a:t>. But they give the user the possibility to choose </a:t>
            </a:r>
            <a:r>
              <a:rPr lang="en-US" b="1" u="sng" dirty="0"/>
              <a:t>custom indexes/keys</a:t>
            </a:r>
            <a:r>
              <a:rPr lang="en-US" b="1" dirty="0"/>
              <a:t> </a:t>
            </a:r>
            <a:r>
              <a:rPr lang="en-US" dirty="0"/>
              <a:t>to use for elements.</a:t>
            </a:r>
          </a:p>
          <a:p>
            <a:r>
              <a:rPr lang="en-US" dirty="0"/>
              <a:t>Indexes do not have to be integers, they could be strings, for instance.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831178-1521-6D9B-D06E-D86141C9B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1810" y="3231530"/>
            <a:ext cx="7568379" cy="346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245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CFCD623-E076-4464-A5C6-A947867FC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Adding, updating and removing elements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2004F5-8814-479D-A23E-6AA6CE62AF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60793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with lists, we can update elements using the squared brackets </a:t>
            </a:r>
            <a:r>
              <a:rPr lang="en-US" b="1" dirty="0">
                <a:solidFill>
                  <a:srgbClr val="00B050"/>
                </a:solidFill>
              </a:rPr>
              <a:t>[]</a:t>
            </a:r>
            <a:r>
              <a:rPr lang="en-US" dirty="0"/>
              <a:t> notation.</a:t>
            </a:r>
          </a:p>
          <a:p>
            <a:r>
              <a:rPr lang="en-US" dirty="0"/>
              <a:t>During an update, If the </a:t>
            </a:r>
            <a:r>
              <a:rPr lang="en-US" b="1" dirty="0"/>
              <a:t>key </a:t>
            </a:r>
            <a:r>
              <a:rPr lang="en-US" dirty="0"/>
              <a:t>did not exist in the dictionary, it will </a:t>
            </a:r>
            <a:r>
              <a:rPr lang="en-US" b="1" dirty="0"/>
              <a:t>add a new entry to the dictionary</a:t>
            </a:r>
            <a:r>
              <a:rPr lang="en-US" dirty="0"/>
              <a:t>.</a:t>
            </a:r>
          </a:p>
          <a:p>
            <a:r>
              <a:rPr lang="en-US" dirty="0"/>
              <a:t>Otherwise, it will </a:t>
            </a:r>
            <a:r>
              <a:rPr lang="en-US" b="1" dirty="0"/>
              <a:t>replace the current value assigned to this key.</a:t>
            </a:r>
          </a:p>
          <a:p>
            <a:pPr marL="0" indent="0">
              <a:buNone/>
            </a:pPr>
            <a:r>
              <a:rPr lang="en-US" dirty="0"/>
              <a:t>As with lists, we can also remove an element from the dictionary with the </a:t>
            </a:r>
            <a:r>
              <a:rPr lang="en-US" b="1" dirty="0">
                <a:solidFill>
                  <a:srgbClr val="00B050"/>
                </a:solidFill>
              </a:rPr>
              <a:t>del</a:t>
            </a:r>
            <a:r>
              <a:rPr lang="en-US" b="1" dirty="0"/>
              <a:t>() </a:t>
            </a:r>
            <a:r>
              <a:rPr lang="en-US" dirty="0"/>
              <a:t>function.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384044-9059-4E54-A963-D6D1621383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923" t="32820" r="29615" b="37436"/>
          <a:stretch/>
        </p:blipFill>
        <p:spPr>
          <a:xfrm>
            <a:off x="6584065" y="2192593"/>
            <a:ext cx="5607935" cy="387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969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5714C-24AB-4378-A1CE-569A89A10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dictionaries with zip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30AA0-E6E5-452C-849A-A89BB554D0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dictionary simply consists of two lists with identical lengths:</a:t>
            </a:r>
          </a:p>
          <a:p>
            <a:r>
              <a:rPr lang="en-US" dirty="0"/>
              <a:t>One list of </a:t>
            </a:r>
            <a:r>
              <a:rPr lang="en-US" b="1" dirty="0"/>
              <a:t>indexes/keys</a:t>
            </a:r>
            <a:r>
              <a:rPr lang="en-US" dirty="0"/>
              <a:t>, used to refer to elements (replacing the list of positional indexes we can use to refer to the elements).</a:t>
            </a:r>
          </a:p>
          <a:p>
            <a:r>
              <a:rPr lang="en-US" dirty="0"/>
              <a:t>One list of </a:t>
            </a:r>
            <a:r>
              <a:rPr lang="en-US" b="1" dirty="0"/>
              <a:t>values</a:t>
            </a:r>
            <a:r>
              <a:rPr lang="en-US" dirty="0"/>
              <a:t>, assigned to each index/key.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94D78C8-FA87-EB4E-415B-8FB355E649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6830"/>
          <a:stretch/>
        </p:blipFill>
        <p:spPr>
          <a:xfrm>
            <a:off x="6294387" y="1543666"/>
            <a:ext cx="5799289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1009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5714C-24AB-4378-A1CE-569A89A10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dictionaries with zip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30AA0-E6E5-452C-849A-A89BB554D0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dictionary simply consists of two lists with identical lengths:</a:t>
            </a:r>
          </a:p>
          <a:p>
            <a:r>
              <a:rPr lang="en-US" dirty="0"/>
              <a:t>Dictionaries can be created with the </a:t>
            </a:r>
            <a:r>
              <a:rPr lang="en-US" b="1" dirty="0">
                <a:solidFill>
                  <a:srgbClr val="00B050"/>
                </a:solidFill>
              </a:rPr>
              <a:t>zip</a:t>
            </a:r>
            <a:r>
              <a:rPr lang="en-US" b="1" dirty="0"/>
              <a:t>() </a:t>
            </a:r>
            <a:r>
              <a:rPr lang="en-US" dirty="0"/>
              <a:t>generator, which we used earlier to </a:t>
            </a:r>
            <a:r>
              <a:rPr lang="en-US" b="1" dirty="0"/>
              <a:t>combine two lists of equal length in a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b="1" dirty="0"/>
              <a:t> loop.</a:t>
            </a:r>
          </a:p>
          <a:p>
            <a:r>
              <a:rPr lang="en-US" dirty="0"/>
              <a:t>Turns out that if you have a list of keys and a list of values to assign to each of these keys, then you can use </a:t>
            </a:r>
            <a:r>
              <a:rPr lang="en-US" b="1" dirty="0">
                <a:solidFill>
                  <a:srgbClr val="00B050"/>
                </a:solidFill>
              </a:rPr>
              <a:t>zip</a:t>
            </a:r>
            <a:r>
              <a:rPr lang="en-US" b="1" dirty="0"/>
              <a:t>()</a:t>
            </a:r>
            <a:r>
              <a:rPr lang="en-US" dirty="0"/>
              <a:t> to generate a dictionary easily!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ABA04E-8301-82C8-B243-7E0221E66F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4387" y="1543665"/>
            <a:ext cx="5799289" cy="4586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864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5385C-7D31-48EF-AB0D-730AD3F61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B050"/>
                </a:solidFill>
              </a:rPr>
              <a:t>Keys</a:t>
            </a:r>
            <a:r>
              <a:rPr lang="en-US" dirty="0"/>
              <a:t>, </a:t>
            </a:r>
            <a:r>
              <a:rPr lang="en-US" b="1" dirty="0">
                <a:solidFill>
                  <a:srgbClr val="00B050"/>
                </a:solidFill>
              </a:rPr>
              <a:t>values</a:t>
            </a:r>
            <a:r>
              <a:rPr lang="en-US" dirty="0"/>
              <a:t> and </a:t>
            </a:r>
            <a:r>
              <a:rPr lang="en-US" b="1" dirty="0">
                <a:solidFill>
                  <a:srgbClr val="00B050"/>
                </a:solidFill>
              </a:rPr>
              <a:t>items</a:t>
            </a:r>
            <a:r>
              <a:rPr lang="en-US" dirty="0"/>
              <a:t> in a </a:t>
            </a:r>
            <a:r>
              <a:rPr lang="en-US" b="1" dirty="0" err="1">
                <a:solidFill>
                  <a:srgbClr val="00B050"/>
                </a:solidFill>
              </a:rPr>
              <a:t>dict</a:t>
            </a:r>
            <a:endParaRPr lang="en-GB" b="1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93E86-8E06-43AF-ADD8-5F094B4A8C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48799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Once a dictionary is defined, we can retrieve</a:t>
            </a:r>
          </a:p>
          <a:p>
            <a:r>
              <a:rPr lang="en-US" dirty="0"/>
              <a:t>Its </a:t>
            </a:r>
            <a:r>
              <a:rPr lang="en-US" b="1" dirty="0"/>
              <a:t>list of indexes/keys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keys</a:t>
            </a:r>
            <a:r>
              <a:rPr lang="en-US" b="1" dirty="0"/>
              <a:t>() </a:t>
            </a:r>
            <a:r>
              <a:rPr lang="en-US" dirty="0"/>
              <a:t>method,</a:t>
            </a:r>
          </a:p>
          <a:p>
            <a:endParaRPr lang="en-US" dirty="0"/>
          </a:p>
          <a:p>
            <a:endParaRPr lang="en-US" dirty="0"/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FA2A2D-47AD-ECFA-B8A1-ECA560B6E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004" y="1690687"/>
            <a:ext cx="6020128" cy="4620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927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5385C-7D31-48EF-AB0D-730AD3F61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B050"/>
                </a:solidFill>
              </a:rPr>
              <a:t>Keys</a:t>
            </a:r>
            <a:r>
              <a:rPr lang="en-US" dirty="0"/>
              <a:t>, </a:t>
            </a:r>
            <a:r>
              <a:rPr lang="en-US" b="1" dirty="0">
                <a:solidFill>
                  <a:srgbClr val="00B050"/>
                </a:solidFill>
              </a:rPr>
              <a:t>values</a:t>
            </a:r>
            <a:r>
              <a:rPr lang="en-US" dirty="0"/>
              <a:t> and </a:t>
            </a:r>
            <a:r>
              <a:rPr lang="en-US" b="1" dirty="0">
                <a:solidFill>
                  <a:srgbClr val="00B050"/>
                </a:solidFill>
              </a:rPr>
              <a:t>items</a:t>
            </a:r>
            <a:r>
              <a:rPr lang="en-US" dirty="0"/>
              <a:t> in a </a:t>
            </a:r>
            <a:r>
              <a:rPr lang="en-US" b="1" dirty="0" err="1">
                <a:solidFill>
                  <a:srgbClr val="00B050"/>
                </a:solidFill>
              </a:rPr>
              <a:t>dict</a:t>
            </a:r>
            <a:endParaRPr lang="en-GB" b="1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93E86-8E06-43AF-ADD8-5F094B4A8C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48799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Once a dictionary is defined, we can retrieve</a:t>
            </a:r>
          </a:p>
          <a:p>
            <a:r>
              <a:rPr lang="en-US" dirty="0"/>
              <a:t>Its </a:t>
            </a:r>
            <a:r>
              <a:rPr lang="en-US" b="1" dirty="0"/>
              <a:t>list of indexes/keys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keys</a:t>
            </a:r>
            <a:r>
              <a:rPr lang="en-US" b="1" dirty="0"/>
              <a:t>() </a:t>
            </a:r>
            <a:r>
              <a:rPr lang="en-US" dirty="0"/>
              <a:t>method,</a:t>
            </a:r>
          </a:p>
          <a:p>
            <a:r>
              <a:rPr lang="en-US" dirty="0"/>
              <a:t>Its </a:t>
            </a:r>
            <a:r>
              <a:rPr lang="en-US" b="1" dirty="0"/>
              <a:t>list of values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values</a:t>
            </a:r>
            <a:r>
              <a:rPr lang="en-US" b="1" dirty="0"/>
              <a:t>() </a:t>
            </a:r>
            <a:r>
              <a:rPr lang="en-US" dirty="0"/>
              <a:t>method,</a:t>
            </a:r>
          </a:p>
          <a:p>
            <a:endParaRPr lang="en-US" dirty="0"/>
          </a:p>
          <a:p>
            <a:endParaRPr lang="en-US" dirty="0"/>
          </a:p>
          <a:p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EF4E2B9-3C11-18A6-8DB8-0B35F5D51C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710"/>
          <a:stretch/>
        </p:blipFill>
        <p:spPr>
          <a:xfrm>
            <a:off x="7330108" y="1825625"/>
            <a:ext cx="4296375" cy="192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9212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5385C-7D31-48EF-AB0D-730AD3F61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B050"/>
                </a:solidFill>
              </a:rPr>
              <a:t>Keys</a:t>
            </a:r>
            <a:r>
              <a:rPr lang="en-US" dirty="0"/>
              <a:t>, </a:t>
            </a:r>
            <a:r>
              <a:rPr lang="en-US" b="1" dirty="0">
                <a:solidFill>
                  <a:srgbClr val="00B050"/>
                </a:solidFill>
              </a:rPr>
              <a:t>values</a:t>
            </a:r>
            <a:r>
              <a:rPr lang="en-US" dirty="0"/>
              <a:t> and </a:t>
            </a:r>
            <a:r>
              <a:rPr lang="en-US" b="1" dirty="0">
                <a:solidFill>
                  <a:srgbClr val="00B050"/>
                </a:solidFill>
              </a:rPr>
              <a:t>items</a:t>
            </a:r>
            <a:r>
              <a:rPr lang="en-US" dirty="0"/>
              <a:t> in a </a:t>
            </a:r>
            <a:r>
              <a:rPr lang="en-US" b="1" dirty="0" err="1">
                <a:solidFill>
                  <a:srgbClr val="00B050"/>
                </a:solidFill>
              </a:rPr>
              <a:t>dict</a:t>
            </a:r>
            <a:endParaRPr lang="en-GB" b="1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93E86-8E06-43AF-ADD8-5F094B4A8C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48799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Once a dictionary is defined, we can retrieve</a:t>
            </a:r>
          </a:p>
          <a:p>
            <a:r>
              <a:rPr lang="en-US" dirty="0"/>
              <a:t>Its </a:t>
            </a:r>
            <a:r>
              <a:rPr lang="en-US" b="1" dirty="0"/>
              <a:t>list of indexes/keys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keys</a:t>
            </a:r>
            <a:r>
              <a:rPr lang="en-US" b="1" dirty="0"/>
              <a:t>() </a:t>
            </a:r>
            <a:r>
              <a:rPr lang="en-US" dirty="0"/>
              <a:t>method,</a:t>
            </a:r>
          </a:p>
          <a:p>
            <a:r>
              <a:rPr lang="en-US" dirty="0"/>
              <a:t>Its </a:t>
            </a:r>
            <a:r>
              <a:rPr lang="en-US" b="1" dirty="0"/>
              <a:t>list of values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values</a:t>
            </a:r>
            <a:r>
              <a:rPr lang="en-US" b="1" dirty="0"/>
              <a:t>() </a:t>
            </a:r>
            <a:r>
              <a:rPr lang="en-US" dirty="0"/>
              <a:t>method,</a:t>
            </a:r>
          </a:p>
          <a:p>
            <a:r>
              <a:rPr lang="en-US" dirty="0"/>
              <a:t>A list of all the possible </a:t>
            </a:r>
            <a:r>
              <a:rPr lang="en-US" b="1" dirty="0"/>
              <a:t>of keys/indexes and values pairs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items</a:t>
            </a:r>
            <a:r>
              <a:rPr lang="en-US" b="1" dirty="0"/>
              <a:t>() </a:t>
            </a:r>
            <a:r>
              <a:rPr lang="en-US" dirty="0"/>
              <a:t>method.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B73198-52DC-AD85-3484-B16BAB65E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108" y="1825624"/>
            <a:ext cx="4296375" cy="389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827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5385C-7D31-48EF-AB0D-730AD3F61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B050"/>
                </a:solidFill>
              </a:rPr>
              <a:t>Keys</a:t>
            </a:r>
            <a:r>
              <a:rPr lang="en-US" dirty="0"/>
              <a:t>, </a:t>
            </a:r>
            <a:r>
              <a:rPr lang="en-US" b="1" dirty="0">
                <a:solidFill>
                  <a:srgbClr val="00B050"/>
                </a:solidFill>
              </a:rPr>
              <a:t>values</a:t>
            </a:r>
            <a:r>
              <a:rPr lang="en-US" dirty="0"/>
              <a:t> and </a:t>
            </a:r>
            <a:r>
              <a:rPr lang="en-US" b="1" dirty="0">
                <a:solidFill>
                  <a:srgbClr val="00B050"/>
                </a:solidFill>
              </a:rPr>
              <a:t>items</a:t>
            </a:r>
            <a:r>
              <a:rPr lang="en-US" dirty="0"/>
              <a:t> in a </a:t>
            </a:r>
            <a:r>
              <a:rPr lang="en-US" b="1" dirty="0" err="1">
                <a:solidFill>
                  <a:srgbClr val="00B050"/>
                </a:solidFill>
              </a:rPr>
              <a:t>dict</a:t>
            </a:r>
            <a:endParaRPr lang="en-GB" b="1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93E86-8E06-43AF-ADD8-5F094B4A8C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48799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Once a dictionary is defined, we can retrieve</a:t>
            </a:r>
          </a:p>
          <a:p>
            <a:r>
              <a:rPr lang="en-US" dirty="0"/>
              <a:t>Its </a:t>
            </a:r>
            <a:r>
              <a:rPr lang="en-US" b="1" dirty="0"/>
              <a:t>list of indexes/keys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keys</a:t>
            </a:r>
            <a:r>
              <a:rPr lang="en-US" b="1" dirty="0"/>
              <a:t>() </a:t>
            </a:r>
            <a:r>
              <a:rPr lang="en-US" dirty="0"/>
              <a:t>method,</a:t>
            </a:r>
          </a:p>
          <a:p>
            <a:r>
              <a:rPr lang="en-US" dirty="0"/>
              <a:t>Its </a:t>
            </a:r>
            <a:r>
              <a:rPr lang="en-US" b="1" dirty="0"/>
              <a:t>list of values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values</a:t>
            </a:r>
            <a:r>
              <a:rPr lang="en-US" b="1" dirty="0"/>
              <a:t>() </a:t>
            </a:r>
            <a:r>
              <a:rPr lang="en-US" dirty="0"/>
              <a:t>method,</a:t>
            </a:r>
          </a:p>
          <a:p>
            <a:r>
              <a:rPr lang="en-US" dirty="0"/>
              <a:t>A list of all the possible </a:t>
            </a:r>
            <a:r>
              <a:rPr lang="en-US" b="1" dirty="0"/>
              <a:t>of keys/indexes and values pairs</a:t>
            </a:r>
            <a:r>
              <a:rPr lang="en-US" dirty="0"/>
              <a:t>, using the </a:t>
            </a:r>
            <a:r>
              <a:rPr lang="en-US" b="1" dirty="0">
                <a:solidFill>
                  <a:srgbClr val="00B050"/>
                </a:solidFill>
              </a:rPr>
              <a:t>items</a:t>
            </a:r>
            <a:r>
              <a:rPr lang="en-US" b="1" dirty="0"/>
              <a:t>() </a:t>
            </a:r>
            <a:r>
              <a:rPr lang="en-US" dirty="0"/>
              <a:t>method.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0DEA46-C35D-445D-BA0E-12F664AF8D04}"/>
              </a:ext>
            </a:extLst>
          </p:cNvPr>
          <p:cNvSpPr txBox="1"/>
          <p:nvPr/>
        </p:nvSpPr>
        <p:spPr>
          <a:xfrm>
            <a:off x="6080004" y="4750241"/>
            <a:ext cx="611199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Note: </a:t>
            </a:r>
            <a:r>
              <a:rPr lang="en-US" sz="2800" dirty="0"/>
              <a:t>all three methods give </a:t>
            </a:r>
            <a:r>
              <a:rPr lang="en-US" sz="2800" b="1" dirty="0"/>
              <a:t>generators</a:t>
            </a:r>
            <a:r>
              <a:rPr lang="en-US" sz="2800" dirty="0"/>
              <a:t> (as range, zip, enumerate, etc.).</a:t>
            </a:r>
          </a:p>
          <a:p>
            <a:r>
              <a:rPr lang="en-US" sz="2800" b="1" dirty="0"/>
              <a:t>Convert</a:t>
            </a:r>
            <a:r>
              <a:rPr lang="en-US" sz="2800" dirty="0"/>
              <a:t> them to </a:t>
            </a:r>
            <a:r>
              <a:rPr lang="en-US" sz="2800" b="1" dirty="0"/>
              <a:t>lists</a:t>
            </a:r>
            <a:r>
              <a:rPr lang="en-US" sz="2800" dirty="0"/>
              <a:t> to visualize the values in these generators!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85C6F4-05DE-BF9D-C172-2A1597F358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433"/>
          <a:stretch/>
        </p:blipFill>
        <p:spPr>
          <a:xfrm>
            <a:off x="6080004" y="1690687"/>
            <a:ext cx="6020128" cy="2891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4401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8D704-2153-4646-AACD-2C4FBFDB3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get</a:t>
            </a:r>
            <a:r>
              <a:rPr lang="en-US" b="1" dirty="0"/>
              <a:t>() </a:t>
            </a:r>
            <a:r>
              <a:rPr lang="en-US" dirty="0"/>
              <a:t>method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EDC5B-E4EB-4A27-98BD-E6D9148F52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9737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Finally, dictionaries comes with a </a:t>
            </a:r>
            <a:r>
              <a:rPr lang="en-US" b="1" dirty="0">
                <a:solidFill>
                  <a:srgbClr val="00B050"/>
                </a:solidFill>
              </a:rPr>
              <a:t>get</a:t>
            </a:r>
            <a:r>
              <a:rPr lang="en-US" b="1" dirty="0"/>
              <a:t>() </a:t>
            </a:r>
            <a:r>
              <a:rPr lang="en-US" dirty="0"/>
              <a:t>method, which receives two arguments.</a:t>
            </a:r>
          </a:p>
          <a:p>
            <a:r>
              <a:rPr lang="en-US" dirty="0"/>
              <a:t>The first argument is an index/key. The </a:t>
            </a:r>
            <a:r>
              <a:rPr lang="en-US" b="1" dirty="0">
                <a:solidFill>
                  <a:srgbClr val="00B050"/>
                </a:solidFill>
              </a:rPr>
              <a:t>get</a:t>
            </a:r>
            <a:r>
              <a:rPr lang="en-US" b="1" dirty="0"/>
              <a:t>()</a:t>
            </a:r>
            <a:r>
              <a:rPr lang="en-US" dirty="0"/>
              <a:t> method attempts to retrieve the value in the </a:t>
            </a:r>
            <a:r>
              <a:rPr lang="en-US" dirty="0" err="1"/>
              <a:t>dict</a:t>
            </a:r>
            <a:r>
              <a:rPr lang="en-US" dirty="0"/>
              <a:t> for the given index/key.</a:t>
            </a:r>
          </a:p>
          <a:p>
            <a:r>
              <a:rPr lang="en-US" dirty="0"/>
              <a:t>If the index/key does not exist, it returns the </a:t>
            </a:r>
            <a:r>
              <a:rPr lang="en-US" b="1" dirty="0"/>
              <a:t>default value </a:t>
            </a:r>
            <a:r>
              <a:rPr lang="en-US" dirty="0"/>
              <a:t>specified as the second argument of </a:t>
            </a:r>
            <a:r>
              <a:rPr lang="en-US" b="1" dirty="0">
                <a:solidFill>
                  <a:srgbClr val="00B050"/>
                </a:solidFill>
              </a:rPr>
              <a:t>get</a:t>
            </a:r>
            <a:r>
              <a:rPr lang="en-US" b="1" dirty="0"/>
              <a:t>()</a:t>
            </a:r>
            <a:r>
              <a:rPr lang="en-US" dirty="0"/>
              <a:t> instead.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B182B8-3506-4218-B4A4-3A76E07721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40821" r="28141" b="26359"/>
          <a:stretch/>
        </p:blipFill>
        <p:spPr>
          <a:xfrm>
            <a:off x="6172202" y="2178539"/>
            <a:ext cx="5870480" cy="3979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695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0E8D5-769C-4C0B-94F4-71FF9AA94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on keys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9A909-4FEF-4425-864D-1886C1D004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Important note on keys:</a:t>
            </a:r>
            <a:br>
              <a:rPr lang="en-US" b="1" dirty="0"/>
            </a:br>
            <a:r>
              <a:rPr lang="en-US" dirty="0"/>
              <a:t>The keys of a dictionary need to be </a:t>
            </a:r>
            <a:r>
              <a:rPr lang="en-US" b="1" dirty="0">
                <a:solidFill>
                  <a:srgbClr val="7030A0"/>
                </a:solidFill>
              </a:rPr>
              <a:t>immutable</a:t>
            </a:r>
            <a:r>
              <a:rPr lang="en-US" dirty="0"/>
              <a:t> types of variables.</a:t>
            </a:r>
          </a:p>
          <a:p>
            <a:r>
              <a:rPr lang="en-US" b="1" dirty="0" err="1">
                <a:solidFill>
                  <a:srgbClr val="7030A0"/>
                </a:solidFill>
              </a:rPr>
              <a:t>Immutables</a:t>
            </a:r>
            <a:r>
              <a:rPr lang="en-US" b="1" dirty="0"/>
              <a:t> types: </a:t>
            </a:r>
            <a:r>
              <a:rPr lang="en-US" dirty="0"/>
              <a:t>int, float, string, tuple, set, etc.</a:t>
            </a:r>
          </a:p>
          <a:p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Mutable</a:t>
            </a:r>
            <a:r>
              <a:rPr lang="en-US" b="1" dirty="0"/>
              <a:t> types: </a:t>
            </a:r>
            <a:r>
              <a:rPr lang="en-US" dirty="0"/>
              <a:t>list, etc.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The dictionary on the right uses lists as keys (not acceptable!)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BF485B-F125-4646-854A-36AE2FDEFC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36307" r="29744" b="16513"/>
          <a:stretch/>
        </p:blipFill>
        <p:spPr>
          <a:xfrm>
            <a:off x="6172201" y="597738"/>
            <a:ext cx="5496167" cy="5991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414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0E8D5-769C-4C0B-94F4-71FF9AA94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on keys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9286AFB-F914-4A87-914D-B9DF2DBC0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Important note on keys:</a:t>
            </a:r>
            <a:br>
              <a:rPr lang="en-US" b="1" dirty="0"/>
            </a:br>
            <a:r>
              <a:rPr lang="en-US" dirty="0"/>
              <a:t>The keys of a </a:t>
            </a:r>
            <a:r>
              <a:rPr lang="en-US" dirty="0" err="1"/>
              <a:t>dict</a:t>
            </a:r>
            <a:r>
              <a:rPr lang="en-US" dirty="0"/>
              <a:t> need to be </a:t>
            </a:r>
            <a:r>
              <a:rPr lang="en-US" b="1" dirty="0">
                <a:solidFill>
                  <a:srgbClr val="7030A0"/>
                </a:solidFill>
              </a:rPr>
              <a:t>immutable</a:t>
            </a:r>
            <a:r>
              <a:rPr lang="en-US" dirty="0"/>
              <a:t> types of variables.</a:t>
            </a:r>
          </a:p>
          <a:p>
            <a:r>
              <a:rPr lang="en-US" dirty="0"/>
              <a:t>We can therefore make a dictionary if we use tuples as indexes/keys.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16EE32-587B-4A37-9494-13D97A19F2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31385" r="4038" b="36821"/>
          <a:stretch/>
        </p:blipFill>
        <p:spPr>
          <a:xfrm>
            <a:off x="222812" y="3316532"/>
            <a:ext cx="11826876" cy="2995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2653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153FD87-5B3C-4376-AF54-807184599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Matt’s Great advice</a:t>
            </a:r>
          </a:p>
        </p:txBody>
      </p:sp>
      <p:pic>
        <p:nvPicPr>
          <p:cNvPr id="10" name="Picture 9" descr="A picture containing person, indoor, table, woman&#10;&#10;Description automatically generated">
            <a:extLst>
              <a:ext uri="{FF2B5EF4-FFF2-40B4-BE49-F238E27FC236}">
                <a16:creationId xmlns:a16="http://schemas.microsoft.com/office/drawing/2014/main" id="{93F7CB8F-466F-4FBF-B9B9-0DEA6FD78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3662" y="1996829"/>
            <a:ext cx="5163364" cy="3872523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569D6F-BC92-40F3-82E8-2041D580BA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557828"/>
            <a:ext cx="5181600" cy="3977734"/>
          </a:xfrm>
          <a:solidFill>
            <a:schemeClr val="accent5">
              <a:lumMod val="40000"/>
              <a:lumOff val="60000"/>
            </a:schemeClr>
          </a:solidFill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Matt’s Great Advice: Get comfortable with the dictionaries type.</a:t>
            </a:r>
          </a:p>
          <a:p>
            <a:pPr marL="0" indent="0">
              <a:buNone/>
            </a:pPr>
            <a:r>
              <a:rPr lang="en-US" sz="2400" dirty="0"/>
              <a:t>Dictionaries are one of the most important types in Python.</a:t>
            </a:r>
          </a:p>
          <a:p>
            <a:pPr marL="0" indent="0">
              <a:buNone/>
            </a:pPr>
            <a:r>
              <a:rPr lang="en-US" sz="2400" dirty="0"/>
              <a:t>While they might seem abstract at first, they are pretty easy to work with, especially if you understood the concepts behind lists.</a:t>
            </a:r>
          </a:p>
          <a:p>
            <a:pPr marL="0" indent="0">
              <a:buNone/>
            </a:pPr>
            <a:r>
              <a:rPr lang="en-US" sz="2400" dirty="0"/>
              <a:t>Practice until you get comfortable with them, as we will be using them a lot!</a:t>
            </a:r>
          </a:p>
        </p:txBody>
      </p:sp>
    </p:spTree>
    <p:extLst>
      <p:ext uri="{BB962C8B-B14F-4D97-AF65-F5344CB8AC3E}">
        <p14:creationId xmlns:p14="http://schemas.microsoft.com/office/powerpoint/2010/main" val="34321000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4C4A7-A5E6-4A60-9C6C-CEDCB6900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1 - Find the missing card v2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F0A4930-6855-4072-A2AA-6FD0D42684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110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Write a function </a:t>
            </a:r>
            <a:r>
              <a:rPr lang="en-US" b="1" dirty="0" err="1"/>
              <a:t>find_missing_card</a:t>
            </a:r>
            <a:r>
              <a:rPr lang="en-US" b="1" dirty="0"/>
              <a:t>()</a:t>
            </a:r>
            <a:r>
              <a:rPr lang="en-US" dirty="0"/>
              <a:t>, which receives a deck, in variable </a:t>
            </a:r>
            <a:r>
              <a:rPr lang="en-US" b="1" dirty="0"/>
              <a:t>deck</a:t>
            </a:r>
            <a:r>
              <a:rPr lang="en-US" dirty="0"/>
              <a:t>, as its sole parameter.</a:t>
            </a:r>
          </a:p>
          <a:p>
            <a:pPr marL="0" indent="0">
              <a:buNone/>
            </a:pPr>
            <a:r>
              <a:rPr lang="en-US" dirty="0"/>
              <a:t>The deck is a standard deck that has been shuffled and is missing a card. The function </a:t>
            </a:r>
            <a:r>
              <a:rPr lang="en-US" b="1" dirty="0" err="1"/>
              <a:t>find_missing_card</a:t>
            </a:r>
            <a:r>
              <a:rPr lang="en-US" b="1" dirty="0"/>
              <a:t>()</a:t>
            </a:r>
            <a:r>
              <a:rPr lang="en-US" dirty="0"/>
              <a:t> should then return the one card that is missing in the deck, as a tuple.</a:t>
            </a:r>
          </a:p>
          <a:p>
            <a:pPr marL="0" indent="0">
              <a:buNone/>
            </a:pPr>
            <a:r>
              <a:rPr lang="en-US" dirty="0"/>
              <a:t>Note that the deck is always missing a single card and will contain no duplicates.</a:t>
            </a:r>
          </a:p>
          <a:p>
            <a:pPr marL="0" indent="0">
              <a:buNone/>
            </a:pPr>
            <a:r>
              <a:rPr lang="en-US" b="1" dirty="0"/>
              <a:t>Objective: </a:t>
            </a:r>
            <a:r>
              <a:rPr lang="en-US" dirty="0"/>
              <a:t>try using a dictionary to count the number of hearts, spades, diamonds, clubs in deck. The one suit with a different number of cards is going to be the suit of the missing card!</a:t>
            </a:r>
          </a:p>
          <a:p>
            <a:pPr marL="0" indent="0" algn="ctr">
              <a:buNone/>
            </a:pPr>
            <a:r>
              <a:rPr lang="en-US" sz="2400" dirty="0" err="1"/>
              <a:t>suits_dict</a:t>
            </a:r>
            <a:r>
              <a:rPr lang="en-US" sz="2400" dirty="0"/>
              <a:t> = {"Hearts": 12, "Spades": 13, "Diamonds": 13, "Clubs": 13}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1420549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3A3542F-60AE-44F5-A770-85FF2900E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2 - 1337 speak translators v2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F8D9C0-64BE-4F37-A9C5-4F19185FF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en-US" dirty="0"/>
              <a:t>You now know about dictionaries.</a:t>
            </a:r>
          </a:p>
          <a:p>
            <a:r>
              <a:rPr lang="en-US" dirty="0"/>
              <a:t>We will use a translation dictionary, defined below, whose keys are English characters and whose values are the numbers which should replace the said letter, when we translate English sentences into </a:t>
            </a:r>
            <a:r>
              <a:rPr lang="en-US" dirty="0" err="1"/>
              <a:t>leet</a:t>
            </a:r>
            <a:r>
              <a:rPr lang="en-US" dirty="0"/>
              <a:t> speak.</a:t>
            </a:r>
          </a:p>
          <a:p>
            <a:pPr marL="0" indent="0" algn="ctr">
              <a:buNone/>
            </a:pPr>
            <a:r>
              <a:rPr lang="en-US" sz="2400" dirty="0" err="1"/>
              <a:t>eng_leet_dict</a:t>
            </a:r>
            <a:r>
              <a:rPr lang="en-US" sz="2400" dirty="0"/>
              <a:t> = {'I': '1', 'Z': '2', 'E': '3', 'A': '4',</a:t>
            </a:r>
          </a:p>
          <a:p>
            <a:pPr marL="0" indent="0" algn="ctr">
              <a:buNone/>
            </a:pPr>
            <a:r>
              <a:rPr lang="en-US" sz="2400" dirty="0"/>
              <a:t>                 'S': '5', 'T': '7', 'B': '8', 'O': '0’}</a:t>
            </a:r>
          </a:p>
          <a:p>
            <a:endParaRPr lang="en-US" dirty="0"/>
          </a:p>
          <a:p>
            <a:r>
              <a:rPr lang="en-US" dirty="0"/>
              <a:t>This translation dictionary should help you simplify your translation function drastically.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56472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3A3542F-60AE-44F5-A770-85FF2900E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2 - 1337 speak translators v2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F8D9C0-64BE-4F37-A9C5-4F19185FF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Your objective is then to write a second version of the function </a:t>
            </a:r>
            <a:r>
              <a:rPr lang="en-US" b="1" dirty="0"/>
              <a:t>eng_to_leet_v2()</a:t>
            </a:r>
            <a:r>
              <a:rPr lang="en-US" dirty="0"/>
              <a:t>, which receives two parameters:</a:t>
            </a:r>
          </a:p>
          <a:p>
            <a:r>
              <a:rPr lang="en-US" dirty="0"/>
              <a:t>the first one is </a:t>
            </a:r>
            <a:r>
              <a:rPr lang="en-US" b="1" dirty="0" err="1"/>
              <a:t>eng_str</a:t>
            </a:r>
            <a:r>
              <a:rPr lang="en-US" b="1" dirty="0"/>
              <a:t>,</a:t>
            </a:r>
            <a:r>
              <a:rPr lang="en-US" dirty="0"/>
              <a:t> which corresponds to a sentence in English, written in capital letters,</a:t>
            </a:r>
          </a:p>
          <a:p>
            <a:r>
              <a:rPr lang="en-US" dirty="0"/>
              <a:t>the second one is the translation dictionary </a:t>
            </a:r>
            <a:r>
              <a:rPr lang="en-US" b="1" dirty="0" err="1"/>
              <a:t>eng_leet_dict</a:t>
            </a:r>
            <a:r>
              <a:rPr lang="en-US" dirty="0"/>
              <a:t>, defined earlier.</a:t>
            </a:r>
          </a:p>
          <a:p>
            <a:pPr marL="0" indent="0">
              <a:buNone/>
            </a:pPr>
            <a:r>
              <a:rPr lang="en-US" dirty="0"/>
              <a:t>The function returns the equivalent sentence in </a:t>
            </a:r>
            <a:r>
              <a:rPr lang="en-US" dirty="0" err="1"/>
              <a:t>leet</a:t>
            </a:r>
            <a:r>
              <a:rPr lang="en-US" dirty="0"/>
              <a:t> speak, modifying the letters with numbers, by following the rules defined earlier.</a:t>
            </a:r>
          </a:p>
          <a:p>
            <a:pPr marL="0" indent="0">
              <a:buNone/>
            </a:pPr>
            <a:r>
              <a:rPr lang="en-US" dirty="0"/>
              <a:t>The translation dictionary should help you simplify your function drastically.</a:t>
            </a:r>
          </a:p>
        </p:txBody>
      </p:sp>
    </p:spTree>
    <p:extLst>
      <p:ext uri="{BB962C8B-B14F-4D97-AF65-F5344CB8AC3E}">
        <p14:creationId xmlns:p14="http://schemas.microsoft.com/office/powerpoint/2010/main" val="20152256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153FD87-5B3C-4376-AF54-807184599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Matt’s Great advice</a:t>
            </a:r>
          </a:p>
        </p:txBody>
      </p:sp>
      <p:pic>
        <p:nvPicPr>
          <p:cNvPr id="10" name="Picture 9" descr="A picture containing person, indoor, table, woman&#10;&#10;Description automatically generated">
            <a:extLst>
              <a:ext uri="{FF2B5EF4-FFF2-40B4-BE49-F238E27FC236}">
                <a16:creationId xmlns:a16="http://schemas.microsoft.com/office/drawing/2014/main" id="{93F7CB8F-466F-4FBF-B9B9-0DEA6FD78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3662" y="1996829"/>
            <a:ext cx="5163364" cy="3872523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569D6F-BC92-40F3-82E8-2041D580BA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557827"/>
            <a:ext cx="5181600" cy="5177270"/>
          </a:xfrm>
          <a:solidFill>
            <a:schemeClr val="accent5">
              <a:lumMod val="40000"/>
              <a:lumOff val="60000"/>
            </a:schemeClr>
          </a:solidFill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Matt’s Great Advice: Everything around you can </a:t>
            </a:r>
            <a:r>
              <a:rPr lang="en-US" sz="2400" b="1"/>
              <a:t>be described as </a:t>
            </a:r>
            <a:r>
              <a:rPr lang="en-US" sz="2400" b="1" dirty="0"/>
              <a:t>an object.</a:t>
            </a:r>
          </a:p>
          <a:p>
            <a:pPr marL="0" indent="0">
              <a:buNone/>
            </a:pPr>
            <a:r>
              <a:rPr lang="en-GB" sz="2400" dirty="0"/>
              <a:t>Everything around us can be represented, in some way, as a dictionary with various attributes</a:t>
            </a:r>
          </a:p>
          <a:p>
            <a:pPr marL="0" indent="0">
              <a:buNone/>
            </a:pPr>
            <a:r>
              <a:rPr lang="en-GB" sz="2400" b="1" dirty="0"/>
              <a:t>Everything.</a:t>
            </a:r>
          </a:p>
          <a:p>
            <a:pPr marL="0" indent="0">
              <a:buNone/>
            </a:pPr>
            <a:r>
              <a:rPr lang="en-GB" sz="2400" dirty="0"/>
              <a:t>This approach is known as object-oriented programming. It conceptualizes all entities as collections of attributes, where each attribute is a key-value pair.</a:t>
            </a:r>
          </a:p>
          <a:p>
            <a:pPr marL="0" indent="0">
              <a:buNone/>
            </a:pPr>
            <a:r>
              <a:rPr lang="en-GB" sz="2400" dirty="0"/>
              <a:t>For instance, as a person, I have a name (str), an age (int), a birth year (int), etc.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254897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A298-1C9A-41F8-A8C5-B5FFFE92B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oriented programming and thinking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59DE7-99EF-4A9E-850F-80974D62A7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>
                <a:solidFill>
                  <a:srgbClr val="00B050"/>
                </a:solidFill>
              </a:rPr>
              <a:t>Object-Oriented Programming</a:t>
            </a:r>
            <a:r>
              <a:rPr lang="en-US" b="1" dirty="0"/>
              <a:t>): </a:t>
            </a:r>
            <a:r>
              <a:rPr lang="en-US" b="1" dirty="0">
                <a:solidFill>
                  <a:srgbClr val="00B050"/>
                </a:solidFill>
              </a:rPr>
              <a:t>Object Oriented Programming</a:t>
            </a:r>
            <a:r>
              <a:rPr lang="en-US" b="1" dirty="0"/>
              <a:t> (OOP) </a:t>
            </a:r>
            <a:r>
              <a:rPr lang="en-US" dirty="0"/>
              <a:t>is a programming paradigm that relies on the concept of objects.</a:t>
            </a:r>
          </a:p>
          <a:p>
            <a:r>
              <a:rPr lang="en-US" dirty="0"/>
              <a:t>It is used to structure a software program into simple, reusable pieces of code/blueprints (usually called objects) </a:t>
            </a:r>
          </a:p>
          <a:p>
            <a:r>
              <a:rPr lang="en-US" dirty="0"/>
              <a:t>These are then used to create individual instances of self-contained objects. 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4EB9BA-7C06-40C1-B789-97BD926707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This paradigm is an absolute  game-changer, more to follow.</a:t>
            </a:r>
          </a:p>
          <a:p>
            <a:r>
              <a:rPr lang="en-US" dirty="0"/>
              <a:t>For now, I propose an introduction to OOP, called </a:t>
            </a:r>
            <a:r>
              <a:rPr lang="en-US" b="1" dirty="0"/>
              <a:t>“Object Oriented Thinking”</a:t>
            </a:r>
            <a:r>
              <a:rPr lang="en-US" dirty="0"/>
              <a:t>, which uses dictionaries instead.</a:t>
            </a:r>
          </a:p>
          <a:p>
            <a:r>
              <a:rPr lang="en-US" dirty="0"/>
              <a:t>Let us demonstrate with an example!</a:t>
            </a:r>
          </a:p>
        </p:txBody>
      </p:sp>
    </p:spTree>
    <p:extLst>
      <p:ext uri="{BB962C8B-B14F-4D97-AF65-F5344CB8AC3E}">
        <p14:creationId xmlns:p14="http://schemas.microsoft.com/office/powerpoint/2010/main" val="20719754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A298-1C9A-41F8-A8C5-B5FFFE92B8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 believe this Object-Oriented Thinking calls for a demo…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59DE7-99EF-4A9E-850F-80974D62A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552956"/>
          </a:xfrm>
        </p:spPr>
        <p:txBody>
          <a:bodyPr>
            <a:normAutofit lnSpcReduction="10000"/>
          </a:bodyPr>
          <a:lstStyle/>
          <a:p>
            <a:r>
              <a:rPr lang="en-US" sz="6000" dirty="0"/>
              <a:t>Here is what happens in the mind of a programmer playing video games</a:t>
            </a:r>
            <a:endParaRPr lang="en-GB" sz="6000" dirty="0"/>
          </a:p>
        </p:txBody>
      </p:sp>
    </p:spTree>
    <p:extLst>
      <p:ext uri="{BB962C8B-B14F-4D97-AF65-F5344CB8AC3E}">
        <p14:creationId xmlns:p14="http://schemas.microsoft.com/office/powerpoint/2010/main" val="9916539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okemon_battle_anim">
            <a:hlinkClick r:id="" action="ppaction://media"/>
            <a:extLst>
              <a:ext uri="{FF2B5EF4-FFF2-40B4-BE49-F238E27FC236}">
                <a16:creationId xmlns:a16="http://schemas.microsoft.com/office/drawing/2014/main" id="{128A1FF5-A37E-4445-9762-4A25F89831E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75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1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cmd type="call" cmd="stop">
                                      <p:cBhvr>
                                        <p:cTn id="11" dur="1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7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sign&#10;&#10;Description automatically generated">
            <a:extLst>
              <a:ext uri="{FF2B5EF4-FFF2-40B4-BE49-F238E27FC236}">
                <a16:creationId xmlns:a16="http://schemas.microsoft.com/office/drawing/2014/main" id="{6625E496-35B4-49F7-9D82-2A3ECF9291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96" y="0"/>
            <a:ext cx="106234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106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glitter pattern="hexagon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9AF55-3C06-4CCB-89E3-BAE3F363B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the mind of a programmer…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63F5-5E2D-4B16-8175-FD1489659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Following the OOP paradigm, </a:t>
            </a:r>
            <a:r>
              <a:rPr lang="en-US" dirty="0" err="1"/>
              <a:t>Pokemons</a:t>
            </a:r>
            <a:r>
              <a:rPr lang="en-US" dirty="0"/>
              <a:t> can be viewed and described as programming objects, with several attributes, such as:</a:t>
            </a:r>
          </a:p>
          <a:p>
            <a:r>
              <a:rPr lang="en-US" dirty="0"/>
              <a:t>A name: as a string variable</a:t>
            </a:r>
          </a:p>
          <a:p>
            <a:r>
              <a:rPr lang="en-US" dirty="0"/>
              <a:t>A level: as an int</a:t>
            </a:r>
          </a:p>
          <a:p>
            <a:r>
              <a:rPr lang="en-US" dirty="0"/>
              <a:t>An elemental type: as a string variable</a:t>
            </a:r>
          </a:p>
          <a:p>
            <a:r>
              <a:rPr lang="en-US" dirty="0"/>
              <a:t>Some </a:t>
            </a:r>
            <a:r>
              <a:rPr lang="en-US" dirty="0" err="1"/>
              <a:t>hitpoints</a:t>
            </a:r>
            <a:r>
              <a:rPr lang="en-US" dirty="0"/>
              <a:t> (HP), strength and defense points.</a:t>
            </a:r>
          </a:p>
          <a:p>
            <a:r>
              <a:rPr lang="en-US" dirty="0"/>
              <a:t>Etc. (Surely you can come up with more ideas of attributes!)</a:t>
            </a:r>
          </a:p>
          <a:p>
            <a:pPr marL="0" indent="0">
              <a:buNone/>
            </a:pPr>
            <a:r>
              <a:rPr lang="en-US" dirty="0"/>
              <a:t>Therefore, each </a:t>
            </a:r>
            <a:r>
              <a:rPr lang="en-US" dirty="0" err="1"/>
              <a:t>Pokemon</a:t>
            </a:r>
            <a:r>
              <a:rPr lang="en-US" dirty="0"/>
              <a:t> in the game could be described, by using a dictionary with several entries, following the same blueprint.</a:t>
            </a:r>
            <a:br>
              <a:rPr lang="en-US" dirty="0"/>
            </a:br>
            <a:r>
              <a:rPr lang="en-US" dirty="0"/>
              <a:t>Each </a:t>
            </a:r>
            <a:r>
              <a:rPr lang="en-US" dirty="0" err="1"/>
              <a:t>Pokemon</a:t>
            </a:r>
            <a:r>
              <a:rPr lang="en-US" dirty="0"/>
              <a:t> dictionary would have the same keys, but not necessarily the same values for each attribute (different names/stats).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2829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9AF55-3C06-4CCB-89E3-BAE3F363B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</a:t>
            </a:r>
            <a:r>
              <a:rPr lang="en-US" dirty="0" err="1"/>
              <a:t>Pokemons</a:t>
            </a:r>
            <a:r>
              <a:rPr lang="en-US" dirty="0"/>
              <a:t> are programming objects!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8CC464-FBE4-48B7-A6A7-6C1DF2187FB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826" t="26414" r="13750" b="50000"/>
          <a:stretch/>
        </p:blipFill>
        <p:spPr>
          <a:xfrm>
            <a:off x="85969" y="3798782"/>
            <a:ext cx="11957539" cy="29952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1A42A6-DE55-4ACC-8946-4FEA9DA66D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7722" y="1301766"/>
            <a:ext cx="4994031" cy="2497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6255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9AF55-3C06-4CCB-89E3-BAE3F363B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</a:t>
            </a:r>
            <a:r>
              <a:rPr lang="en-US" dirty="0" err="1"/>
              <a:t>Pokemons</a:t>
            </a:r>
            <a:r>
              <a:rPr lang="en-US" dirty="0"/>
              <a:t> are programming objects!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63F5-5E2D-4B16-8175-FD1489659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6866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In fact, each </a:t>
            </a:r>
            <a:r>
              <a:rPr lang="en-US" b="1" dirty="0" err="1"/>
              <a:t>Pokemon</a:t>
            </a:r>
            <a:r>
              <a:rPr lang="en-US" b="1" dirty="0"/>
              <a:t> in the game could be described, by using a dictionary with several entries, following the same blueprint.</a:t>
            </a:r>
          </a:p>
          <a:p>
            <a:r>
              <a:rPr lang="en-US" dirty="0"/>
              <a:t>Each </a:t>
            </a:r>
            <a:r>
              <a:rPr lang="en-US" dirty="0" err="1"/>
              <a:t>Pokemon</a:t>
            </a:r>
            <a:r>
              <a:rPr lang="en-US" dirty="0"/>
              <a:t> dictionary would have the same keys, but not necessarily the same values assigned to each of these keys.</a:t>
            </a:r>
          </a:p>
          <a:p>
            <a:r>
              <a:rPr lang="en-US" dirty="0"/>
              <a:t>After all, the </a:t>
            </a:r>
            <a:r>
              <a:rPr lang="en-US" dirty="0" err="1"/>
              <a:t>Pokemons</a:t>
            </a:r>
            <a:r>
              <a:rPr lang="en-US" dirty="0"/>
              <a:t> could have different names and stats.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dirty="0"/>
              <a:t>More concepts in the game could also be described using objects of some sort, such as (human character/player, items, environment objects, etc.)</a:t>
            </a:r>
          </a:p>
        </p:txBody>
      </p:sp>
    </p:spTree>
    <p:extLst>
      <p:ext uri="{BB962C8B-B14F-4D97-AF65-F5344CB8AC3E}">
        <p14:creationId xmlns:p14="http://schemas.microsoft.com/office/powerpoint/2010/main" val="14529272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CF1A62A0-B114-46CF-8825-33CA2415291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96" y="0"/>
            <a:ext cx="10623408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129F6DC-E7E6-4C01-8301-2C327B115D1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85000"/>
          </a:blip>
          <a:srcRect l="58094" t="31826" r="30135" b="55620"/>
          <a:stretch/>
        </p:blipFill>
        <p:spPr>
          <a:xfrm>
            <a:off x="1023816" y="1834662"/>
            <a:ext cx="4783015" cy="159433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BF8046F-3692-4C54-A9A9-5F15F73FF33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 amt="85000"/>
          </a:blip>
          <a:srcRect l="58141" t="52718" r="30641" b="33949"/>
          <a:stretch/>
        </p:blipFill>
        <p:spPr>
          <a:xfrm>
            <a:off x="6502400" y="93784"/>
            <a:ext cx="4818484" cy="1789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4937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9AF55-3C06-4CCB-89E3-BAE3F363B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Pokemons</a:t>
            </a:r>
            <a:r>
              <a:rPr lang="en-US" dirty="0"/>
              <a:t> types tables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63F5-5E2D-4B16-8175-FD14896598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Pokemons</a:t>
            </a:r>
            <a:r>
              <a:rPr lang="en-US" dirty="0"/>
              <a:t> have an </a:t>
            </a:r>
            <a:r>
              <a:rPr lang="en-US" b="1" dirty="0"/>
              <a:t>elemental type </a:t>
            </a:r>
            <a:r>
              <a:rPr lang="en-US" dirty="0"/>
              <a:t>(Fire, Water, Grass, etc.)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dirty="0" err="1"/>
              <a:t>Pokemon</a:t>
            </a:r>
            <a:r>
              <a:rPr lang="en-US" dirty="0"/>
              <a:t> game has a </a:t>
            </a:r>
            <a:r>
              <a:rPr lang="en-US" b="1" dirty="0"/>
              <a:t>rock-paper-scissor</a:t>
            </a:r>
            <a:r>
              <a:rPr lang="en-US" dirty="0"/>
              <a:t> concept.</a:t>
            </a:r>
          </a:p>
          <a:p>
            <a:r>
              <a:rPr lang="en-US" dirty="0"/>
              <a:t>Fire strong vs. Grass,</a:t>
            </a:r>
          </a:p>
          <a:p>
            <a:r>
              <a:rPr lang="en-US" dirty="0"/>
              <a:t>Water strong vs. Fire,</a:t>
            </a:r>
          </a:p>
          <a:p>
            <a:r>
              <a:rPr lang="en-US" dirty="0"/>
              <a:t>Grass strong vs. Water.</a:t>
            </a:r>
          </a:p>
          <a:p>
            <a:pPr marL="0" indent="0">
              <a:buNone/>
            </a:pPr>
            <a:r>
              <a:rPr lang="en-US" b="1" dirty="0"/>
              <a:t>Strong</a:t>
            </a:r>
            <a:r>
              <a:rPr lang="en-US" dirty="0"/>
              <a:t> means you deal </a:t>
            </a:r>
            <a:r>
              <a:rPr lang="en-US" b="1" dirty="0"/>
              <a:t>double</a:t>
            </a:r>
            <a:r>
              <a:rPr lang="en-US" dirty="0"/>
              <a:t> </a:t>
            </a:r>
            <a:r>
              <a:rPr lang="en-US" b="1" dirty="0"/>
              <a:t>damage</a:t>
            </a:r>
            <a:r>
              <a:rPr lang="en-US" dirty="0"/>
              <a:t> in combat, </a:t>
            </a:r>
            <a:r>
              <a:rPr lang="en-US" b="1" dirty="0"/>
              <a:t>weak</a:t>
            </a:r>
            <a:r>
              <a:rPr lang="en-US" dirty="0"/>
              <a:t> means you deal </a:t>
            </a:r>
            <a:r>
              <a:rPr lang="en-US" b="1" dirty="0"/>
              <a:t>half damage </a:t>
            </a:r>
            <a:r>
              <a:rPr lang="en-US" dirty="0"/>
              <a:t>only.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9BCD68-A028-4484-9BBD-3DC23B8DCE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03" t="29539" r="27974" b="49989"/>
          <a:stretch/>
        </p:blipFill>
        <p:spPr>
          <a:xfrm>
            <a:off x="6172202" y="4099982"/>
            <a:ext cx="5963683" cy="2490006"/>
          </a:xfrm>
          <a:prstGeom prst="rect">
            <a:avLst/>
          </a:prstGeom>
        </p:spPr>
      </p:pic>
      <p:pic>
        <p:nvPicPr>
          <p:cNvPr id="7" name="Picture 6" descr="A picture containing drawing&#10;&#10;Description automatically generated">
            <a:extLst>
              <a:ext uri="{FF2B5EF4-FFF2-40B4-BE49-F238E27FC236}">
                <a16:creationId xmlns:a16="http://schemas.microsoft.com/office/drawing/2014/main" id="{B2935DCC-D9E6-40C0-823E-3F390DF7B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996" y="452993"/>
            <a:ext cx="3717804" cy="3507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0564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CF1A62A0-B114-46CF-8825-33CA2415291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96" y="0"/>
            <a:ext cx="10623408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129F6DC-E7E6-4C01-8301-2C327B115D1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85000"/>
          </a:blip>
          <a:srcRect l="58094" t="31826" r="30135" b="55620"/>
          <a:stretch/>
        </p:blipFill>
        <p:spPr>
          <a:xfrm>
            <a:off x="1023816" y="1834662"/>
            <a:ext cx="4783015" cy="159433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BF8046F-3692-4C54-A9A9-5F15F73FF33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 amt="85000"/>
          </a:blip>
          <a:srcRect l="58141" t="52718" r="30641" b="33949"/>
          <a:stretch/>
        </p:blipFill>
        <p:spPr>
          <a:xfrm>
            <a:off x="6502400" y="93784"/>
            <a:ext cx="4818484" cy="17897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7C08C0-53C6-4F68-82B2-761FBDA57CA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alphaModFix amt="85000"/>
          </a:blip>
          <a:srcRect l="56703" t="29539" r="27974" b="49989"/>
          <a:stretch/>
        </p:blipFill>
        <p:spPr>
          <a:xfrm>
            <a:off x="5357201" y="3898497"/>
            <a:ext cx="5963683" cy="2490006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827F3570-BC25-4341-B629-A6BBED7624BE}"/>
              </a:ext>
            </a:extLst>
          </p:cNvPr>
          <p:cNvSpPr/>
          <p:nvPr/>
        </p:nvSpPr>
        <p:spPr>
          <a:xfrm rot="19391468">
            <a:off x="5351297" y="1584700"/>
            <a:ext cx="2164856" cy="881719"/>
          </a:xfrm>
          <a:prstGeom prst="rightArrow">
            <a:avLst/>
          </a:prstGeom>
          <a:solidFill>
            <a:srgbClr val="7030A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B878DC-B4C0-4CA6-8566-4CB1FE69BE87}"/>
              </a:ext>
            </a:extLst>
          </p:cNvPr>
          <p:cNvSpPr txBox="1"/>
          <p:nvPr/>
        </p:nvSpPr>
        <p:spPr>
          <a:xfrm rot="19408088">
            <a:off x="5670604" y="2048113"/>
            <a:ext cx="27135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rgbClr val="7030A0"/>
                </a:solidFill>
              </a:rPr>
              <a:t>ATTACK!</a:t>
            </a:r>
            <a:endParaRPr lang="en-GB" sz="4800" b="1" dirty="0">
              <a:ln w="22225">
                <a:solidFill>
                  <a:schemeClr val="tx1"/>
                </a:solidFill>
                <a:prstDash val="solid"/>
              </a:ln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26227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8E584A3-EF97-4CC0-9B32-89D007B2F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attack function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1291FB9-B4E1-4C39-BC17-BF3FF4B7EB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90342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And then, our gameplay could be described as functions using and/or updating dictionaries corresponding to each of these entities.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For instance, when pokemon1 attacks pokemon2, it inflicts damage to pokemon2, which is calculated as</a:t>
                </a:r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𝒂𝒕𝒕𝒂𝒄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𝒑𝒐𝒌𝒆𝒎𝒐𝒏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𝒅𝒆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𝒇𝒆𝒏𝒔𝒆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𝒑𝒐𝒌𝒆𝒎𝒐𝒏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Where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GB" dirty="0"/>
                  <a:t> is the multiplying factor (either 2 or 0.5), which</a:t>
                </a:r>
              </a:p>
              <a:p>
                <a:r>
                  <a:rPr lang="en-GB" dirty="0"/>
                  <a:t>depends on the elemental types of the attacker (pokemon1) and the defender (pokemon2),</a:t>
                </a:r>
              </a:p>
              <a:p>
                <a:r>
                  <a:rPr lang="en-GB" dirty="0"/>
                  <a:t>and is given by the </a:t>
                </a:r>
                <a:r>
                  <a:rPr lang="en-GB" dirty="0" err="1"/>
                  <a:t>types_table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1291FB9-B4E1-4C39-BC17-BF3FF4B7EB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903421"/>
              </a:xfrm>
              <a:blipFill>
                <a:blip r:embed="rId2"/>
                <a:stretch>
                  <a:fillRect l="-1217" t="-19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79623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47C6E41-3E45-4306-90AD-940E783448C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95" t="22769" r="25705" b="24514"/>
          <a:stretch/>
        </p:blipFill>
        <p:spPr>
          <a:xfrm>
            <a:off x="46889" y="54707"/>
            <a:ext cx="7218541" cy="6795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2130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sign&#10;&#10;Description automatically generated">
            <a:extLst>
              <a:ext uri="{FF2B5EF4-FFF2-40B4-BE49-F238E27FC236}">
                <a16:creationId xmlns:a16="http://schemas.microsoft.com/office/drawing/2014/main" id="{CF1A62A0-B114-46CF-8825-33CA2415291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96" y="0"/>
            <a:ext cx="10623408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129F6DC-E7E6-4C01-8301-2C327B115D1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85000"/>
          </a:blip>
          <a:srcRect l="58094" t="31826" r="30135" b="55620"/>
          <a:stretch/>
        </p:blipFill>
        <p:spPr>
          <a:xfrm>
            <a:off x="1023816" y="1834662"/>
            <a:ext cx="4783015" cy="159433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BF8046F-3692-4C54-A9A9-5F15F73FF33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 amt="85000"/>
          </a:blip>
          <a:srcRect l="58141" t="52718" r="30641" b="33949"/>
          <a:stretch/>
        </p:blipFill>
        <p:spPr>
          <a:xfrm>
            <a:off x="6502400" y="93784"/>
            <a:ext cx="4818484" cy="17897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7C08C0-53C6-4F68-82B2-761FBDA57CA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alphaModFix amt="85000"/>
          </a:blip>
          <a:srcRect l="56703" t="29539" r="27974" b="49989"/>
          <a:stretch/>
        </p:blipFill>
        <p:spPr>
          <a:xfrm>
            <a:off x="5357201" y="3898497"/>
            <a:ext cx="5963683" cy="2490006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827F3570-BC25-4341-B629-A6BBED7624BE}"/>
              </a:ext>
            </a:extLst>
          </p:cNvPr>
          <p:cNvSpPr/>
          <p:nvPr/>
        </p:nvSpPr>
        <p:spPr>
          <a:xfrm rot="19391468">
            <a:off x="5351297" y="1584700"/>
            <a:ext cx="2164856" cy="881719"/>
          </a:xfrm>
          <a:prstGeom prst="rightArrow">
            <a:avLst/>
          </a:prstGeom>
          <a:solidFill>
            <a:srgbClr val="7030A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B878DC-B4C0-4CA6-8566-4CB1FE69BE87}"/>
              </a:ext>
            </a:extLst>
          </p:cNvPr>
          <p:cNvSpPr txBox="1"/>
          <p:nvPr/>
        </p:nvSpPr>
        <p:spPr>
          <a:xfrm rot="19408088">
            <a:off x="3310256" y="1899549"/>
            <a:ext cx="8331307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rgbClr val="7030A0"/>
                </a:solidFill>
              </a:rPr>
              <a:t>ATTACK!</a:t>
            </a:r>
            <a:br>
              <a:rPr lang="en-US" sz="48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rgbClr val="7030A0"/>
                </a:solidFill>
              </a:rPr>
            </a:br>
            <a:r>
              <a:rPr lang="en-US" sz="36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rgbClr val="7030A0"/>
                </a:solidFill>
              </a:rPr>
              <a:t>attack(pokemon1, </a:t>
            </a:r>
          </a:p>
          <a:p>
            <a:pPr algn="ctr"/>
            <a:r>
              <a:rPr lang="en-US" sz="36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rgbClr val="7030A0"/>
                </a:solidFill>
              </a:rPr>
              <a:t>pokemon2, </a:t>
            </a:r>
          </a:p>
          <a:p>
            <a:pPr algn="ctr"/>
            <a:r>
              <a:rPr lang="en-US" sz="3600" b="1" dirty="0" err="1">
                <a:ln w="22225">
                  <a:solidFill>
                    <a:schemeClr val="tx1"/>
                  </a:solidFill>
                  <a:prstDash val="solid"/>
                </a:ln>
                <a:solidFill>
                  <a:srgbClr val="7030A0"/>
                </a:solidFill>
              </a:rPr>
              <a:t>types_table</a:t>
            </a:r>
            <a:r>
              <a:rPr lang="en-US" sz="36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rgbClr val="7030A0"/>
                </a:solidFill>
              </a:rPr>
              <a:t>)</a:t>
            </a:r>
            <a:endParaRPr lang="en-GB" sz="4000" b="1" dirty="0">
              <a:ln w="22225">
                <a:solidFill>
                  <a:schemeClr val="tx1"/>
                </a:solidFill>
                <a:prstDash val="solid"/>
              </a:ln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14187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3">
            <a:extLst>
              <a:ext uri="{FF2B5EF4-FFF2-40B4-BE49-F238E27FC236}">
                <a16:creationId xmlns:a16="http://schemas.microsoft.com/office/drawing/2014/main" id="{3F2DF7A7-9E74-4314-A6B0-388B541AE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The attack function, at work</a:t>
            </a:r>
            <a:endParaRPr lang="en-GB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AD73243-807C-4C2C-A39B-C3BD2C41E6C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50" t="42718" r="13059" b="26059"/>
          <a:stretch/>
        </p:blipFill>
        <p:spPr>
          <a:xfrm>
            <a:off x="0" y="1997475"/>
            <a:ext cx="12154183" cy="391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3918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A298-1C9A-41F8-A8C5-B5FFFE92B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deeper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08638-2F8C-4479-8256-B6B566AB34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 believe that this example helped visualize how Object-Oriented Thinking can help improve the structure of your code!</a:t>
            </a:r>
          </a:p>
          <a:p>
            <a:pPr marL="0" indent="0">
              <a:buNone/>
            </a:pPr>
            <a:r>
              <a:rPr lang="en-US" dirty="0"/>
              <a:t>You have seen here how it could be done using a dictionary. In practice however, </a:t>
            </a:r>
            <a:r>
              <a:rPr lang="en-US" b="1" dirty="0"/>
              <a:t>OOP goes far deeper</a:t>
            </a:r>
            <a:r>
              <a:rPr lang="en-US" dirty="0"/>
              <a:t>, and gives the possibility to create:</a:t>
            </a:r>
          </a:p>
          <a:p>
            <a:r>
              <a:rPr lang="en-US" dirty="0"/>
              <a:t>Your </a:t>
            </a:r>
            <a:r>
              <a:rPr lang="en-US" b="1" dirty="0"/>
              <a:t>own custom types of variables</a:t>
            </a:r>
            <a:r>
              <a:rPr lang="en-US" dirty="0"/>
              <a:t>, so that you can represent any object you want.</a:t>
            </a:r>
          </a:p>
          <a:p>
            <a:r>
              <a:rPr lang="en-US" dirty="0"/>
              <a:t>Your </a:t>
            </a:r>
            <a:r>
              <a:rPr lang="en-US" b="1" dirty="0"/>
              <a:t>own custom methods</a:t>
            </a:r>
            <a:r>
              <a:rPr lang="en-US" dirty="0"/>
              <a:t>, i.e. functions that will only apply to these custom objects.</a:t>
            </a:r>
          </a:p>
          <a:p>
            <a:pPr marL="0" indent="0">
              <a:buNone/>
            </a:pPr>
            <a:r>
              <a:rPr lang="en-GB" dirty="0"/>
              <a:t>We will learn more about the Object-Oriented Programming concepts in the next coming lecture!</a:t>
            </a:r>
          </a:p>
        </p:txBody>
      </p:sp>
    </p:spTree>
    <p:extLst>
      <p:ext uri="{BB962C8B-B14F-4D97-AF65-F5344CB8AC3E}">
        <p14:creationId xmlns:p14="http://schemas.microsoft.com/office/powerpoint/2010/main" val="18143054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BF28AB9-99B5-4C2F-BF6B-BFBC24B89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Activity 3 - Hero stats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AEC99A-A6DE-4695-A38E-233EA4CE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OOP, a function, which creates an object and its dictionary, based on a few variables, is called a </a:t>
            </a:r>
            <a:r>
              <a:rPr lang="en-US" b="1" dirty="0"/>
              <a:t>constructor</a:t>
            </a:r>
            <a:r>
              <a:rPr lang="en-US" dirty="0"/>
              <a:t> </a:t>
            </a:r>
            <a:r>
              <a:rPr lang="en-US" b="1" dirty="0"/>
              <a:t>function</a:t>
            </a:r>
            <a:r>
              <a:rPr lang="en-US" dirty="0"/>
              <a:t> </a:t>
            </a:r>
            <a:r>
              <a:rPr lang="en-US" b="1" dirty="0"/>
              <a:t>for</a:t>
            </a:r>
            <a:r>
              <a:rPr lang="en-US" dirty="0"/>
              <a:t> </a:t>
            </a:r>
            <a:r>
              <a:rPr lang="en-US" b="1" dirty="0"/>
              <a:t>the</a:t>
            </a:r>
            <a:r>
              <a:rPr lang="en-US" dirty="0"/>
              <a:t> </a:t>
            </a:r>
            <a:r>
              <a:rPr lang="en-US" b="1" dirty="0"/>
              <a:t>object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In this activity, we design a </a:t>
            </a:r>
            <a:r>
              <a:rPr lang="en-US" b="1" dirty="0"/>
              <a:t>constructor</a:t>
            </a:r>
            <a:r>
              <a:rPr lang="en-US" dirty="0"/>
              <a:t> </a:t>
            </a:r>
            <a:r>
              <a:rPr lang="en-US" b="1" dirty="0"/>
              <a:t>function</a:t>
            </a:r>
            <a:r>
              <a:rPr lang="en-US" dirty="0"/>
              <a:t> for a </a:t>
            </a:r>
            <a:r>
              <a:rPr lang="en-US" b="1" dirty="0"/>
              <a:t>hero</a:t>
            </a:r>
            <a:r>
              <a:rPr lang="en-US" dirty="0"/>
              <a:t> </a:t>
            </a:r>
            <a:r>
              <a:rPr lang="en-US" b="1" dirty="0"/>
              <a:t>object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Write a function </a:t>
            </a:r>
            <a:r>
              <a:rPr lang="en-US" b="1" dirty="0" err="1"/>
              <a:t>create_hero</a:t>
            </a:r>
            <a:r>
              <a:rPr lang="en-US" b="1" dirty="0"/>
              <a:t>()</a:t>
            </a:r>
            <a:r>
              <a:rPr lang="en-US" dirty="0"/>
              <a:t>, which receives three parameters:</a:t>
            </a:r>
          </a:p>
          <a:p>
            <a:r>
              <a:rPr lang="en-US" dirty="0" err="1"/>
              <a:t>str_pts</a:t>
            </a:r>
            <a:r>
              <a:rPr lang="en-US" dirty="0"/>
              <a:t>: an int corresponding to the strength points of the hero,</a:t>
            </a:r>
          </a:p>
          <a:p>
            <a:r>
              <a:rPr lang="en-US" dirty="0" err="1"/>
              <a:t>agi_pts</a:t>
            </a:r>
            <a:r>
              <a:rPr lang="en-US" dirty="0"/>
              <a:t>: an int corresponding to the agility points of the hero,</a:t>
            </a:r>
          </a:p>
          <a:p>
            <a:r>
              <a:rPr lang="en-US" dirty="0" err="1"/>
              <a:t>int_pts</a:t>
            </a:r>
            <a:r>
              <a:rPr lang="en-US" dirty="0"/>
              <a:t>: an int corresponding to the intelligence points of the hero.</a:t>
            </a:r>
          </a:p>
        </p:txBody>
      </p:sp>
    </p:spTree>
    <p:extLst>
      <p:ext uri="{BB962C8B-B14F-4D97-AF65-F5344CB8AC3E}">
        <p14:creationId xmlns:p14="http://schemas.microsoft.com/office/powerpoint/2010/main" val="38918956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BF28AB9-99B5-4C2F-BF6B-BFBC24B89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Activity 3 - Hero stats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AEC99A-A6DE-4695-A38E-233EA4CE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It returns a dictionary containing the following keys and values:</a:t>
            </a:r>
          </a:p>
          <a:p>
            <a:r>
              <a:rPr lang="en-US" dirty="0" err="1"/>
              <a:t>str_pts</a:t>
            </a:r>
            <a:r>
              <a:rPr lang="en-US" dirty="0"/>
              <a:t>: an int corresponding to the strength points of the hero,</a:t>
            </a:r>
          </a:p>
          <a:p>
            <a:r>
              <a:rPr lang="en-US" dirty="0" err="1"/>
              <a:t>agi_pts</a:t>
            </a:r>
            <a:r>
              <a:rPr lang="en-US" dirty="0"/>
              <a:t>: an int corresponding to the agility points of the hero,</a:t>
            </a:r>
          </a:p>
          <a:p>
            <a:r>
              <a:rPr lang="en-US" dirty="0" err="1"/>
              <a:t>int_pts</a:t>
            </a:r>
            <a:r>
              <a:rPr lang="en-US" dirty="0"/>
              <a:t>: an int corresponding to the intelligence points of the hero,</a:t>
            </a:r>
          </a:p>
          <a:p>
            <a:r>
              <a:rPr lang="en-US" dirty="0" err="1"/>
              <a:t>HP_pts</a:t>
            </a:r>
            <a:r>
              <a:rPr lang="en-US" dirty="0"/>
              <a:t>: an int corresponding to the life points of the hero, which is 10 points, plus 10 times the number of strength points,</a:t>
            </a:r>
          </a:p>
          <a:p>
            <a:r>
              <a:rPr lang="en-US" dirty="0" err="1"/>
              <a:t>MP_pts</a:t>
            </a:r>
            <a:r>
              <a:rPr lang="en-US" dirty="0"/>
              <a:t>: an int corresponding to the magic points (MP) of the hero, which is 5 times the number of intelligence points,</a:t>
            </a:r>
          </a:p>
          <a:p>
            <a:r>
              <a:rPr lang="en-US" dirty="0" err="1"/>
              <a:t>atk_pts</a:t>
            </a:r>
            <a:r>
              <a:rPr lang="en-US" dirty="0"/>
              <a:t>: an int corresponding to the attack points of the hero, which is the sum of the strength, agility and intelligence points.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97038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E4C34C0-8CCB-4B8B-9493-0E5A81E8E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4 - Equipping a weapon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042C74-4418-4CC3-AA13-D3E3B60DF6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en-US" dirty="0"/>
              <a:t>Let us consider the hero defined below as an object, with its own dictionary.</a:t>
            </a:r>
          </a:p>
          <a:p>
            <a:pPr marL="0" indent="0" algn="ctr">
              <a:buNone/>
            </a:pPr>
            <a:r>
              <a:rPr lang="en-US" sz="2400" dirty="0" err="1"/>
              <a:t>hero_dict</a:t>
            </a:r>
            <a:r>
              <a:rPr lang="en-US" sz="2400" dirty="0"/>
              <a:t> = {'</a:t>
            </a:r>
            <a:r>
              <a:rPr lang="en-US" sz="2400" dirty="0" err="1"/>
              <a:t>str_pts</a:t>
            </a:r>
            <a:r>
              <a:rPr lang="en-US" sz="2400" dirty="0"/>
              <a:t>': 10, '</a:t>
            </a:r>
            <a:r>
              <a:rPr lang="en-US" sz="2400" dirty="0" err="1"/>
              <a:t>equipped_weapon</a:t>
            </a:r>
            <a:r>
              <a:rPr lang="en-US" sz="2400" dirty="0"/>
              <a:t>': None, '</a:t>
            </a:r>
            <a:r>
              <a:rPr lang="en-US" sz="2400" dirty="0" err="1"/>
              <a:t>atk_pts</a:t>
            </a:r>
            <a:r>
              <a:rPr lang="en-US" sz="2400" dirty="0"/>
              <a:t>': None}</a:t>
            </a:r>
          </a:p>
          <a:p>
            <a:r>
              <a:rPr lang="en-US" dirty="0"/>
              <a:t>Notice how no attack points and equipped weapon have yet been defined (they instead have the None value).</a:t>
            </a:r>
          </a:p>
          <a:p>
            <a:r>
              <a:rPr lang="en-US" dirty="0"/>
              <a:t>We can also define </a:t>
            </a:r>
            <a:r>
              <a:rPr lang="en-US" b="1" dirty="0"/>
              <a:t>weapons</a:t>
            </a:r>
            <a:r>
              <a:rPr lang="en-US" dirty="0"/>
              <a:t> </a:t>
            </a:r>
            <a:r>
              <a:rPr lang="en-US" b="1" dirty="0"/>
              <a:t>objects</a:t>
            </a:r>
            <a:r>
              <a:rPr lang="en-US" dirty="0"/>
              <a:t>, as dictionaries as well. Below we have defined two weapon objects: a sword and a bow.</a:t>
            </a:r>
          </a:p>
          <a:p>
            <a:pPr marL="0" indent="0" algn="ctr">
              <a:buNone/>
            </a:pPr>
            <a:r>
              <a:rPr lang="en-US" sz="2400" dirty="0"/>
              <a:t>sword = {"</a:t>
            </a:r>
            <a:r>
              <a:rPr lang="en-US" sz="2400" dirty="0" err="1"/>
              <a:t>weapon_name</a:t>
            </a:r>
            <a:r>
              <a:rPr lang="en-US" sz="2400" dirty="0"/>
              <a:t>": "Sword of Blazing Justice", "</a:t>
            </a:r>
            <a:r>
              <a:rPr lang="en-US" sz="2400" dirty="0" err="1"/>
              <a:t>weapon_atk</a:t>
            </a:r>
            <a:r>
              <a:rPr lang="en-US" sz="2400" dirty="0"/>
              <a:t>": 10}</a:t>
            </a:r>
          </a:p>
          <a:p>
            <a:pPr marL="0" indent="0" algn="ctr">
              <a:buNone/>
            </a:pPr>
            <a:r>
              <a:rPr lang="en-US" sz="2400" dirty="0"/>
              <a:t>bow = {"</a:t>
            </a:r>
            <a:r>
              <a:rPr lang="en-US" sz="2400" dirty="0" err="1"/>
              <a:t>weapon_name</a:t>
            </a:r>
            <a:r>
              <a:rPr lang="en-US" sz="2400" dirty="0"/>
              <a:t>": "Bow of Impeccable Accuracy", "</a:t>
            </a:r>
            <a:r>
              <a:rPr lang="en-US" sz="2400" dirty="0" err="1"/>
              <a:t>weapon_atk</a:t>
            </a:r>
            <a:r>
              <a:rPr lang="en-US" sz="2400" dirty="0"/>
              <a:t>": 8}</a:t>
            </a:r>
          </a:p>
          <a:p>
            <a:pPr marL="0" indent="0" algn="ctr">
              <a:buNone/>
            </a:pP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7874245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E4C34C0-8CCB-4B8B-9493-0E5A81E8E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4 - Equipping a weapon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042C74-4418-4CC3-AA13-D3E3B60DF6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Write a function </a:t>
            </a:r>
            <a:r>
              <a:rPr lang="en-US" b="1" dirty="0" err="1"/>
              <a:t>equip_weapon</a:t>
            </a:r>
            <a:r>
              <a:rPr lang="en-US" b="1" dirty="0"/>
              <a:t>()</a:t>
            </a:r>
            <a:r>
              <a:rPr lang="en-US" dirty="0"/>
              <a:t>, which receives two dictionaries:</a:t>
            </a:r>
          </a:p>
          <a:p>
            <a:r>
              <a:rPr lang="en-US" dirty="0"/>
              <a:t>The first one is a hero dictionary,</a:t>
            </a:r>
          </a:p>
          <a:p>
            <a:r>
              <a:rPr lang="en-US" dirty="0"/>
              <a:t>The second one is a weapon dictionary (either the sword or bow).</a:t>
            </a:r>
          </a:p>
          <a:p>
            <a:pPr marL="0" indent="0">
              <a:buNone/>
            </a:pPr>
            <a:r>
              <a:rPr lang="en-US" dirty="0"/>
              <a:t>It will return the hero dictionary, whose keys, '</a:t>
            </a:r>
            <a:r>
              <a:rPr lang="en-US" dirty="0" err="1"/>
              <a:t>equipped_weapon</a:t>
            </a:r>
            <a:r>
              <a:rPr lang="en-US" dirty="0"/>
              <a:t>' and '</a:t>
            </a:r>
            <a:r>
              <a:rPr lang="en-US" dirty="0" err="1"/>
              <a:t>atk_pts</a:t>
            </a:r>
            <a:r>
              <a:rPr lang="en-US" dirty="0"/>
              <a:t>', have been updated.</a:t>
            </a:r>
          </a:p>
          <a:p>
            <a:r>
              <a:rPr lang="en-US" dirty="0"/>
              <a:t>The value assigned to the '</a:t>
            </a:r>
            <a:r>
              <a:rPr lang="en-US" dirty="0" err="1"/>
              <a:t>equipped_weapon</a:t>
            </a:r>
            <a:r>
              <a:rPr lang="en-US" dirty="0"/>
              <a:t>' of the hero dictionary, will be the dictionary corresponding to the equipped weapon.</a:t>
            </a:r>
          </a:p>
          <a:p>
            <a:r>
              <a:rPr lang="en-US" dirty="0"/>
              <a:t>The value assigned to the '</a:t>
            </a:r>
            <a:r>
              <a:rPr lang="en-US" dirty="0" err="1"/>
              <a:t>atk_pts</a:t>
            </a:r>
            <a:r>
              <a:rPr lang="en-US" dirty="0"/>
              <a:t>' of the hero dictionary, will consist of the hero strength points (in '</a:t>
            </a:r>
            <a:r>
              <a:rPr lang="en-US" dirty="0" err="1"/>
              <a:t>str_pts</a:t>
            </a:r>
            <a:r>
              <a:rPr lang="en-US" dirty="0"/>
              <a:t>'), plus the weapon attack points (in the weapon dictionary, key '</a:t>
            </a:r>
            <a:r>
              <a:rPr lang="en-US" dirty="0" err="1"/>
              <a:t>weapon_atk</a:t>
            </a:r>
            <a:r>
              <a:rPr lang="en-US" dirty="0"/>
              <a:t>').</a:t>
            </a:r>
          </a:p>
          <a:p>
            <a:pPr marL="0" indent="0">
              <a:buNone/>
            </a:pPr>
            <a:r>
              <a:rPr lang="en-US" b="1" dirty="0"/>
              <a:t>Note: </a:t>
            </a:r>
            <a:r>
              <a:rPr lang="en-US" dirty="0"/>
              <a:t>in practice, this OOP concept defines a </a:t>
            </a:r>
            <a:r>
              <a:rPr lang="en-US" b="1" dirty="0"/>
              <a:t>'has-a'</a:t>
            </a:r>
            <a:r>
              <a:rPr lang="en-US" dirty="0"/>
              <a:t> </a:t>
            </a:r>
            <a:r>
              <a:rPr lang="en-US" b="1" dirty="0"/>
              <a:t>relationship</a:t>
            </a:r>
            <a:r>
              <a:rPr lang="en-US" dirty="0"/>
              <a:t>, because one of the attributes of the hero object is a weapon object.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28386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BC776-F489-4F89-B9D1-64DFC9204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4" y="406968"/>
            <a:ext cx="6798541" cy="837884"/>
          </a:xfrm>
        </p:spPr>
        <p:txBody>
          <a:bodyPr anchor="b">
            <a:normAutofit/>
          </a:bodyPr>
          <a:lstStyle/>
          <a:p>
            <a:r>
              <a:rPr lang="en-US" sz="4000" dirty="0"/>
              <a:t>Conclusion (</a:t>
            </a:r>
            <a:r>
              <a:rPr lang="en-US" sz="4000"/>
              <a:t>Chapter 16)</a:t>
            </a:r>
            <a:endParaRPr lang="en-US" sz="4000" dirty="0"/>
          </a:p>
        </p:txBody>
      </p:sp>
      <p:pic>
        <p:nvPicPr>
          <p:cNvPr id="5" name="Picture 4" descr="Closeup of a keyboard">
            <a:extLst>
              <a:ext uri="{FF2B5EF4-FFF2-40B4-BE49-F238E27FC236}">
                <a16:creationId xmlns:a16="http://schemas.microsoft.com/office/drawing/2014/main" id="{943E5914-5549-6D68-0D39-CD2945350A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164" r="40215" b="1"/>
          <a:stretch/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85463-414E-4F5F-96DD-C1BA37CF0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3734" y="1651819"/>
            <a:ext cx="7362963" cy="5004619"/>
          </a:xfrm>
        </p:spPr>
        <p:txBody>
          <a:bodyPr>
            <a:normAutofit/>
          </a:bodyPr>
          <a:lstStyle/>
          <a:p>
            <a:r>
              <a:rPr lang="en-US" dirty="0"/>
              <a:t>What is the </a:t>
            </a:r>
            <a:r>
              <a:rPr lang="en-US" b="1" dirty="0"/>
              <a:t>tuple</a:t>
            </a:r>
            <a:r>
              <a:rPr lang="en-US" dirty="0"/>
              <a:t> type? (fast version)</a:t>
            </a:r>
          </a:p>
          <a:p>
            <a:r>
              <a:rPr lang="en-US" dirty="0"/>
              <a:t>What is the </a:t>
            </a:r>
            <a:r>
              <a:rPr lang="en-US" b="1" dirty="0"/>
              <a:t>dictionary</a:t>
            </a:r>
            <a:r>
              <a:rPr lang="en-US" dirty="0"/>
              <a:t> type?</a:t>
            </a:r>
          </a:p>
          <a:p>
            <a:r>
              <a:rPr lang="en-US" dirty="0"/>
              <a:t>What are </a:t>
            </a:r>
            <a:r>
              <a:rPr lang="en-US" b="1" dirty="0"/>
              <a:t>typical operations on dictionaries</a:t>
            </a:r>
            <a:r>
              <a:rPr lang="en-US" dirty="0"/>
              <a:t>?</a:t>
            </a:r>
          </a:p>
          <a:p>
            <a:r>
              <a:rPr lang="en-US" dirty="0"/>
              <a:t>How are </a:t>
            </a:r>
            <a:r>
              <a:rPr lang="en-US" b="1" dirty="0"/>
              <a:t>dictionaries</a:t>
            </a:r>
            <a:r>
              <a:rPr lang="en-US" dirty="0"/>
              <a:t> and </a:t>
            </a:r>
            <a:r>
              <a:rPr lang="en-US" b="1" dirty="0"/>
              <a:t>the concept of object-oriented programming </a:t>
            </a:r>
            <a:r>
              <a:rPr lang="en-US" dirty="0"/>
              <a:t>related?</a:t>
            </a:r>
          </a:p>
          <a:p>
            <a:r>
              <a:rPr lang="en-US" dirty="0"/>
              <a:t>What is “object-oriented thinking”?</a:t>
            </a:r>
          </a:p>
          <a:p>
            <a:r>
              <a:rPr lang="en-US" b="1" dirty="0"/>
              <a:t>Practice</a:t>
            </a:r>
            <a:r>
              <a:rPr lang="en-US" dirty="0"/>
              <a:t> on dictionaries.</a:t>
            </a:r>
          </a:p>
          <a:p>
            <a:r>
              <a:rPr lang="en-US" i="1" dirty="0"/>
              <a:t>(If time allows, what is the set types?)</a:t>
            </a:r>
          </a:p>
        </p:txBody>
      </p:sp>
    </p:spTree>
    <p:extLst>
      <p:ext uri="{BB962C8B-B14F-4D97-AF65-F5344CB8AC3E}">
        <p14:creationId xmlns:p14="http://schemas.microsoft.com/office/powerpoint/2010/main" val="16303828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45CCEC3-E0D5-912D-A6A5-053A57968B1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1E6147-B05A-7FDA-CFE3-C8A637E9FB7A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C93F4FB-D0C9-45BA-6EBB-AA5B81A5AC40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C3CAF76-406C-680A-A726-BA91997077F2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5AB3E0-E420-C6BB-D1DE-FE7CB62770FB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will be printed?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BFE435-C9F9-FA25-8649-BEA2A9424A95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7822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07714E2-ACE3-2A93-150E-1B20C81E195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C9BC2E2-691F-BE76-B3D3-40884769D534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D093DDE1-C12A-707C-AC2D-C96FE8CC9B1E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28A3A168-977C-A788-D26C-4FE5DA862861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D39B020-1E2C-7577-0E36-0D05FF83E114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300" b="1">
                <a:solidFill>
                  <a:srgbClr val="5B5B5B"/>
                </a:solidFill>
              </a:rPr>
              <a:t>Which operation should we use on line 2 to obtain ['gaming', 'running'] as a result on line 5?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747764-99C1-3570-6BEA-B778AA9FD53B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24449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A97828A-4D73-FD9D-5DC3-E6263EF9030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D9B2605-2E4C-76AF-0892-76D3A470CA20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BA3559D-CCFF-068A-0A2E-4D6771C6FEB5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F65C989-9B68-4814-39E0-5FC351B627D6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F04D42E-3F32-C799-4505-9A21DF4021E6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Which of the following checks if the key 'name' exists in the dictionary d?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D655C04-D8FC-521F-A13B-147CB058A84B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66961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57CA19-8809-6678-7760-C3305FB51308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A6AC551-2E4B-F4BE-A275-C0B02AF834CE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CF7E56E-EA1B-85FF-4C11-C4AE35D82C6E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BE4D4CDA-223D-B69C-4A38-31AF992FD353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0DA72FC-1E8C-292C-40E7-EFB43D1EEC5F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will be the outcome of this code?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462682-22D2-CFC7-9B8A-CF35C5DF54C4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33408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06C991-831B-6233-32A8-4CD3A8D3912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8129D23-8491-958F-F153-739D950E7B6C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C8BD14BE-1E02-DEEF-3FFA-A6CB8486B302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5EF808A-EC72-B22C-8C01-66DB67DC0CF2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633EF57-EEE9-FF8F-08FE-39930B1756A3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Which of these four prints will display the string "gaming"?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16408F-3AFD-801C-FD71-28BE93D3973F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89320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14.0.5919"/>
  <p:tag name="SLIDO_PRESENTATION_ID" val="88dcb29d-3dae-4dbc-b25c-fefaad9c9f66"/>
  <p:tag name="SLIDO_EVENT_UUID" val="942ef9dd-9bc3-467d-9990-323a5a57078c"/>
  <p:tag name="SLIDO_EVENT_SECTION_UUID" val="0e9eda73-9ec9-424c-86fc-65de247f4fb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0Njd9"/>
  <p:tag name="SLIDO_TYPE" val="SlidoPoll"/>
  <p:tag name="SLIDO_POLL_UUID" val="e28f1de1-ae1f-48bf-9da4-a20b215801bc"/>
  <p:tag name="SLIDO_POLL_QUESTION_UUID" val="35714c99-8f38-4766-b02d-8729ed0db55b"/>
  <p:tag name="SLIDO_TIMELINE" val="W3sic2NyZWVuIjoiUXVpekpvaW5pbmciLCJzaG93UmVzdWx0cyI6ZmFsc2UsInNob3dDb3JyZWN0QW5zd2VycyI6ZmFsc2UsInZvdGluZ0xvY2tlZCI6ZmFsc2V9LHsicG9sbFF1ZXN0aW9uVXVpZCI6IjM1NzE0Yzk5LThmMzgtNDc2Ni1iMDJkLTg3MjllZDBkYjU1YiIsInNob3dSZXN1bHRzIjpmYWxzZSwic2hvd0NvcnJlY3RBbnN3ZXJzIjpmYWxzZSwidm90aW5nTG9ja2VkIjpmYWxzZX0seyJwb2xsUXVlc3Rpb25VdWlkIjoiMzU3MTRjOTktOGYzOC00NzY2LWIwMmQtODcyOWVkMGRiNTViIiwic2hvd1Jlc3VsdHMiOnRydWUsInNob3dDb3JyZWN0QW5zd2VycyI6ZmFsc2UsInZvdGluZ0xvY2tlZCI6dHJ1ZX0seyJwb2xsUXVlc3Rpb25VdWlkIjoiMzU3MTRjOTktOGYzOC00NzY2LWIwMmQtODcyOWVkMGRiNTViIiwic2hvd1Jlc3VsdHMiOnRydWUsInNob3dDb3JyZWN0QW5zd2VycyI6dHJ1ZSwidm90aW5nTG9ja2VkIjp0cnVlfV0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1Mzh9"/>
  <p:tag name="SLIDO_TYPE" val="SlidoPoll"/>
  <p:tag name="SLIDO_POLL_UUID" val="e28f1de1-ae1f-48bf-9da4-a20b215801bc"/>
  <p:tag name="SLIDO_POLL_QUESTION_UUID" val="dbff61db-e857-442b-b59c-244c41fe0482"/>
  <p:tag name="SLIDO_TIMELINE" val="W3sicG9sbFF1ZXN0aW9uVXVpZCI6ImRiZmY2MWRiLWU4NTctNDQyYi1iNTljLTI0NGM0MWZlMDQ4MiIsInNob3dSZXN1bHRzIjpmYWxzZSwic2hvd0NvcnJlY3RBbnN3ZXJzIjpmYWxzZSwidm90aW5nTG9ja2VkIjpmYWxzZX0seyJwb2xsUXVlc3Rpb25VdWlkIjoiZGJmZjYxZGItZTg1Ny00NDJiLWI1OWMtMjQ0YzQxZmUwNDgyIiwic2hvd1Jlc3VsdHMiOnRydWUsInNob3dDb3JyZWN0QW5zd2VycyI6ZmFsc2UsInZvdGluZ0xvY2tlZCI6dHJ1ZX0seyJwb2xsUXVlc3Rpb25VdWlkIjoiZGJmZjYxZGItZTg1Ny00NDJiLWI1OWMtMjQ0YzQxZmUwNDgyIiwic2hvd1Jlc3VsdHMiOnRydWUsInNob3dDb3JyZWN0QW5zd2VycyI6dHJ1ZSwidm90aW5nTG9ja2VkIjp0cnVlfV0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1OTd9"/>
  <p:tag name="SLIDO_TYPE" val="SlidoPoll"/>
  <p:tag name="SLIDO_POLL_UUID" val="e28f1de1-ae1f-48bf-9da4-a20b215801bc"/>
  <p:tag name="SLIDO_POLL_QUESTION_UUID" val="23d05a8e-aba2-4f99-83af-6ecf9e655c88"/>
  <p:tag name="SLIDO_TIMELINE" val="W3sicG9sbFF1ZXN0aW9uVXVpZCI6IjIzZDA1YThlLWFiYTItNGY5OS04M2FmLTZlY2Y5ZTY1NWM4OCIsInNob3dSZXN1bHRzIjpmYWxzZSwic2hvd0NvcnJlY3RBbnN3ZXJzIjpmYWxzZSwidm90aW5nTG9ja2VkIjpmYWxzZX0seyJwb2xsUXVlc3Rpb25VdWlkIjoiMjNkMDVhOGUtYWJhMi00Zjk5LTgzYWYtNmVjZjllNjU1Yzg4Iiwic2hvd1Jlc3VsdHMiOnRydWUsInNob3dDb3JyZWN0QW5zd2VycyI6ZmFsc2UsInZvdGluZ0xvY2tlZCI6dHJ1ZX0seyJwb2xsUXVlc3Rpb25VdWlkIjoiMjNkMDVhOGUtYWJhMi00Zjk5LTgzYWYtNmVjZjllNjU1Yzg4Iiwic2hvd1Jlc3VsdHMiOnRydWUsInNob3dDb3JyZWN0QW5zd2VycyI6dHJ1ZSwidm90aW5nTG9ja2VkIjp0cnVlfV0=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3MjZ9"/>
  <p:tag name="SLIDO_TYPE" val="SlidoPoll"/>
  <p:tag name="SLIDO_POLL_UUID" val="e28f1de1-ae1f-48bf-9da4-a20b215801bc"/>
  <p:tag name="SLIDO_POLL_QUESTION_UUID" val="2baf1564-f40f-48d1-a446-d986773c68e7"/>
  <p:tag name="SLIDO_TIMELINE" val="W3sicG9sbFF1ZXN0aW9uVXVpZCI6IjJiYWYxNTY0LWY0MGYtNDhkMS1hNDQ2LWQ5ODY3NzNjNjhlNyIsInNob3dSZXN1bHRzIjpmYWxzZSwic2hvd0NvcnJlY3RBbnN3ZXJzIjpmYWxzZSwidm90aW5nTG9ja2VkIjpmYWxzZX0seyJwb2xsUXVlc3Rpb25VdWlkIjoiMmJhZjE1NjQtZjQwZi00OGQxLWE0NDYtZDk4Njc3M2M2OGU3Iiwic2hvd1Jlc3VsdHMiOnRydWUsInNob3dDb3JyZWN0QW5zd2VycyI6ZmFsc2UsInZvdGluZ0xvY2tlZCI6dHJ1ZX0seyJwb2xsUXVlc3Rpb25VdWlkIjoiMmJhZjE1NjQtZjQwZi00OGQxLWE0NDYtZDk4Njc3M2M2OGU3Iiwic2hvd1Jlc3VsdHMiOnRydWUsInNob3dDb3JyZWN0QW5zd2VycyI6dHJ1ZSwidm90aW5nTG9ja2VkIjp0cnVlfV0=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3NjJ9"/>
  <p:tag name="SLIDO_TYPE" val="SlidoPoll"/>
  <p:tag name="SLIDO_POLL_UUID" val="e28f1de1-ae1f-48bf-9da4-a20b215801bc"/>
  <p:tag name="SLIDO_POLL_QUESTION_UUID" val="4e856754-e833-4812-b384-8ee2ddfc0dfc"/>
  <p:tag name="SLIDO_TIMELINE" val="W3sicG9sbFF1ZXN0aW9uVXVpZCI6IjRlODU2NzU0LWU4MzMtNDgxMi1iMzg0LThlZTJkZGZjMGRmYyIsInNob3dSZXN1bHRzIjpmYWxzZSwic2hvd0NvcnJlY3RBbnN3ZXJzIjpmYWxzZSwidm90aW5nTG9ja2VkIjpmYWxzZX0seyJwb2xsUXVlc3Rpb25VdWlkIjoiNGU4NTY3NTQtZTgzMy00ODEyLWIzODQtOGVlMmRkZmMwZGZjIiwic2hvd1Jlc3VsdHMiOnRydWUsInNob3dDb3JyZWN0QW5zd2VycyI6ZmFsc2UsInZvdGluZ0xvY2tlZCI6dHJ1ZX0seyJwb2xsUXVlc3Rpb25VdWlkIjoiNGU4NTY3NTQtZTgzMy00ODEyLWIzODQtOGVlMmRkZmMwZGZjIiwic2hvd1Jlc3VsdHMiOnRydWUsInNob3dDb3JyZWN0QW5zd2VycyI6dHJ1ZSwidm90aW5nTG9ja2VkIjp0cnVlfSx7InNjcmVlbiI6IlF1aXpMZWFkZXJib2FyZCIsInBvbGxRdWVzdGlvblV1aWQiOiI0ZTg1Njc1NC1lODMzLTQ4MTItYjM4NC04ZWUyZGRmYzBkZmMiLCJzaG93UmVzdWx0cyI6dHJ1ZSwic2hvd0NvcnJlY3RBbnN3ZXJzIjp0cnVlLCJ2b3RpbmdMb2NrZWQiOnRydWV9XQ==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5448</TotalTime>
  <Words>2838</Words>
  <Application>Microsoft Office PowerPoint</Application>
  <PresentationFormat>Widescreen</PresentationFormat>
  <Paragraphs>216</Paragraphs>
  <Slides>46</Slides>
  <Notes>3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2" baseType="lpstr">
      <vt:lpstr>Arial</vt:lpstr>
      <vt:lpstr>Calibri</vt:lpstr>
      <vt:lpstr>Calibri Light</vt:lpstr>
      <vt:lpstr>Cambria Math</vt:lpstr>
      <vt:lpstr>Wingdings</vt:lpstr>
      <vt:lpstr>Office Theme</vt:lpstr>
      <vt:lpstr>A gamified introduction to Python Programming  Lecture 16 Dictionaries and Object-Oriented Thinking</vt:lpstr>
      <vt:lpstr>Outline (Chapter 16)</vt:lpstr>
      <vt:lpstr>The tuple type</vt:lpstr>
      <vt:lpstr>The tuple type</vt:lpstr>
      <vt:lpstr>The dict type</vt:lpstr>
      <vt:lpstr>The dict type</vt:lpstr>
      <vt:lpstr>Adding, updating and removing elements</vt:lpstr>
      <vt:lpstr>Defining dictionaries with zip</vt:lpstr>
      <vt:lpstr>Defining dictionaries with zip</vt:lpstr>
      <vt:lpstr>Keys, values and items in a dict</vt:lpstr>
      <vt:lpstr>Keys, values and items in a dict</vt:lpstr>
      <vt:lpstr>Keys, values and items in a dict</vt:lpstr>
      <vt:lpstr>Keys, values and items in a dict</vt:lpstr>
      <vt:lpstr>The get() method</vt:lpstr>
      <vt:lpstr>A note on keys</vt:lpstr>
      <vt:lpstr>A note on keys</vt:lpstr>
      <vt:lpstr>Matt’s Great advice</vt:lpstr>
      <vt:lpstr>Activity 1 - Find the missing card v2</vt:lpstr>
      <vt:lpstr>Activity 2 - 1337 speak translators v2</vt:lpstr>
      <vt:lpstr>Activity 2 - 1337 speak translators v2</vt:lpstr>
      <vt:lpstr>Matt’s Great advice</vt:lpstr>
      <vt:lpstr>Object oriented programming and thinking</vt:lpstr>
      <vt:lpstr>I believe this Object-Oriented Thinking calls for a demo…</vt:lpstr>
      <vt:lpstr>PowerPoint Presentation</vt:lpstr>
      <vt:lpstr>PowerPoint Presentation</vt:lpstr>
      <vt:lpstr>In the mind of a programmer…</vt:lpstr>
      <vt:lpstr>…Pokemons are programming objects!</vt:lpstr>
      <vt:lpstr>…Pokemons are programming objects!</vt:lpstr>
      <vt:lpstr>PowerPoint Presentation</vt:lpstr>
      <vt:lpstr>Pokemons types tables</vt:lpstr>
      <vt:lpstr>PowerPoint Presentation</vt:lpstr>
      <vt:lpstr>The attack function</vt:lpstr>
      <vt:lpstr>PowerPoint Presentation</vt:lpstr>
      <vt:lpstr>PowerPoint Presentation</vt:lpstr>
      <vt:lpstr>The attack function, at work</vt:lpstr>
      <vt:lpstr>Going deeper</vt:lpstr>
      <vt:lpstr>Activity 3 - Hero stats</vt:lpstr>
      <vt:lpstr>Activity 3 - Hero stats</vt:lpstr>
      <vt:lpstr>Activity 4 - Equipping a weapon</vt:lpstr>
      <vt:lpstr>Activity 4 - Equipping a weapon</vt:lpstr>
      <vt:lpstr>Conclusion (Chapter 16)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ILP 2020 – W1S1 Syllabus, eDimension, and key concepts of programming</dc:title>
  <dc:creator>Matthieu De Mari</dc:creator>
  <cp:lastModifiedBy>Matthieu DE MARI</cp:lastModifiedBy>
  <cp:revision>893</cp:revision>
  <dcterms:created xsi:type="dcterms:W3CDTF">2020-05-19T08:08:47Z</dcterms:created>
  <dcterms:modified xsi:type="dcterms:W3CDTF">2025-09-02T05:42:47Z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e298231-ee28-4c9e-9ffa-238d0040efda_Enabled">
    <vt:lpwstr>true</vt:lpwstr>
  </property>
  <property fmtid="{D5CDD505-2E9C-101B-9397-08002B2CF9AE}" pid="3" name="MSIP_Label_be298231-ee28-4c9e-9ffa-238d0040efda_SetDate">
    <vt:lpwstr>2023-07-25T02:53:58Z</vt:lpwstr>
  </property>
  <property fmtid="{D5CDD505-2E9C-101B-9397-08002B2CF9AE}" pid="4" name="MSIP_Label_be298231-ee28-4c9e-9ffa-238d0040efda_Method">
    <vt:lpwstr>Privileged</vt:lpwstr>
  </property>
  <property fmtid="{D5CDD505-2E9C-101B-9397-08002B2CF9AE}" pid="5" name="MSIP_Label_be298231-ee28-4c9e-9ffa-238d0040efda_Name">
    <vt:lpwstr>Public</vt:lpwstr>
  </property>
  <property fmtid="{D5CDD505-2E9C-101B-9397-08002B2CF9AE}" pid="6" name="MSIP_Label_be298231-ee28-4c9e-9ffa-238d0040efda_SiteId">
    <vt:lpwstr>3476b776-e990-4f72-b950-62489831623d</vt:lpwstr>
  </property>
  <property fmtid="{D5CDD505-2E9C-101B-9397-08002B2CF9AE}" pid="7" name="MSIP_Label_be298231-ee28-4c9e-9ffa-238d0040efda_ActionId">
    <vt:lpwstr>944a4496-645d-497a-a17d-ba24b474705d</vt:lpwstr>
  </property>
  <property fmtid="{D5CDD505-2E9C-101B-9397-08002B2CF9AE}" pid="8" name="MSIP_Label_be298231-ee28-4c9e-9ffa-238d0040efda_ContentBits">
    <vt:lpwstr>0</vt:lpwstr>
  </property>
</Properties>
</file>