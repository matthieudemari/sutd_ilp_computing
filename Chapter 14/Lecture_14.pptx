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388" r:id="rId2"/>
    <p:sldId id="389" r:id="rId3"/>
    <p:sldId id="274" r:id="rId4"/>
    <p:sldId id="289" r:id="rId5"/>
    <p:sldId id="290" r:id="rId6"/>
    <p:sldId id="291" r:id="rId7"/>
    <p:sldId id="275" r:id="rId8"/>
    <p:sldId id="277" r:id="rId9"/>
    <p:sldId id="278" r:id="rId10"/>
    <p:sldId id="279" r:id="rId11"/>
    <p:sldId id="292" r:id="rId12"/>
    <p:sldId id="280" r:id="rId13"/>
    <p:sldId id="312" r:id="rId14"/>
    <p:sldId id="281" r:id="rId15"/>
    <p:sldId id="298" r:id="rId16"/>
    <p:sldId id="299" r:id="rId17"/>
    <p:sldId id="297" r:id="rId18"/>
    <p:sldId id="300" r:id="rId19"/>
    <p:sldId id="301" r:id="rId20"/>
    <p:sldId id="283" r:id="rId21"/>
    <p:sldId id="276" r:id="rId22"/>
    <p:sldId id="398" r:id="rId23"/>
    <p:sldId id="285" r:id="rId24"/>
    <p:sldId id="295" r:id="rId25"/>
    <p:sldId id="287" r:id="rId26"/>
    <p:sldId id="288" r:id="rId27"/>
    <p:sldId id="305" r:id="rId28"/>
    <p:sldId id="306" r:id="rId29"/>
    <p:sldId id="373" r:id="rId30"/>
    <p:sldId id="282" r:id="rId31"/>
    <p:sldId id="284" r:id="rId32"/>
    <p:sldId id="286" r:id="rId33"/>
    <p:sldId id="403" r:id="rId34"/>
    <p:sldId id="390" r:id="rId35"/>
    <p:sldId id="391" r:id="rId36"/>
    <p:sldId id="392" r:id="rId37"/>
    <p:sldId id="393" r:id="rId38"/>
    <p:sldId id="394" r:id="rId39"/>
    <p:sldId id="395" r:id="rId40"/>
    <p:sldId id="396" r:id="rId41"/>
    <p:sldId id="397" r:id="rId42"/>
  </p:sldIdLst>
  <p:sldSz cx="12192000" cy="6858000"/>
  <p:notesSz cx="6858000" cy="9144000"/>
  <p:custDataLst>
    <p:tags r:id="rId44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EAA152C-EACB-4732-A90E-A8B132955F34}">
          <p14:sldIdLst>
            <p14:sldId id="388"/>
            <p14:sldId id="389"/>
          </p14:sldIdLst>
        </p14:section>
        <p14:section name="1. From lists/arrays to strings" id="{5880A78E-1ACD-4BEB-BF13-CA62B5C69D10}">
          <p14:sldIdLst>
            <p14:sldId id="274"/>
            <p14:sldId id="289"/>
            <p14:sldId id="290"/>
            <p14:sldId id="291"/>
          </p14:sldIdLst>
        </p14:section>
        <p14:section name="2. The + and * operators" id="{0F8AA56B-E23E-4C6D-8D3A-B01E41657869}">
          <p14:sldIdLst>
            <p14:sldId id="275"/>
          </p14:sldIdLst>
        </p14:section>
        <p14:section name="3. Calling, indexing, slicing" id="{71D19DE5-BCC3-455D-A8F6-FB2F4E60847F}">
          <p14:sldIdLst>
            <p14:sldId id="277"/>
          </p14:sldIdLst>
        </p14:section>
        <p14:section name="4. Updating and unmutable type" id="{68422A9B-1FB1-4CE3-A5EC-A58C4C825D39}">
          <p14:sldIdLst>
            <p14:sldId id="278"/>
          </p14:sldIdLst>
        </p14:section>
        <p14:section name="5. Replacing a substring in a string" id="{45B3CF79-2035-4E91-ADA4-2C98BAC8DA66}">
          <p14:sldIdLst>
            <p14:sldId id="279"/>
          </p14:sldIdLst>
        </p14:section>
        <p14:section name="6. Traversing a string" id="{F612EDBF-0392-4B7A-8E4F-167953412D2F}">
          <p14:sldIdLst>
            <p14:sldId id="292"/>
            <p14:sldId id="280"/>
            <p14:sldId id="312"/>
          </p14:sldIdLst>
        </p14:section>
        <p14:section name="7. Membership in operator" id="{55FBE1AC-2977-4677-9DD8-DDDA81D06722}">
          <p14:sldIdLst>
            <p14:sldId id="281"/>
          </p14:sldIdLst>
        </p14:section>
        <p14:section name="Activity 1" id="{4820FF76-EB71-4AA9-9E2B-769E20B664DB}">
          <p14:sldIdLst>
            <p14:sldId id="298"/>
          </p14:sldIdLst>
        </p14:section>
        <p14:section name="Activity 2" id="{6C6D0FD6-92A6-447C-9ADC-AC613AC75034}">
          <p14:sldIdLst>
            <p14:sldId id="299"/>
            <p14:sldId id="297"/>
          </p14:sldIdLst>
        </p14:section>
        <p14:section name="Activity 3" id="{8CFA8C32-8958-449D-81D8-D421FF83292F}">
          <p14:sldIdLst>
            <p14:sldId id="300"/>
            <p14:sldId id="301"/>
          </p14:sldIdLst>
        </p14:section>
        <p14:section name="8. Booleans comparisons on strings" id="{808ED6FA-E016-4B09-8A6A-BE54DF4AEB53}">
          <p14:sldIdLst>
            <p14:sldId id="283"/>
          </p14:sldIdLst>
        </p14:section>
        <p14:section name="9. Printing and formatting" id="{55491837-DAA3-4060-B783-36E613A50FC5}">
          <p14:sldIdLst>
            <p14:sldId id="276"/>
            <p14:sldId id="398"/>
          </p14:sldIdLst>
        </p14:section>
        <p14:section name="10. Lists &lt;-&gt; Strings conversions" id="{D01F0F68-EF44-4BD9-9069-475B29514539}">
          <p14:sldIdLst>
            <p14:sldId id="285"/>
            <p14:sldId id="295"/>
          </p14:sldIdLst>
        </p14:section>
        <p14:section name="11. Splitting a string" id="{C7876911-9FBA-4912-80C4-FDB0A3B62AF3}">
          <p14:sldIdLst>
            <p14:sldId id="287"/>
          </p14:sldIdLst>
        </p14:section>
        <p14:section name="12. Characters types checks" id="{098C51F2-A366-418D-809F-A51F3DD7219F}">
          <p14:sldIdLst>
            <p14:sldId id="288"/>
          </p14:sldIdLst>
        </p14:section>
        <p14:section name="Activity 4" id="{0573C188-C64F-4C44-98FE-185F49DE26B0}">
          <p14:sldIdLst>
            <p14:sldId id="305"/>
          </p14:sldIdLst>
        </p14:section>
        <p14:section name="Activity 5" id="{F752E33E-8329-4B62-858E-0E74865A44B7}">
          <p14:sldIdLst>
            <p14:sldId id="306"/>
          </p14:sldIdLst>
        </p14:section>
        <p14:section name="RTFM" id="{82A43DEA-23DC-477F-BB73-5D2B59F7259C}">
          <p14:sldIdLst>
            <p14:sldId id="373"/>
          </p14:sldIdLst>
        </p14:section>
        <p14:section name="More stuff: Find method" id="{3DF2C06A-1FDA-4662-B9CC-9998073EA9EB}">
          <p14:sldIdLst>
            <p14:sldId id="282"/>
          </p14:sldIdLst>
        </p14:section>
        <p14:section name="More stuff: sorting" id="{5F9ED3BF-9AB0-4623-BEF9-FBE49B0A329D}">
          <p14:sldIdLst>
            <p14:sldId id="284"/>
          </p14:sldIdLst>
        </p14:section>
        <p14:section name="More stuff: Stripping a string" id="{6F2FB69C-2622-45BD-B822-F86459646B0B}">
          <p14:sldIdLst>
            <p14:sldId id="286"/>
            <p14:sldId id="403"/>
          </p14:sldIdLst>
        </p14:section>
        <p14:section name="Conclusion" id="{8FC5B4E0-8B82-44CE-8E2E-949C5DB81C7E}">
          <p14:sldIdLst>
            <p14:sldId id="390"/>
          </p14:sldIdLst>
        </p14:section>
        <p14:section name="Quiz" id="{385AB1DC-3EF2-4A10-8127-CC91BB8A441F}">
          <p14:sldIdLst>
            <p14:sldId id="391"/>
            <p14:sldId id="392"/>
            <p14:sldId id="393"/>
            <p14:sldId id="394"/>
            <p14:sldId id="395"/>
            <p14:sldId id="396"/>
            <p14:sldId id="3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3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A4397B6A-3F2B-47E0-95FF-CDAB735BA6EA}"/>
    <pc:docChg chg="mod delSld modSld sldOrd addSection modSection">
      <pc:chgData name="Matthieu De Mari" userId="dfb708c9-d8dc-439f-9a3b-c772bf4a311c" providerId="ADAL" clId="{A4397B6A-3F2B-47E0-95FF-CDAB735BA6EA}" dt="2023-08-10T07:56:41.355" v="56" actId="17846"/>
      <pc:docMkLst>
        <pc:docMk/>
      </pc:docMkLst>
      <pc:sldChg chg="modSp mod">
        <pc:chgData name="Matthieu De Mari" userId="dfb708c9-d8dc-439f-9a3b-c772bf4a311c" providerId="ADAL" clId="{A4397B6A-3F2B-47E0-95FF-CDAB735BA6EA}" dt="2023-07-25T02:51:46.540" v="21" actId="20577"/>
        <pc:sldMkLst>
          <pc:docMk/>
          <pc:sldMk cId="3314370689" sldId="256"/>
        </pc:sldMkLst>
      </pc:sldChg>
      <pc:sldChg chg="modSp mod">
        <pc:chgData name="Matthieu De Mari" userId="dfb708c9-d8dc-439f-9a3b-c772bf4a311c" providerId="ADAL" clId="{A4397B6A-3F2B-47E0-95FF-CDAB735BA6EA}" dt="2023-08-10T07:56:05.762" v="49" actId="20577"/>
        <pc:sldMkLst>
          <pc:docMk/>
          <pc:sldMk cId="2865792470" sldId="257"/>
        </pc:sldMkLst>
      </pc:sldChg>
      <pc:sldChg chg="modSp mod">
        <pc:chgData name="Matthieu De Mari" userId="dfb708c9-d8dc-439f-9a3b-c772bf4a311c" providerId="ADAL" clId="{A4397B6A-3F2B-47E0-95FF-CDAB735BA6EA}" dt="2023-08-10T07:56:10.927" v="53" actId="20577"/>
        <pc:sldMkLst>
          <pc:docMk/>
          <pc:sldMk cId="4036030196" sldId="273"/>
        </pc:sldMkLst>
      </pc:sldChg>
      <pc:sldChg chg="ord">
        <pc:chgData name="Matthieu De Mari" userId="dfb708c9-d8dc-439f-9a3b-c772bf4a311c" providerId="ADAL" clId="{A4397B6A-3F2B-47E0-95FF-CDAB735BA6EA}" dt="2023-08-10T07:55:15.519" v="43"/>
        <pc:sldMkLst>
          <pc:docMk/>
          <pc:sldMk cId="128148701" sldId="288"/>
        </pc:sldMkLst>
      </pc:sldChg>
      <pc:sldChg chg="del">
        <pc:chgData name="Matthieu De Mari" userId="dfb708c9-d8dc-439f-9a3b-c772bf4a311c" providerId="ADAL" clId="{A4397B6A-3F2B-47E0-95FF-CDAB735BA6EA}" dt="2023-08-10T07:54:09.975" v="39" actId="47"/>
        <pc:sldMkLst>
          <pc:docMk/>
          <pc:sldMk cId="590386869" sldId="296"/>
        </pc:sldMkLst>
      </pc:sldChg>
      <pc:sldChg chg="del">
        <pc:chgData name="Matthieu De Mari" userId="dfb708c9-d8dc-439f-9a3b-c772bf4a311c" providerId="ADAL" clId="{A4397B6A-3F2B-47E0-95FF-CDAB735BA6EA}" dt="2023-08-10T07:55:05.752" v="40" actId="47"/>
        <pc:sldMkLst>
          <pc:docMk/>
          <pc:sldMk cId="3320977073" sldId="303"/>
        </pc:sldMkLst>
      </pc:sldChg>
      <pc:sldChg chg="del">
        <pc:chgData name="Matthieu De Mari" userId="dfb708c9-d8dc-439f-9a3b-c772bf4a311c" providerId="ADAL" clId="{A4397B6A-3F2B-47E0-95FF-CDAB735BA6EA}" dt="2023-08-10T07:55:06.596" v="41" actId="47"/>
        <pc:sldMkLst>
          <pc:docMk/>
          <pc:sldMk cId="3734537803" sldId="304"/>
        </pc:sldMkLst>
      </pc:sldChg>
      <pc:sldChg chg="modSp mod">
        <pc:chgData name="Matthieu De Mari" userId="dfb708c9-d8dc-439f-9a3b-c772bf4a311c" providerId="ADAL" clId="{A4397B6A-3F2B-47E0-95FF-CDAB735BA6EA}" dt="2023-07-25T02:51:52.772" v="28" actId="20577"/>
        <pc:sldMkLst>
          <pc:docMk/>
          <pc:sldMk cId="1254648437" sldId="310"/>
        </pc:sldMkLst>
      </pc:sldChg>
    </pc:docChg>
  </pc:docChgLst>
  <pc:docChgLst>
    <pc:chgData name="Matthieu De Mari" userId="dfb708c9-d8dc-439f-9a3b-c772bf4a311c" providerId="ADAL" clId="{3B3519F6-D225-4B52-8EDD-EDC4E77CD653}"/>
    <pc:docChg chg="modSld">
      <pc:chgData name="Matthieu De Mari" userId="dfb708c9-d8dc-439f-9a3b-c772bf4a311c" providerId="ADAL" clId="{3B3519F6-D225-4B52-8EDD-EDC4E77CD653}" dt="2025-04-02T05:17:08.358" v="1" actId="20577"/>
      <pc:docMkLst>
        <pc:docMk/>
      </pc:docMkLst>
      <pc:sldChg chg="modSp mod">
        <pc:chgData name="Matthieu De Mari" userId="dfb708c9-d8dc-439f-9a3b-c772bf4a311c" providerId="ADAL" clId="{3B3519F6-D225-4B52-8EDD-EDC4E77CD653}" dt="2025-04-02T05:17:08.358" v="1" actId="20577"/>
        <pc:sldMkLst>
          <pc:docMk/>
          <pc:sldMk cId="3988044477" sldId="301"/>
        </pc:sldMkLst>
      </pc:sldChg>
    </pc:docChg>
  </pc:docChgLst>
  <pc:docChgLst>
    <pc:chgData name="Matthieu De Mari" userId="dfb708c9-d8dc-439f-9a3b-c772bf4a311c" providerId="ADAL" clId="{81E9B007-0C2C-493E-9B93-55A62C9C1F12}"/>
    <pc:docChg chg="modSld">
      <pc:chgData name="Matthieu De Mari" userId="dfb708c9-d8dc-439f-9a3b-c772bf4a311c" providerId="ADAL" clId="{81E9B007-0C2C-493E-9B93-55A62C9C1F12}" dt="2025-09-02T05:41:29.295" v="5" actId="20577"/>
      <pc:docMkLst>
        <pc:docMk/>
      </pc:docMkLst>
      <pc:sldChg chg="modSp mod">
        <pc:chgData name="Matthieu De Mari" userId="dfb708c9-d8dc-439f-9a3b-c772bf4a311c" providerId="ADAL" clId="{81E9B007-0C2C-493E-9B93-55A62C9C1F12}" dt="2025-09-02T05:40:55.646" v="1" actId="20577"/>
        <pc:sldMkLst>
          <pc:docMk/>
          <pc:sldMk cId="2033612700" sldId="388"/>
        </pc:sldMkLst>
        <pc:spChg chg="mod">
          <ac:chgData name="Matthieu De Mari" userId="dfb708c9-d8dc-439f-9a3b-c772bf4a311c" providerId="ADAL" clId="{81E9B007-0C2C-493E-9B93-55A62C9C1F12}" dt="2025-09-02T05:40:55.646" v="1" actId="20577"/>
          <ac:spMkLst>
            <pc:docMk/>
            <pc:sldMk cId="2033612700" sldId="38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81E9B007-0C2C-493E-9B93-55A62C9C1F12}" dt="2025-09-02T05:40:58.690" v="3" actId="20577"/>
        <pc:sldMkLst>
          <pc:docMk/>
          <pc:sldMk cId="109241041" sldId="389"/>
        </pc:sldMkLst>
        <pc:spChg chg="mod">
          <ac:chgData name="Matthieu De Mari" userId="dfb708c9-d8dc-439f-9a3b-c772bf4a311c" providerId="ADAL" clId="{81E9B007-0C2C-493E-9B93-55A62C9C1F12}" dt="2025-09-02T05:40:58.690" v="3" actId="20577"/>
          <ac:spMkLst>
            <pc:docMk/>
            <pc:sldMk cId="109241041" sldId="38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81E9B007-0C2C-493E-9B93-55A62C9C1F12}" dt="2025-09-02T05:41:29.295" v="5" actId="20577"/>
        <pc:sldMkLst>
          <pc:docMk/>
          <pc:sldMk cId="2573568717" sldId="390"/>
        </pc:sldMkLst>
        <pc:spChg chg="mod">
          <ac:chgData name="Matthieu De Mari" userId="dfb708c9-d8dc-439f-9a3b-c772bf4a311c" providerId="ADAL" clId="{81E9B007-0C2C-493E-9B93-55A62C9C1F12}" dt="2025-09-02T05:41:29.295" v="5" actId="20577"/>
          <ac:spMkLst>
            <pc:docMk/>
            <pc:sldMk cId="2573568717" sldId="390"/>
            <ac:spMk id="2" creationId="{F15BC776-F489-4F89-B9D1-64DFC920472A}"/>
          </ac:spMkLst>
        </pc:spChg>
      </pc:sldChg>
    </pc:docChg>
  </pc:docChgLst>
  <pc:docChgLst>
    <pc:chgData name="Matthieu De Mari" userId="dfb708c9-d8dc-439f-9a3b-c772bf4a311c" providerId="ADAL" clId="{4ACD50A7-3C85-4698-A7BA-AF953286C1AA}"/>
    <pc:docChg chg="addSld delSld modSld modSection">
      <pc:chgData name="Matthieu De Mari" userId="dfb708c9-d8dc-439f-9a3b-c772bf4a311c" providerId="ADAL" clId="{4ACD50A7-3C85-4698-A7BA-AF953286C1AA}" dt="2025-08-08T06:03:51.756" v="12"/>
      <pc:docMkLst>
        <pc:docMk/>
      </pc:docMkLst>
      <pc:sldChg chg="modSp mod">
        <pc:chgData name="Matthieu De Mari" userId="dfb708c9-d8dc-439f-9a3b-c772bf4a311c" providerId="ADAL" clId="{4ACD50A7-3C85-4698-A7BA-AF953286C1AA}" dt="2025-08-08T05:55:11.196" v="0" actId="20577"/>
        <pc:sldMkLst>
          <pc:docMk/>
          <pc:sldMk cId="784377442" sldId="278"/>
        </pc:sldMkLst>
        <pc:spChg chg="mod">
          <ac:chgData name="Matthieu De Mari" userId="dfb708c9-d8dc-439f-9a3b-c772bf4a311c" providerId="ADAL" clId="{4ACD50A7-3C85-4698-A7BA-AF953286C1AA}" dt="2025-08-08T05:55:11.196" v="0" actId="20577"/>
          <ac:spMkLst>
            <pc:docMk/>
            <pc:sldMk cId="784377442" sldId="278"/>
            <ac:spMk id="5" creationId="{B353E355-3256-4B14-AD97-1DE39F0E7F5E}"/>
          </ac:spMkLst>
        </pc:spChg>
      </pc:sldChg>
      <pc:sldChg chg="del">
        <pc:chgData name="Matthieu De Mari" userId="dfb708c9-d8dc-439f-9a3b-c772bf4a311c" providerId="ADAL" clId="{4ACD50A7-3C85-4698-A7BA-AF953286C1AA}" dt="2025-08-08T06:00:17.506" v="2" actId="47"/>
        <pc:sldMkLst>
          <pc:docMk/>
          <pc:sldMk cId="934979236" sldId="294"/>
        </pc:sldMkLst>
      </pc:sldChg>
      <pc:sldChg chg="del">
        <pc:chgData name="Matthieu De Mari" userId="dfb708c9-d8dc-439f-9a3b-c772bf4a311c" providerId="ADAL" clId="{4ACD50A7-3C85-4698-A7BA-AF953286C1AA}" dt="2025-08-08T06:02:25.915" v="8" actId="47"/>
        <pc:sldMkLst>
          <pc:docMk/>
          <pc:sldMk cId="4213318472" sldId="307"/>
        </pc:sldMkLst>
      </pc:sldChg>
      <pc:sldChg chg="del">
        <pc:chgData name="Matthieu De Mari" userId="dfb708c9-d8dc-439f-9a3b-c772bf4a311c" providerId="ADAL" clId="{4ACD50A7-3C85-4698-A7BA-AF953286C1AA}" dt="2025-08-08T06:03:37.119" v="11" actId="47"/>
        <pc:sldMkLst>
          <pc:docMk/>
          <pc:sldMk cId="2356606901" sldId="308"/>
        </pc:sldMkLst>
      </pc:sldChg>
      <pc:sldChg chg="modSp add">
        <pc:chgData name="Matthieu De Mari" userId="dfb708c9-d8dc-439f-9a3b-c772bf4a311c" providerId="ADAL" clId="{4ACD50A7-3C85-4698-A7BA-AF953286C1AA}" dt="2025-08-08T06:02:47.281" v="9"/>
        <pc:sldMkLst>
          <pc:docMk/>
          <pc:sldMk cId="3106836720" sldId="373"/>
        </pc:sldMkLst>
        <pc:spChg chg="mod">
          <ac:chgData name="Matthieu De Mari" userId="dfb708c9-d8dc-439f-9a3b-c772bf4a311c" providerId="ADAL" clId="{4ACD50A7-3C85-4698-A7BA-AF953286C1AA}" dt="2025-08-08T06:02:47.281" v="9"/>
          <ac:spMkLst>
            <pc:docMk/>
            <pc:sldMk cId="3106836720" sldId="373"/>
            <ac:spMk id="3" creationId="{3B1BF05F-D80D-4CCB-B20B-F196217D97C7}"/>
          </ac:spMkLst>
        </pc:spChg>
        <pc:spChg chg="mod">
          <ac:chgData name="Matthieu De Mari" userId="dfb708c9-d8dc-439f-9a3b-c772bf4a311c" providerId="ADAL" clId="{4ACD50A7-3C85-4698-A7BA-AF953286C1AA}" dt="2025-08-08T06:02:23.807" v="7"/>
          <ac:spMkLst>
            <pc:docMk/>
            <pc:sldMk cId="3106836720" sldId="373"/>
            <ac:spMk id="5" creationId="{A39C0BE5-A386-4D5D-8588-F18EC6CE8147}"/>
          </ac:spMkLst>
        </pc:spChg>
      </pc:sldChg>
      <pc:sldChg chg="add">
        <pc:chgData name="Matthieu De Mari" userId="dfb708c9-d8dc-439f-9a3b-c772bf4a311c" providerId="ADAL" clId="{4ACD50A7-3C85-4698-A7BA-AF953286C1AA}" dt="2025-08-08T06:00:16.024" v="1"/>
        <pc:sldMkLst>
          <pc:docMk/>
          <pc:sldMk cId="2337186379" sldId="398"/>
        </pc:sldMkLst>
      </pc:sldChg>
      <pc:sldChg chg="add del">
        <pc:chgData name="Matthieu De Mari" userId="dfb708c9-d8dc-439f-9a3b-c772bf4a311c" providerId="ADAL" clId="{4ACD50A7-3C85-4698-A7BA-AF953286C1AA}" dt="2025-08-08T06:00:45.184" v="4" actId="47"/>
        <pc:sldMkLst>
          <pc:docMk/>
          <pc:sldMk cId="204859204" sldId="399"/>
        </pc:sldMkLst>
      </pc:sldChg>
      <pc:sldChg chg="add del">
        <pc:chgData name="Matthieu De Mari" userId="dfb708c9-d8dc-439f-9a3b-c772bf4a311c" providerId="ADAL" clId="{4ACD50A7-3C85-4698-A7BA-AF953286C1AA}" dt="2025-08-08T06:00:45.902" v="5" actId="47"/>
        <pc:sldMkLst>
          <pc:docMk/>
          <pc:sldMk cId="842984560" sldId="400"/>
        </pc:sldMkLst>
      </pc:sldChg>
      <pc:sldChg chg="modSp add">
        <pc:chgData name="Matthieu De Mari" userId="dfb708c9-d8dc-439f-9a3b-c772bf4a311c" providerId="ADAL" clId="{4ACD50A7-3C85-4698-A7BA-AF953286C1AA}" dt="2025-08-08T06:03:51.756" v="12"/>
        <pc:sldMkLst>
          <pc:docMk/>
          <pc:sldMk cId="4091158685" sldId="403"/>
        </pc:sldMkLst>
        <pc:spChg chg="mod">
          <ac:chgData name="Matthieu De Mari" userId="dfb708c9-d8dc-439f-9a3b-c772bf4a311c" providerId="ADAL" clId="{4ACD50A7-3C85-4698-A7BA-AF953286C1AA}" dt="2025-08-08T06:03:51.756" v="12"/>
          <ac:spMkLst>
            <pc:docMk/>
            <pc:sldMk cId="4091158685" sldId="403"/>
            <ac:spMk id="5" creationId="{A39C0BE5-A386-4D5D-8588-F18EC6CE8147}"/>
          </ac:spMkLst>
        </pc:spChg>
      </pc:sldChg>
    </pc:docChg>
  </pc:docChgLst>
  <pc:docChgLst>
    <pc:chgData name="Matthieu De Mari" userId="dfb708c9-d8dc-439f-9a3b-c772bf4a311c" providerId="ADAL" clId="{A5EFEB17-98B3-453E-B418-547BB12FC737}"/>
    <pc:docChg chg="modSld">
      <pc:chgData name="Matthieu De Mari" userId="dfb708c9-d8dc-439f-9a3b-c772bf4a311c" providerId="ADAL" clId="{A5EFEB17-98B3-453E-B418-547BB12FC737}" dt="2025-08-29T07:41:53.968" v="5" actId="20577"/>
      <pc:docMkLst>
        <pc:docMk/>
      </pc:docMkLst>
      <pc:sldChg chg="modSp mod">
        <pc:chgData name="Matthieu De Mari" userId="dfb708c9-d8dc-439f-9a3b-c772bf4a311c" providerId="ADAL" clId="{A5EFEB17-98B3-453E-B418-547BB12FC737}" dt="2025-08-29T07:41:43.999" v="1" actId="20577"/>
        <pc:sldMkLst>
          <pc:docMk/>
          <pc:sldMk cId="2033612700" sldId="388"/>
        </pc:sldMkLst>
        <pc:spChg chg="mod">
          <ac:chgData name="Matthieu De Mari" userId="dfb708c9-d8dc-439f-9a3b-c772bf4a311c" providerId="ADAL" clId="{A5EFEB17-98B3-453E-B418-547BB12FC737}" dt="2025-08-29T07:41:43.999" v="1" actId="20577"/>
          <ac:spMkLst>
            <pc:docMk/>
            <pc:sldMk cId="2033612700" sldId="388"/>
            <ac:spMk id="2" creationId="{D1A4800C-4604-46C3-8534-E496416410D8}"/>
          </ac:spMkLst>
        </pc:spChg>
      </pc:sldChg>
      <pc:sldChg chg="modSp mod">
        <pc:chgData name="Matthieu De Mari" userId="dfb708c9-d8dc-439f-9a3b-c772bf4a311c" providerId="ADAL" clId="{A5EFEB17-98B3-453E-B418-547BB12FC737}" dt="2025-08-29T07:41:47.118" v="3" actId="20577"/>
        <pc:sldMkLst>
          <pc:docMk/>
          <pc:sldMk cId="109241041" sldId="389"/>
        </pc:sldMkLst>
        <pc:spChg chg="mod">
          <ac:chgData name="Matthieu De Mari" userId="dfb708c9-d8dc-439f-9a3b-c772bf4a311c" providerId="ADAL" clId="{A5EFEB17-98B3-453E-B418-547BB12FC737}" dt="2025-08-29T07:41:47.118" v="3" actId="20577"/>
          <ac:spMkLst>
            <pc:docMk/>
            <pc:sldMk cId="109241041" sldId="389"/>
            <ac:spMk id="2" creationId="{F15BC776-F489-4F89-B9D1-64DFC920472A}"/>
          </ac:spMkLst>
        </pc:spChg>
      </pc:sldChg>
      <pc:sldChg chg="modSp mod">
        <pc:chgData name="Matthieu De Mari" userId="dfb708c9-d8dc-439f-9a3b-c772bf4a311c" providerId="ADAL" clId="{A5EFEB17-98B3-453E-B418-547BB12FC737}" dt="2025-08-29T07:41:53.968" v="5" actId="20577"/>
        <pc:sldMkLst>
          <pc:docMk/>
          <pc:sldMk cId="2573568717" sldId="390"/>
        </pc:sldMkLst>
        <pc:spChg chg="mod">
          <ac:chgData name="Matthieu De Mari" userId="dfb708c9-d8dc-439f-9a3b-c772bf4a311c" providerId="ADAL" clId="{A5EFEB17-98B3-453E-B418-547BB12FC737}" dt="2025-08-29T07:41:53.968" v="5" actId="20577"/>
          <ac:spMkLst>
            <pc:docMk/>
            <pc:sldMk cId="2573568717" sldId="390"/>
            <ac:spMk id="2" creationId="{F15BC776-F489-4F89-B9D1-64DFC92047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2C633-D211-40C3-887C-3CBAB2660441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E642-F25B-493E-A2A1-636081A89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EC17A-674A-4C3F-BC30-BFBA08ABE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5FC8E-927A-465A-BBB8-B7B92B3C9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EB0EA-53CB-4CDA-B75C-3E2C0A58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DCCC-6D71-4A4E-AEEE-0B2218F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5B211-9797-446B-9E37-7716E2D7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6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8D279-2F57-4FAF-AB35-92712863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AB7B-BDD2-44C6-A0D1-49B27527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F15B-13DA-414B-AA9E-312EFCEC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40AAF-93D5-4761-BABD-CA5844B6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5DF0-2325-4507-A975-10BD0ADE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40304-AE73-4302-87CC-24B0F632C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6D78E-EC4B-4813-8A1F-F2E52F34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A979-9BB4-4289-9DB5-99722695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D1C4A-4B37-4BBF-8D8D-70C15BEC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8B3E8-97FD-4D5A-9E7F-094803E1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2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79A6-32DF-4326-9558-98EBAD6F1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0E257-587A-4977-8F41-AC11FABE0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FC17D-7B18-4463-8AD1-02096A762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1CB84B-1E02-4B58-B40A-9406EB7A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8E644-3B10-48AC-B26F-53BB6C5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4137B-E451-4550-AC5E-FDD5EF4A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55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4C46-E763-4454-A55C-4D073D79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18599-2549-42D4-AE6A-3AE6303DD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F7BEA-1052-47EE-8737-373B5B8A0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484B2-0AA6-4BCD-A9C2-F9C52D16B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28E02-2399-4E06-958B-7F589C232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2E8A1-B60E-4D34-8808-9610FA62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9BA7C6-C3AF-4002-9A64-8ECB2CF9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D379B-4439-4262-993D-E8601E57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A69B-B8CF-4606-A5D7-3544652F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260713-AF76-4836-9359-28352216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6BFC-C6C6-4391-96C0-036E3423C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E3CDA8-423E-4EBF-B090-31D689A9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8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4F8BF8-883B-45CC-977C-3F5DE7B26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6F30B-59C0-47FD-961E-56540650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EFC5-04B3-470E-A42E-0A939BE5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EC26F-BC54-47EA-8422-7DDFC0F1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9CE83-1B05-4B29-8D3C-E6D85F87F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88935-BCA0-4009-B1D3-1BA39A4F30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9C54D-351E-4CB1-A9A9-1F8DA530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79FC4-2B2A-4D94-8376-6C57104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330FF-9589-4440-AE48-2C69F5A4B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5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373B-C9EC-4F6B-A67F-B51B0122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BBD4C5-42CF-4F3B-BB31-69B2FEE04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BE619-7DBC-4F48-8E20-C4870284D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4D82F-3C69-4C72-AC90-41D10B95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9B8B-B801-4287-A83C-8B7FBF03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7A3F8-BBC8-4F62-A0AD-2511EE0A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5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71A0-F864-4A74-B2F3-7FBE7720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48ACD-F019-4406-9C30-2C5A7701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A5E0-D375-4F3F-9AD5-1441B5995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C4CD-9620-4676-9662-44883209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3F1F2-AFC7-4EBE-B003-21CEE11A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44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A82569-1D65-4E5C-BD57-29B9DC19CE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6F27E-5FB9-4CAB-8A03-0B351C448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FFC07-50E2-48CF-8AA1-5F9484122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5BAE-CED5-43DE-82FA-5CA17A01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DCF8A-5E6C-4D03-9E8B-B531C59FD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8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1D2B0-631C-48D1-9B72-3E71AD362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3816A-C1DA-4952-B535-751DF2311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DAE84-914B-4B93-B507-4EDA527FA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35705-BBCA-4556-ACDF-9B1720022F62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D92ED-88E0-4D42-8630-3B50EDC3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3A48-E58F-431C-822F-92332160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868E6-E8D9-4E5C-8D88-3A8E4B062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3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docs.python.org/3/library/string.html#formatstrings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s://docs.python.org/2/library/string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hyperlink" Target="https://docs.python.org/2/library/string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4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33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32.png"/><Relationship Id="rId5" Type="http://schemas.openxmlformats.org/officeDocument/2006/relationships/tags" Target="../tags/tag6.xml"/><Relationship Id="rId10" Type="http://schemas.openxmlformats.org/officeDocument/2006/relationships/image" Target="../media/image31.svg"/><Relationship Id="rId4" Type="http://schemas.openxmlformats.org/officeDocument/2006/relationships/tags" Target="../tags/tag5.xml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4.png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image" Target="../media/image33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32.png"/><Relationship Id="rId5" Type="http://schemas.openxmlformats.org/officeDocument/2006/relationships/tags" Target="../tags/tag13.xml"/><Relationship Id="rId10" Type="http://schemas.openxmlformats.org/officeDocument/2006/relationships/image" Target="../media/image31.svg"/><Relationship Id="rId4" Type="http://schemas.openxmlformats.org/officeDocument/2006/relationships/tags" Target="../tags/tag12.xml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4.png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12" Type="http://schemas.openxmlformats.org/officeDocument/2006/relationships/image" Target="../media/image33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32.png"/><Relationship Id="rId5" Type="http://schemas.openxmlformats.org/officeDocument/2006/relationships/tags" Target="../tags/tag20.xml"/><Relationship Id="rId10" Type="http://schemas.openxmlformats.org/officeDocument/2006/relationships/image" Target="../media/image31.svg"/><Relationship Id="rId4" Type="http://schemas.openxmlformats.org/officeDocument/2006/relationships/tags" Target="../tags/tag19.xml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4.png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image" Target="../media/image33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2.png"/><Relationship Id="rId5" Type="http://schemas.openxmlformats.org/officeDocument/2006/relationships/tags" Target="../tags/tag27.xml"/><Relationship Id="rId10" Type="http://schemas.openxmlformats.org/officeDocument/2006/relationships/image" Target="../media/image31.svg"/><Relationship Id="rId4" Type="http://schemas.openxmlformats.org/officeDocument/2006/relationships/tags" Target="../tags/tag26.xml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34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33.sv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32.png"/><Relationship Id="rId5" Type="http://schemas.openxmlformats.org/officeDocument/2006/relationships/tags" Target="../tags/tag34.xml"/><Relationship Id="rId10" Type="http://schemas.openxmlformats.org/officeDocument/2006/relationships/image" Target="../media/image31.svg"/><Relationship Id="rId4" Type="http://schemas.openxmlformats.org/officeDocument/2006/relationships/tags" Target="../tags/tag33.xml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800C-4604-46C3-8534-E49641641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6310"/>
            <a:ext cx="12192000" cy="3897006"/>
          </a:xfrm>
        </p:spPr>
        <p:txBody>
          <a:bodyPr>
            <a:normAutofit fontScale="90000"/>
          </a:bodyPr>
          <a:lstStyle/>
          <a:p>
            <a:r>
              <a:rPr lang="en-US" dirty="0"/>
              <a:t>A gamified introduction to</a:t>
            </a:r>
            <a:br>
              <a:rPr lang="en-US" dirty="0"/>
            </a:br>
            <a:r>
              <a:rPr lang="en-US" dirty="0"/>
              <a:t>Python Programming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Lecture 14</a:t>
            </a:r>
            <a:br>
              <a:rPr lang="en-US" dirty="0"/>
            </a:br>
            <a:r>
              <a:rPr lang="en-US" dirty="0"/>
              <a:t>Everything about strings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5E95-F1FD-4A67-A3DE-8055EE3B6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13316"/>
            <a:ext cx="9144000" cy="1655762"/>
          </a:xfrm>
        </p:spPr>
        <p:txBody>
          <a:bodyPr/>
          <a:lstStyle/>
          <a:p>
            <a:r>
              <a:rPr lang="en-US" dirty="0"/>
              <a:t>Matthieu DE MARI – Singapore University of Technology and Design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9755DB92-2D71-489C-96BD-2993BB4CC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995521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Outline (Chapter 14)</a:t>
            </a:r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string</a:t>
            </a:r>
            <a:r>
              <a:rPr lang="en-US" dirty="0"/>
              <a:t>? How are they related to </a:t>
            </a:r>
            <a:r>
              <a:rPr lang="en-US" b="1" dirty="0"/>
              <a:t>lists</a:t>
            </a:r>
            <a:r>
              <a:rPr lang="en-US" dirty="0"/>
              <a:t>? </a:t>
            </a:r>
            <a:endParaRPr lang="en-US" b="1" dirty="0"/>
          </a:p>
          <a:p>
            <a:r>
              <a:rPr lang="en-US" dirty="0"/>
              <a:t>How to </a:t>
            </a:r>
            <a:r>
              <a:rPr lang="en-US" b="1" dirty="0"/>
              <a:t>index</a:t>
            </a:r>
            <a:r>
              <a:rPr lang="en-US" dirty="0"/>
              <a:t>, </a:t>
            </a:r>
            <a:r>
              <a:rPr lang="en-US" b="1" dirty="0"/>
              <a:t>slice</a:t>
            </a:r>
            <a:r>
              <a:rPr lang="en-US" dirty="0"/>
              <a:t> and </a:t>
            </a:r>
            <a:r>
              <a:rPr lang="en-US" b="1" dirty="0"/>
              <a:t>traverse</a:t>
            </a:r>
            <a:r>
              <a:rPr lang="en-US" dirty="0"/>
              <a:t> a string?</a:t>
            </a:r>
          </a:p>
          <a:p>
            <a:r>
              <a:rPr lang="en-US" dirty="0"/>
              <a:t>What is the </a:t>
            </a:r>
            <a:r>
              <a:rPr lang="en-US" b="1" dirty="0"/>
              <a:t>immutability</a:t>
            </a:r>
            <a:r>
              <a:rPr lang="en-US" dirty="0"/>
              <a:t> </a:t>
            </a:r>
            <a:r>
              <a:rPr lang="en-US" b="1" dirty="0"/>
              <a:t>property</a:t>
            </a:r>
            <a:r>
              <a:rPr lang="en-US" dirty="0"/>
              <a:t> of strings?</a:t>
            </a:r>
          </a:p>
          <a:p>
            <a:r>
              <a:rPr lang="en-US" dirty="0"/>
              <a:t>What are common </a:t>
            </a:r>
            <a:r>
              <a:rPr lang="en-US" b="1" dirty="0" err="1"/>
              <a:t>booleans</a:t>
            </a:r>
            <a:r>
              <a:rPr lang="en-US" b="1" dirty="0"/>
              <a:t> on strings</a:t>
            </a:r>
            <a:r>
              <a:rPr lang="en-US" dirty="0"/>
              <a:t>?</a:t>
            </a:r>
          </a:p>
          <a:p>
            <a:r>
              <a:rPr lang="en-US" dirty="0"/>
              <a:t>A complete description of </a:t>
            </a:r>
            <a:r>
              <a:rPr lang="en-US" b="1" dirty="0"/>
              <a:t>printing</a:t>
            </a:r>
            <a:r>
              <a:rPr lang="en-US" dirty="0"/>
              <a:t> and </a:t>
            </a:r>
            <a:r>
              <a:rPr lang="en-US" b="1" dirty="0"/>
              <a:t>formatting</a:t>
            </a:r>
            <a:r>
              <a:rPr lang="en-US" dirty="0"/>
              <a:t> with strings.</a:t>
            </a:r>
            <a:endParaRPr lang="en-US" b="1" dirty="0"/>
          </a:p>
          <a:p>
            <a:r>
              <a:rPr lang="en-US" dirty="0"/>
              <a:t>How ton </a:t>
            </a:r>
            <a:r>
              <a:rPr lang="en-US" b="1" dirty="0"/>
              <a:t>convert strings </a:t>
            </a:r>
            <a:r>
              <a:rPr lang="en-US" b="1" dirty="0">
                <a:sym typeface="Wingdings" panose="05000000000000000000" pitchFamily="2" charset="2"/>
              </a:rPr>
              <a:t>to </a:t>
            </a:r>
            <a:r>
              <a:rPr lang="en-US" b="1" dirty="0"/>
              <a:t>lists </a:t>
            </a:r>
            <a:r>
              <a:rPr lang="en-US" dirty="0"/>
              <a:t>and vice-versa?</a:t>
            </a:r>
          </a:p>
          <a:p>
            <a:r>
              <a:rPr lang="en-US" dirty="0"/>
              <a:t>What are </a:t>
            </a:r>
            <a:r>
              <a:rPr lang="en-US" b="1" dirty="0"/>
              <a:t>more advanced operations </a:t>
            </a:r>
            <a:r>
              <a:rPr lang="en-US" dirty="0"/>
              <a:t>on strings, such as splitting, stripping, character checking, sorting, etc.? (RTFM!)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542EF-8253-499D-B47B-A82B926FF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lists to strings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40136-4803-4F6C-AC62-0AE2ED02F9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Important note: </a:t>
            </a:r>
            <a:r>
              <a:rPr lang="en-US" dirty="0"/>
              <a:t>Lists and strings behave in a very similar way.</a:t>
            </a:r>
          </a:p>
          <a:p>
            <a:r>
              <a:rPr lang="en-US" b="1" dirty="0"/>
              <a:t>Lists: </a:t>
            </a:r>
            <a:r>
              <a:rPr lang="en-US" dirty="0"/>
              <a:t>multiple </a:t>
            </a:r>
            <a:r>
              <a:rPr lang="en-US" b="1" dirty="0"/>
              <a:t>elements</a:t>
            </a:r>
            <a:r>
              <a:rPr lang="en-US" dirty="0"/>
              <a:t> between </a:t>
            </a:r>
            <a:r>
              <a:rPr lang="en-US" b="1" dirty="0"/>
              <a:t>square</a:t>
            </a:r>
            <a:r>
              <a:rPr lang="en-US" dirty="0"/>
              <a:t> </a:t>
            </a:r>
            <a:r>
              <a:rPr lang="en-US" b="1" dirty="0"/>
              <a:t>brackets</a:t>
            </a:r>
            <a:r>
              <a:rPr lang="en-US" dirty="0"/>
              <a:t>, separated by commas</a:t>
            </a:r>
          </a:p>
          <a:p>
            <a:r>
              <a:rPr lang="en-US" b="1" dirty="0"/>
              <a:t>Strings: </a:t>
            </a:r>
            <a:r>
              <a:rPr lang="en-US" dirty="0"/>
              <a:t>multiple </a:t>
            </a:r>
            <a:r>
              <a:rPr lang="en-US" b="1" dirty="0"/>
              <a:t>characters</a:t>
            </a:r>
            <a:r>
              <a:rPr lang="en-US" dirty="0"/>
              <a:t> </a:t>
            </a:r>
            <a:r>
              <a:rPr lang="en-GB" dirty="0"/>
              <a:t>between </a:t>
            </a:r>
            <a:r>
              <a:rPr lang="en-GB" b="1" dirty="0"/>
              <a:t>single</a:t>
            </a:r>
            <a:r>
              <a:rPr lang="en-GB" dirty="0"/>
              <a:t> or </a:t>
            </a:r>
            <a:r>
              <a:rPr lang="en-GB" b="1" dirty="0"/>
              <a:t>double</a:t>
            </a:r>
            <a:r>
              <a:rPr lang="en-GB" dirty="0"/>
              <a:t> </a:t>
            </a:r>
            <a:r>
              <a:rPr lang="en-GB" b="1" dirty="0"/>
              <a:t>quotes</a:t>
            </a:r>
            <a:r>
              <a:rPr lang="en-GB" dirty="0"/>
              <a:t> </a:t>
            </a:r>
            <a:r>
              <a:rPr lang="en-GB" b="1" dirty="0"/>
              <a:t>(</a:t>
            </a:r>
            <a:r>
              <a:rPr lang="en-GB" b="1" dirty="0">
                <a:solidFill>
                  <a:srgbClr val="00B050"/>
                </a:solidFill>
              </a:rPr>
              <a:t>‘</a:t>
            </a:r>
            <a:r>
              <a:rPr lang="en-GB" b="1" dirty="0"/>
              <a:t>, </a:t>
            </a:r>
            <a:r>
              <a:rPr lang="en-GB" b="1" dirty="0">
                <a:solidFill>
                  <a:srgbClr val="00B050"/>
                </a:solidFill>
              </a:rPr>
              <a:t>“</a:t>
            </a:r>
            <a:r>
              <a:rPr lang="en-GB" b="1" dirty="0"/>
              <a:t>)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without any separators.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A3CCA-4C94-41A0-9B5C-5848AC948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652477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Strings are </a:t>
            </a:r>
            <a:r>
              <a:rPr lang="en-GB" b="1" dirty="0"/>
              <a:t>roughly the same thing as a list of single characters</a:t>
            </a:r>
            <a:r>
              <a:rPr lang="en-GB" dirty="0"/>
              <a:t>.</a:t>
            </a:r>
          </a:p>
          <a:p>
            <a:pPr marL="0" indent="0" algn="ctr">
              <a:buNone/>
            </a:pPr>
            <a:r>
              <a:rPr lang="en-GB" i="1" dirty="0"/>
              <a:t>string = “Hello”</a:t>
            </a:r>
          </a:p>
          <a:p>
            <a:pPr marL="0" indent="0" algn="ctr">
              <a:buNone/>
            </a:pPr>
            <a:r>
              <a:rPr lang="en-GB" i="1" dirty="0" err="1"/>
              <a:t>equivalent_list</a:t>
            </a:r>
            <a:r>
              <a:rPr lang="en-GB" i="1" dirty="0"/>
              <a:t> = [“H”, “e”, “l”, “l”, “o”]</a:t>
            </a:r>
          </a:p>
          <a:p>
            <a:endParaRPr lang="en-GB" b="1" dirty="0"/>
          </a:p>
          <a:p>
            <a:pPr marL="0" indent="0">
              <a:buNone/>
            </a:pPr>
            <a:r>
              <a:rPr lang="en-GB" b="1" dirty="0"/>
              <a:t>Great news: </a:t>
            </a:r>
            <a:r>
              <a:rPr lang="en-GB" dirty="0"/>
              <a:t>This means that most functions, methods and operators working on lists and seen earlier will work on strings as well!</a:t>
            </a:r>
          </a:p>
          <a:p>
            <a:pPr marL="0" indent="0">
              <a:buNone/>
            </a:pPr>
            <a:r>
              <a:rPr lang="en-GB" i="1" dirty="0"/>
              <a:t>(Except for one minor difference, to be discussed later…)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0586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56CA-2656-4518-A00A-87C75BAC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of a string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B535F-6744-41E9-ADDD-31F4893D7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length</a:t>
            </a:r>
            <a:r>
              <a:rPr lang="en-US" b="1" dirty="0"/>
              <a:t> of a string):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length</a:t>
            </a:r>
            <a:r>
              <a:rPr lang="en-US" b="1" dirty="0"/>
              <a:t> of a string </a:t>
            </a:r>
            <a:r>
              <a:rPr lang="en-US" dirty="0"/>
              <a:t>is simply defined as the number of characters in the string.</a:t>
            </a:r>
          </a:p>
          <a:p>
            <a:r>
              <a:rPr lang="en-US" dirty="0"/>
              <a:t>This would be the same as the length of the equivalent list containing all single characters.</a:t>
            </a:r>
          </a:p>
          <a:p>
            <a:r>
              <a:rPr lang="en-US" dirty="0"/>
              <a:t>This is obtained, as before via the </a:t>
            </a:r>
            <a:r>
              <a:rPr lang="en-US" b="1" dirty="0" err="1">
                <a:solidFill>
                  <a:srgbClr val="00B050"/>
                </a:solidFill>
              </a:rPr>
              <a:t>len</a:t>
            </a:r>
            <a:r>
              <a:rPr lang="en-US" b="1" dirty="0"/>
              <a:t>() </a:t>
            </a:r>
            <a:r>
              <a:rPr lang="en-US" dirty="0"/>
              <a:t>function.</a:t>
            </a:r>
          </a:p>
          <a:p>
            <a:r>
              <a:rPr lang="en-US" b="1" dirty="0"/>
              <a:t>Spaces and special characters count as characters!</a:t>
            </a:r>
            <a:endParaRPr lang="en-GB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732B2-5C64-468A-BFE2-06B5FB0D0A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26667" r="31602" b="60205"/>
          <a:stretch/>
        </p:blipFill>
        <p:spPr>
          <a:xfrm>
            <a:off x="6172201" y="2563446"/>
            <a:ext cx="5734045" cy="20163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D1B74E-803A-14F0-DF80-02E39B4DE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5123296"/>
            <a:ext cx="565864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90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F985-4F47-4BAE-B3A9-4699D82D4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triple quotes and string formatting (</a:t>
            </a:r>
            <a:r>
              <a:rPr lang="en-US" b="1" dirty="0">
                <a:solidFill>
                  <a:srgbClr val="00B050"/>
                </a:solidFill>
              </a:rPr>
              <a:t>\</a:t>
            </a:r>
            <a:r>
              <a:rPr lang="en-US" dirty="0"/>
              <a:t>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34062-AF1B-473C-AC09-9559B7114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85206" cy="4872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Problem: </a:t>
                </a:r>
                <a:r>
                  <a:rPr lang="en-US" dirty="0"/>
                  <a:t>Need to use the single or double quote symbol in your strings?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Replace the single or double quotes at the beginning and end of the string </a:t>
                </a:r>
                <a:r>
                  <a:rPr lang="en-US" b="1" dirty="0"/>
                  <a:t>with three of these symbols (</a:t>
                </a:r>
                <a:r>
                  <a:rPr lang="en-US" b="1" dirty="0">
                    <a:solidFill>
                      <a:srgbClr val="00B050"/>
                    </a:solidFill>
                  </a:rPr>
                  <a:t>“””</a:t>
                </a:r>
                <a:r>
                  <a:rPr lang="en-US" b="1" dirty="0"/>
                  <a:t> or </a:t>
                </a:r>
                <a:r>
                  <a:rPr lang="en-US" b="1" dirty="0">
                    <a:solidFill>
                      <a:srgbClr val="00B050"/>
                    </a:solidFill>
                  </a:rPr>
                  <a:t>‘’’</a:t>
                </a:r>
                <a:r>
                  <a:rPr lang="en-US" b="1" dirty="0"/>
                  <a:t>)</a:t>
                </a:r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Use a </a:t>
                </a:r>
                <a:r>
                  <a:rPr lang="en-US" b="1" dirty="0"/>
                  <a:t>backslash symbol </a:t>
                </a:r>
                <a:r>
                  <a:rPr lang="en-US" dirty="0"/>
                  <a:t>(</a:t>
                </a:r>
                <a:r>
                  <a:rPr lang="en-US" b="1" dirty="0">
                    <a:solidFill>
                      <a:srgbClr val="00B050"/>
                    </a:solidFill>
                  </a:rPr>
                  <a:t>\</a:t>
                </a:r>
                <a:r>
                  <a:rPr lang="en-US" dirty="0"/>
                  <a:t>) before a single or double quote in a string. This is called an </a:t>
                </a:r>
                <a:r>
                  <a:rPr lang="en-US" b="1" dirty="0">
                    <a:solidFill>
                      <a:srgbClr val="7030A0"/>
                    </a:solidFill>
                  </a:rPr>
                  <a:t>escape symbol </a:t>
                </a:r>
                <a:r>
                  <a:rPr lang="en-US" dirty="0"/>
                  <a:t>and is used in programming to indicate the character should be used “as a character”, without the special meaning it might have in the programming language.</a:t>
                </a:r>
              </a:p>
              <a:p>
                <a:pPr marL="0" indent="0">
                  <a:buNone/>
                </a:pPr>
                <a:r>
                  <a:rPr lang="en-US" dirty="0"/>
                  <a:t>You can also use some string formatting, such as:</a:t>
                </a:r>
              </a:p>
              <a:p>
                <a:r>
                  <a:rPr lang="en-US" b="1" dirty="0">
                    <a:solidFill>
                      <a:srgbClr val="00B050"/>
                    </a:solidFill>
                  </a:rPr>
                  <a:t>\n </a:t>
                </a:r>
                <a:r>
                  <a:rPr lang="en-US" dirty="0"/>
                  <a:t>to start a </a:t>
                </a:r>
                <a:r>
                  <a:rPr lang="en-US" b="1" dirty="0"/>
                  <a:t>new line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pressing the Enter key),</a:t>
                </a:r>
              </a:p>
              <a:p>
                <a:r>
                  <a:rPr lang="en-US" dirty="0"/>
                  <a:t>and </a:t>
                </a:r>
                <a:r>
                  <a:rPr lang="en-US" b="1" dirty="0">
                    <a:solidFill>
                      <a:srgbClr val="00B050"/>
                    </a:solidFill>
                  </a:rPr>
                  <a:t>\t </a:t>
                </a:r>
                <a:r>
                  <a:rPr lang="en-US" dirty="0"/>
                  <a:t>for </a:t>
                </a:r>
                <a:r>
                  <a:rPr lang="en-US" b="1" dirty="0"/>
                  <a:t>tabulating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/>
                  <a:t> pressing the Tab key)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34062-AF1B-473C-AC09-9559B7114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85206" cy="4872160"/>
              </a:xfrm>
              <a:blipFill>
                <a:blip r:embed="rId2"/>
                <a:stretch>
                  <a:fillRect l="-1199" t="-2000" r="-148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926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C4E0-7317-47A1-AEDD-A614CE37C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triple quotes and string formatting (</a:t>
            </a:r>
            <a:r>
              <a:rPr lang="en-US" b="1" dirty="0">
                <a:solidFill>
                  <a:srgbClr val="00B050"/>
                </a:solidFill>
              </a:rPr>
              <a:t>\</a:t>
            </a:r>
            <a:r>
              <a:rPr lang="en-US" dirty="0"/>
              <a:t>)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AF6EB-DBAB-4A0C-AF64-E553154B6B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30976" r="17820" b="32307"/>
          <a:stretch/>
        </p:blipFill>
        <p:spPr>
          <a:xfrm>
            <a:off x="468923" y="1559979"/>
            <a:ext cx="11504245" cy="520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1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5132842-46F7-4A3B-9FAE-C6E3E590B39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00B050"/>
                    </a:solidFill>
                  </a:rPr>
                  <a:t>+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operators on strings</a:t>
                </a:r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5132842-46F7-4A3B-9FAE-C6E3E590B3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D8D9403-E58D-4F44-8E54-F6B61C34A48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As we have seen, the strings behave as lists.</a:t>
                </a:r>
              </a:p>
              <a:p>
                <a:r>
                  <a:rPr lang="en-US" dirty="0"/>
                  <a:t>For this reason, the </a:t>
                </a:r>
                <a:r>
                  <a:rPr lang="en-US" b="1" dirty="0">
                    <a:solidFill>
                      <a:srgbClr val="00B050"/>
                    </a:solidFill>
                  </a:rPr>
                  <a:t>+</a:t>
                </a:r>
                <a:r>
                  <a:rPr lang="en-US" dirty="0"/>
                  <a:t> operator will </a:t>
                </a:r>
                <a:r>
                  <a:rPr lang="en-US" b="1" dirty="0"/>
                  <a:t>concatenate</a:t>
                </a:r>
                <a:r>
                  <a:rPr lang="en-US" dirty="0"/>
                  <a:t> </a:t>
                </a:r>
                <a:r>
                  <a:rPr lang="en-US" b="1" dirty="0"/>
                  <a:t>two</a:t>
                </a:r>
                <a:r>
                  <a:rPr lang="en-US" dirty="0"/>
                  <a:t> </a:t>
                </a:r>
                <a:r>
                  <a:rPr lang="en-US" b="1" dirty="0"/>
                  <a:t>strings,</a:t>
                </a:r>
              </a:p>
              <a:p>
                <a:r>
                  <a:rPr lang="en-US" dirty="0"/>
                  <a:t>And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operator will </a:t>
                </a:r>
                <a:r>
                  <a:rPr lang="en-US" b="1" dirty="0"/>
                  <a:t>repeat</a:t>
                </a:r>
                <a:r>
                  <a:rPr lang="en-US" dirty="0"/>
                  <a:t> </a:t>
                </a:r>
                <a:r>
                  <a:rPr lang="en-US" b="1" dirty="0"/>
                  <a:t>and</a:t>
                </a:r>
                <a:r>
                  <a:rPr lang="en-US" dirty="0"/>
                  <a:t> </a:t>
                </a:r>
                <a:r>
                  <a:rPr lang="en-US" b="1" dirty="0"/>
                  <a:t>concatenate</a:t>
                </a:r>
                <a:r>
                  <a:rPr lang="en-US" dirty="0"/>
                  <a:t> a string </a:t>
                </a:r>
                <a:r>
                  <a:rPr lang="en-US" b="1" dirty="0"/>
                  <a:t>n</a:t>
                </a:r>
                <a:r>
                  <a:rPr lang="en-US" dirty="0"/>
                  <a:t> </a:t>
                </a:r>
                <a:r>
                  <a:rPr lang="en-US" b="1" dirty="0"/>
                  <a:t>times</a:t>
                </a:r>
                <a:r>
                  <a:rPr lang="en-US" dirty="0"/>
                  <a:t>, assuming </a:t>
                </a:r>
                <a:r>
                  <a:rPr lang="en-US" b="1" dirty="0"/>
                  <a:t>n</a:t>
                </a:r>
                <a:r>
                  <a:rPr lang="en-US" dirty="0"/>
                  <a:t> is an </a:t>
                </a:r>
                <a:r>
                  <a:rPr lang="en-US" b="1" dirty="0"/>
                  <a:t>integer</a:t>
                </a:r>
                <a:r>
                  <a:rPr lang="en-US" dirty="0"/>
                  <a:t> </a:t>
                </a:r>
                <a:r>
                  <a:rPr lang="en-US" b="1" dirty="0"/>
                  <a:t>positive</a:t>
                </a:r>
                <a:r>
                  <a:rPr lang="en-US" dirty="0"/>
                  <a:t> </a:t>
                </a:r>
                <a:r>
                  <a:rPr lang="en-US" b="1" dirty="0"/>
                  <a:t>value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D8D9403-E58D-4F44-8E54-F6B61C34A4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3A74323-C237-4F15-BCE8-CB38734ADF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795" t="36307" r="29936" b="30872"/>
          <a:stretch/>
        </p:blipFill>
        <p:spPr>
          <a:xfrm>
            <a:off x="6096000" y="1926205"/>
            <a:ext cx="5931877" cy="458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6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1BEB7C-D252-4CC5-9D04-4C1549F6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and slicing a string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4BA289-8C5D-487C-8EC3-99ED72416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 with lists, you can</a:t>
            </a:r>
          </a:p>
          <a:p>
            <a:r>
              <a:rPr lang="en-US" b="1" dirty="0"/>
              <a:t>index</a:t>
            </a:r>
            <a:r>
              <a:rPr lang="en-US" dirty="0"/>
              <a:t> a string, by using the bracket notation </a:t>
            </a:r>
            <a:r>
              <a:rPr lang="en-US" b="1" dirty="0">
                <a:solidFill>
                  <a:srgbClr val="00B050"/>
                </a:solidFill>
              </a:rPr>
              <a:t>[]</a:t>
            </a:r>
            <a:r>
              <a:rPr lang="en-US" dirty="0"/>
              <a:t> on a list.</a:t>
            </a:r>
            <a:br>
              <a:rPr lang="en-US" dirty="0"/>
            </a:br>
            <a:r>
              <a:rPr lang="en-US" dirty="0"/>
              <a:t>It returns the </a:t>
            </a:r>
            <a:r>
              <a:rPr lang="en-US" b="1" dirty="0"/>
              <a:t>character</a:t>
            </a:r>
            <a:r>
              <a:rPr lang="en-US" dirty="0"/>
              <a:t> at the index position.</a:t>
            </a:r>
          </a:p>
          <a:p>
            <a:r>
              <a:rPr lang="en-US" b="1" dirty="0"/>
              <a:t>slice</a:t>
            </a:r>
            <a:r>
              <a:rPr lang="en-US" dirty="0"/>
              <a:t> a string, by using the bracket notation </a:t>
            </a:r>
            <a:r>
              <a:rPr lang="en-US" b="1" dirty="0">
                <a:solidFill>
                  <a:srgbClr val="00B050"/>
                </a:solidFill>
              </a:rPr>
              <a:t>[]</a:t>
            </a:r>
            <a:r>
              <a:rPr lang="en-US" dirty="0"/>
              <a:t> on a list.</a:t>
            </a:r>
            <a:br>
              <a:rPr lang="en-US" dirty="0"/>
            </a:br>
            <a:r>
              <a:rPr lang="en-US" dirty="0"/>
              <a:t>It returns the </a:t>
            </a:r>
            <a:r>
              <a:rPr lang="en-US" b="1" dirty="0"/>
              <a:t>substring</a:t>
            </a:r>
            <a:r>
              <a:rPr lang="en-US" dirty="0"/>
              <a:t> with specified indexes.</a:t>
            </a:r>
          </a:p>
          <a:p>
            <a:pPr marL="0" indent="0">
              <a:buNone/>
            </a:pPr>
            <a:r>
              <a:rPr lang="en-US" dirty="0"/>
              <a:t>As before, it helps to visualize the string as a list of characters.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CB9BF1-E6A8-4422-B2F9-945C688CAD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85" t="58461" r="77692" b="14667"/>
          <a:stretch/>
        </p:blipFill>
        <p:spPr>
          <a:xfrm>
            <a:off x="6510214" y="1825625"/>
            <a:ext cx="5142257" cy="36216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DDB35B-9EC7-8965-61C0-40900A440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2" y="5743418"/>
            <a:ext cx="565864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2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1FE8FA-C110-4373-8CFC-CB2F97D5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Immutable types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53E355-3256-4B14-AD97-1DE39F0E7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(The</a:t>
            </a:r>
            <a:r>
              <a:rPr lang="en-US" b="1" dirty="0">
                <a:solidFill>
                  <a:srgbClr val="00B050"/>
                </a:solidFill>
              </a:rPr>
              <a:t> immutability</a:t>
            </a:r>
            <a:r>
              <a:rPr lang="en-US" b="1" dirty="0"/>
              <a:t> property of strings):</a:t>
            </a:r>
          </a:p>
          <a:p>
            <a:pPr marL="0" indent="0">
              <a:buNone/>
            </a:pPr>
            <a:r>
              <a:rPr lang="en-US" dirty="0"/>
              <a:t>A major difference between lists and strings, however, is that strings are an </a:t>
            </a:r>
            <a:r>
              <a:rPr lang="en-US" b="1" dirty="0">
                <a:solidFill>
                  <a:srgbClr val="00B050"/>
                </a:solidFill>
              </a:rPr>
              <a:t>immutable</a:t>
            </a:r>
            <a:r>
              <a:rPr lang="en-US" dirty="0"/>
              <a:t> type.</a:t>
            </a:r>
          </a:p>
          <a:p>
            <a:r>
              <a:rPr lang="en-US" b="1" dirty="0">
                <a:solidFill>
                  <a:srgbClr val="00B050"/>
                </a:solidFill>
              </a:rPr>
              <a:t>Immutable</a:t>
            </a:r>
            <a:r>
              <a:rPr lang="en-US" dirty="0"/>
              <a:t> means that you can not modify some or parts of its elements/characters, by using the bracket notation, as you would with lists.</a:t>
            </a:r>
          </a:p>
          <a:p>
            <a:r>
              <a:rPr lang="en-US" dirty="0"/>
              <a:t>Operation </a:t>
            </a:r>
            <a:r>
              <a:rPr lang="en-US" b="1" dirty="0"/>
              <a:t>s[</a:t>
            </a:r>
            <a:r>
              <a:rPr lang="en-US" b="1" dirty="0" err="1"/>
              <a:t>i</a:t>
            </a:r>
            <a:r>
              <a:rPr lang="en-US" b="1" dirty="0"/>
              <a:t>] = “c” </a:t>
            </a:r>
            <a:r>
              <a:rPr lang="en-US" dirty="0"/>
              <a:t>is not valid!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433DE0-428E-4517-BA9B-3F294901A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85" t="20924" r="74093" b="18358"/>
          <a:stretch/>
        </p:blipFill>
        <p:spPr>
          <a:xfrm>
            <a:off x="6533663" y="38820"/>
            <a:ext cx="5572369" cy="681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77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A5D2-5500-4102-89B2-8BEA31B7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Replacing parts of a string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7B79C7-3C52-48D3-B005-973D0E4A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Instead, the strings come with a </a:t>
            </a:r>
            <a:r>
              <a:rPr lang="en-US" b="1" dirty="0"/>
              <a:t>replace() </a:t>
            </a:r>
            <a:r>
              <a:rPr lang="en-US" dirty="0"/>
              <a:t>method.</a:t>
            </a:r>
          </a:p>
          <a:p>
            <a:r>
              <a:rPr lang="en-US" dirty="0"/>
              <a:t>Its two parameter are </a:t>
            </a:r>
            <a:r>
              <a:rPr lang="en-US" b="1" dirty="0"/>
              <a:t>strings</a:t>
            </a:r>
            <a:r>
              <a:rPr lang="en-US" dirty="0"/>
              <a:t> </a:t>
            </a:r>
            <a:r>
              <a:rPr lang="en-US" b="1" dirty="0"/>
              <a:t>s1</a:t>
            </a:r>
            <a:r>
              <a:rPr lang="en-US" dirty="0"/>
              <a:t> and </a:t>
            </a:r>
            <a:r>
              <a:rPr lang="en-US" b="1" dirty="0"/>
              <a:t>s2</a:t>
            </a:r>
            <a:r>
              <a:rPr lang="en-US" dirty="0"/>
              <a:t> and the method is applied on a </a:t>
            </a:r>
            <a:r>
              <a:rPr lang="en-US" b="1" dirty="0"/>
              <a:t>third</a:t>
            </a:r>
            <a:r>
              <a:rPr lang="en-US" dirty="0"/>
              <a:t> </a:t>
            </a:r>
            <a:r>
              <a:rPr lang="en-US" b="1" dirty="0"/>
              <a:t>string</a:t>
            </a:r>
            <a:r>
              <a:rPr lang="en-US" dirty="0"/>
              <a:t> </a:t>
            </a:r>
            <a:r>
              <a:rPr lang="en-US" b="1" dirty="0"/>
              <a:t>s3</a:t>
            </a:r>
            <a:r>
              <a:rPr lang="en-US" dirty="0"/>
              <a:t>.</a:t>
            </a:r>
          </a:p>
          <a:p>
            <a:r>
              <a:rPr lang="en-US" dirty="0"/>
              <a:t>We </a:t>
            </a:r>
            <a:r>
              <a:rPr lang="en-US" b="1" u="sng" dirty="0"/>
              <a:t>need to catch the output</a:t>
            </a:r>
            <a:r>
              <a:rPr lang="en-US" dirty="0"/>
              <a:t>, which is a new string, consisting of the </a:t>
            </a:r>
            <a:r>
              <a:rPr lang="en-US" b="1" dirty="0"/>
              <a:t>third string s3</a:t>
            </a:r>
            <a:r>
              <a:rPr lang="en-US" dirty="0"/>
              <a:t>, where the substring </a:t>
            </a:r>
            <a:r>
              <a:rPr lang="en-US" b="1" dirty="0"/>
              <a:t>s1</a:t>
            </a:r>
            <a:r>
              <a:rPr lang="en-US" dirty="0"/>
              <a:t> has been replaced with </a:t>
            </a:r>
            <a:r>
              <a:rPr lang="en-US" b="1" dirty="0"/>
              <a:t>s2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replace() </a:t>
            </a:r>
            <a:r>
              <a:rPr lang="en-US" dirty="0"/>
              <a:t>method replaces </a:t>
            </a:r>
            <a:r>
              <a:rPr lang="en-US" b="1" dirty="0"/>
              <a:t>all</a:t>
            </a:r>
            <a:r>
              <a:rPr lang="en-US" dirty="0"/>
              <a:t> </a:t>
            </a:r>
            <a:r>
              <a:rPr lang="en-US" b="1" dirty="0"/>
              <a:t>occurrences</a:t>
            </a:r>
            <a:r>
              <a:rPr lang="en-US" dirty="0"/>
              <a:t> of </a:t>
            </a:r>
            <a:r>
              <a:rPr lang="en-US" b="1" dirty="0"/>
              <a:t>s1</a:t>
            </a:r>
            <a:r>
              <a:rPr lang="en-US" dirty="0"/>
              <a:t> in </a:t>
            </a:r>
            <a:r>
              <a:rPr lang="en-US" b="1" dirty="0"/>
              <a:t>s3</a:t>
            </a:r>
            <a:r>
              <a:rPr lang="en-US" dirty="0"/>
              <a:t> with </a:t>
            </a:r>
            <a:r>
              <a:rPr lang="en-US" b="1" dirty="0"/>
              <a:t>s2</a:t>
            </a:r>
            <a:r>
              <a:rPr lang="en-US" dirty="0"/>
              <a:t>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9838D8-203C-4852-9A23-34683712EF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86" t="60408" r="26454" b="27592"/>
          <a:stretch/>
        </p:blipFill>
        <p:spPr>
          <a:xfrm>
            <a:off x="2491052" y="5062926"/>
            <a:ext cx="7209895" cy="161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0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11614-C138-42E8-BD51-CB6C5404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 string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D9AA-90F1-42BB-A9F3-BED5D0368A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Because strings are roughly the same things as lists, they can be traversed using a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loop,</a:t>
            </a:r>
          </a:p>
          <a:p>
            <a:r>
              <a:rPr lang="en-US" dirty="0"/>
              <a:t>Element-wise,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FBBB68-ED9F-48C3-B89B-93669AC44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56" t="34939" r="32882" b="27102"/>
          <a:stretch/>
        </p:blipFill>
        <p:spPr>
          <a:xfrm>
            <a:off x="6484776" y="365125"/>
            <a:ext cx="5374433" cy="60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52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11614-C138-42E8-BD51-CB6C5404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 string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D9AA-90F1-42BB-A9F3-BED5D0368A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Because strings are roughly the same things as lists, they can be traversed using a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loop,</a:t>
            </a:r>
          </a:p>
          <a:p>
            <a:r>
              <a:rPr lang="en-US" dirty="0"/>
              <a:t>Element-wise,</a:t>
            </a:r>
          </a:p>
          <a:p>
            <a:r>
              <a:rPr lang="en-US" dirty="0"/>
              <a:t>Index-wise,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100338-D9BD-4DB9-9AEE-2983224D1D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09" t="41306" r="30434" b="21224"/>
          <a:stretch/>
        </p:blipFill>
        <p:spPr>
          <a:xfrm>
            <a:off x="6506547" y="1579800"/>
            <a:ext cx="5047861" cy="459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131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911614-C138-42E8-BD51-CB6C5404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 string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7D9AA-90F1-42BB-A9F3-BED5D0368A7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Because strings are roughly the same things as lists, they can be traversed using a </a:t>
            </a:r>
            <a:r>
              <a:rPr lang="en-US" b="1" dirty="0">
                <a:solidFill>
                  <a:srgbClr val="00B050"/>
                </a:solidFill>
              </a:rPr>
              <a:t>for</a:t>
            </a:r>
            <a:r>
              <a:rPr lang="en-US" dirty="0"/>
              <a:t> loop,</a:t>
            </a:r>
          </a:p>
          <a:p>
            <a:r>
              <a:rPr lang="en-US" dirty="0"/>
              <a:t>Element-wise,</a:t>
            </a:r>
          </a:p>
          <a:p>
            <a:r>
              <a:rPr lang="en-US" dirty="0"/>
              <a:t>Index-wise,</a:t>
            </a:r>
          </a:p>
          <a:p>
            <a:r>
              <a:rPr lang="en-US" dirty="0"/>
              <a:t>Index- and element-wise</a:t>
            </a:r>
            <a:br>
              <a:rPr lang="en-US" dirty="0"/>
            </a:br>
            <a:r>
              <a:rPr lang="en-US" dirty="0"/>
              <a:t>with </a:t>
            </a:r>
            <a:r>
              <a:rPr lang="en-US" b="1" dirty="0">
                <a:solidFill>
                  <a:srgbClr val="00B050"/>
                </a:solidFill>
              </a:rPr>
              <a:t>enumerate</a:t>
            </a:r>
            <a:r>
              <a:rPr lang="en-US" dirty="0"/>
              <a:t>.</a:t>
            </a:r>
          </a:p>
          <a:p>
            <a:r>
              <a:rPr lang="en-US" dirty="0"/>
              <a:t>(Everything else, such as </a:t>
            </a:r>
            <a:r>
              <a:rPr lang="en-US" b="1" dirty="0">
                <a:solidFill>
                  <a:srgbClr val="00B050"/>
                </a:solidFill>
              </a:rPr>
              <a:t>zip</a:t>
            </a:r>
            <a:r>
              <a:rPr lang="en-US" dirty="0"/>
              <a:t>, nested loops, etc. also works!)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FD0FBE-74D7-4430-8B5C-70211DC1B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30564" r="27051" b="32923"/>
          <a:stretch/>
        </p:blipFill>
        <p:spPr>
          <a:xfrm>
            <a:off x="6170688" y="1690689"/>
            <a:ext cx="5838410" cy="412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12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BC1548-A041-47C4-AA89-A8278DD4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in</a:t>
            </a:r>
            <a:r>
              <a:rPr lang="en-US" dirty="0"/>
              <a:t> keyword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7AFA81-1270-45FB-916F-531AED9B7D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Membership operator in strings: </a:t>
            </a:r>
            <a:r>
              <a:rPr lang="en-US" dirty="0"/>
              <a:t>As with lists, the </a:t>
            </a:r>
            <a:r>
              <a:rPr lang="en-US" b="1" dirty="0">
                <a:solidFill>
                  <a:srgbClr val="00B050"/>
                </a:solidFill>
              </a:rPr>
              <a:t>in</a:t>
            </a:r>
            <a:r>
              <a:rPr lang="en-US" dirty="0"/>
              <a:t> keyword can be used to check if a character or a substring appears in a string.</a:t>
            </a:r>
          </a:p>
          <a:p>
            <a:r>
              <a:rPr lang="en-US" dirty="0"/>
              <a:t>It returns a Boolean set to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or </a:t>
            </a:r>
            <a:r>
              <a:rPr lang="en-US" b="1" dirty="0">
                <a:solidFill>
                  <a:srgbClr val="00B050"/>
                </a:solidFill>
              </a:rPr>
              <a:t>False</a:t>
            </a:r>
            <a:r>
              <a:rPr lang="en-US" dirty="0"/>
              <a:t> accordingly.</a:t>
            </a:r>
          </a:p>
          <a:p>
            <a:r>
              <a:rPr lang="en-US" dirty="0"/>
              <a:t>Also works to check if a substring (not just a single character) appears.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0AF256-3C5D-46D3-89F6-D40AD765E3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59" t="35692" r="32885" b="37436"/>
          <a:stretch/>
        </p:blipFill>
        <p:spPr>
          <a:xfrm>
            <a:off x="6258110" y="1227015"/>
            <a:ext cx="5773403" cy="472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74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0FCB-2D58-4D14-BC5C-DC98A93C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 – Is it a palindrome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99F1-FA9F-49FF-8E57-510EC46B70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palindrome</a:t>
            </a:r>
            <a:r>
              <a:rPr lang="en-US" dirty="0"/>
              <a:t> is a word, number, phrase, or other sequence of characters which reads the same backward as forward, such as madam, racecar, etc.</a:t>
            </a:r>
          </a:p>
          <a:p>
            <a:r>
              <a:rPr lang="en-US" dirty="0"/>
              <a:t>There are also numeric palindromes, including date/time stamps using short digits 11/11/11 11:11 and long digits 02/02/2020.</a:t>
            </a:r>
          </a:p>
          <a:p>
            <a:r>
              <a:rPr lang="en-US" dirty="0"/>
              <a:t>Sentence-length palindromes may be written when allowances are made for adjustments to capital letters, punctuation, and word dividers, such as "A man, a plan, a canal, Panama!".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FC530-9A28-4B16-B5AC-1AD6E50DBE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Write a function </a:t>
            </a:r>
            <a:r>
              <a:rPr lang="en-US" b="1" dirty="0" err="1"/>
              <a:t>is_palindrome</a:t>
            </a:r>
            <a:r>
              <a:rPr lang="en-US" b="1" dirty="0"/>
              <a:t>()</a:t>
            </a:r>
            <a:r>
              <a:rPr lang="en-US" dirty="0"/>
              <a:t>, which receives a </a:t>
            </a:r>
            <a:r>
              <a:rPr lang="en-US" b="1" dirty="0"/>
              <a:t>single word</a:t>
            </a:r>
            <a:r>
              <a:rPr lang="en-US" dirty="0"/>
              <a:t>, in a string variable </a:t>
            </a:r>
            <a:r>
              <a:rPr lang="en-US" b="1" dirty="0"/>
              <a:t>word</a:t>
            </a:r>
            <a:r>
              <a:rPr lang="en-US" dirty="0"/>
              <a:t> as its sole input parameter.</a:t>
            </a:r>
          </a:p>
          <a:p>
            <a:r>
              <a:rPr lang="en-US" dirty="0"/>
              <a:t>It should return </a:t>
            </a:r>
            <a:r>
              <a:rPr lang="en-US" b="1" dirty="0"/>
              <a:t>True</a:t>
            </a:r>
            <a:r>
              <a:rPr lang="en-US" dirty="0"/>
              <a:t> if the string in question is a </a:t>
            </a:r>
            <a:r>
              <a:rPr lang="en-US" b="1" dirty="0"/>
              <a:t>palindrome</a:t>
            </a:r>
            <a:r>
              <a:rPr lang="en-US" dirty="0"/>
              <a:t>.</a:t>
            </a:r>
          </a:p>
          <a:p>
            <a:r>
              <a:rPr lang="en-US" dirty="0"/>
              <a:t>And </a:t>
            </a:r>
            <a:r>
              <a:rPr lang="en-US" b="1" dirty="0"/>
              <a:t>False</a:t>
            </a:r>
            <a:r>
              <a:rPr lang="en-US" dirty="0"/>
              <a:t> </a:t>
            </a:r>
            <a:r>
              <a:rPr lang="en-US" b="1" dirty="0"/>
              <a:t>otherwise</a:t>
            </a:r>
            <a:r>
              <a:rPr lang="en-US" dirty="0"/>
              <a:t>.</a:t>
            </a:r>
            <a:endParaRPr lang="en-GB" dirty="0"/>
          </a:p>
        </p:txBody>
      </p: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0C5EFC7-0615-4060-8398-CB1572946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177" y="4182475"/>
            <a:ext cx="4595623" cy="25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19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0FCB-2D58-4D14-BC5C-DC98A93C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– 1337 speak translators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99F1-FA9F-49FF-8E57-510EC46B7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Leet</a:t>
            </a:r>
            <a:r>
              <a:rPr lang="en-US" dirty="0"/>
              <a:t> (or "1337") is a system of modified spellings used primarily on the Internet. It often uses character replacements in ways that play on the similarity of their glyphs via reflection or other resemblance.</a:t>
            </a:r>
          </a:p>
          <a:p>
            <a:pPr marL="0" indent="0">
              <a:buNone/>
            </a:pPr>
            <a:r>
              <a:rPr lang="en-US" dirty="0" err="1"/>
              <a:t>Leet</a:t>
            </a:r>
            <a:r>
              <a:rPr lang="en-US" dirty="0"/>
              <a:t> speak replaces the letters I with 1, the letters Z with 2, the letters E with 3, the letters A with 4, the letters S with 5, the letters T with 7, the letters B with 8, the letters O with 0.</a:t>
            </a:r>
          </a:p>
          <a:p>
            <a:pPr marL="0" indent="0">
              <a:buNone/>
            </a:pPr>
            <a:r>
              <a:rPr lang="en-US" dirty="0"/>
              <a:t>For instance, the English sentence "HELLO THERE, HOW ARE YOU?" will write in </a:t>
            </a:r>
            <a:r>
              <a:rPr lang="en-US" dirty="0" err="1"/>
              <a:t>leet</a:t>
            </a:r>
            <a:r>
              <a:rPr lang="en-US" dirty="0"/>
              <a:t> speak as "H3LL0 7H3R3, H0W 4R3 Y0U?".</a:t>
            </a:r>
            <a:endParaRPr lang="en-GB" dirty="0"/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856BC34E-8340-4A08-BA81-2482BB2A2C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31" b="29801"/>
          <a:stretch/>
        </p:blipFill>
        <p:spPr>
          <a:xfrm>
            <a:off x="7066691" y="2088354"/>
            <a:ext cx="4594368" cy="398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00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0FCB-2D58-4D14-BC5C-DC98A93C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– 1337 speak translators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99F1-FA9F-49FF-8E57-510EC46B7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err="1"/>
              <a:t>Leet</a:t>
            </a:r>
            <a:r>
              <a:rPr lang="en-US" dirty="0"/>
              <a:t> (or "1337") is a system of modified spellings used primarily on the Internet. It often uses character replacements in ways that play on the similarity of their glyphs via reflection or other resemblance.</a:t>
            </a:r>
          </a:p>
          <a:p>
            <a:pPr marL="0" indent="0">
              <a:buNone/>
            </a:pPr>
            <a:r>
              <a:rPr lang="en-US" dirty="0" err="1"/>
              <a:t>Leet</a:t>
            </a:r>
            <a:r>
              <a:rPr lang="en-US" dirty="0"/>
              <a:t> speak replaces the letters I with 1, the letters Z with 2, the letters E with 3, the letters A with 4, the letters S with 5, the letters T with 7, the letters B with 8, the letters O with 0.</a:t>
            </a:r>
          </a:p>
          <a:p>
            <a:pPr marL="0" indent="0">
              <a:buNone/>
            </a:pPr>
            <a:r>
              <a:rPr lang="en-US" dirty="0"/>
              <a:t>For instance, the English sentence "HELLO THERE, HOW ARE YOU?" will write in </a:t>
            </a:r>
            <a:r>
              <a:rPr lang="en-US" dirty="0" err="1"/>
              <a:t>leet</a:t>
            </a:r>
            <a:r>
              <a:rPr lang="en-US" dirty="0"/>
              <a:t> speak as "H3LL0 7H3R3, H0W 4R3 Y0U?".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FC530-9A28-4B16-B5AC-1AD6E50DBE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a function </a:t>
            </a:r>
            <a:r>
              <a:rPr lang="en-US" b="1" dirty="0" err="1"/>
              <a:t>eng_to_leet</a:t>
            </a:r>
            <a:r>
              <a:rPr lang="en-US" b="1" dirty="0"/>
              <a:t>().</a:t>
            </a:r>
          </a:p>
          <a:p>
            <a:r>
              <a:rPr lang="en-US" dirty="0"/>
              <a:t>It receives a single parameter, </a:t>
            </a:r>
            <a:r>
              <a:rPr lang="en-US" b="1" dirty="0" err="1"/>
              <a:t>eng_str</a:t>
            </a:r>
            <a:r>
              <a:rPr lang="en-US" dirty="0"/>
              <a:t>, which corresponds to a sentence in English, written in capital letters.</a:t>
            </a:r>
          </a:p>
          <a:p>
            <a:r>
              <a:rPr lang="en-US" dirty="0"/>
              <a:t>It returns the equivalent sentence in </a:t>
            </a:r>
            <a:r>
              <a:rPr lang="en-US" dirty="0" err="1"/>
              <a:t>leet</a:t>
            </a:r>
            <a:r>
              <a:rPr lang="en-US" dirty="0"/>
              <a:t> speak.</a:t>
            </a:r>
          </a:p>
          <a:p>
            <a:r>
              <a:rPr lang="en-US" dirty="0"/>
              <a:t>Do so by modifying the letters with numbers, by following the rules we defined earlier.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6640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0FCB-2D58-4D14-BC5C-DC98A93CF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 – Hangman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799F1-FA9F-49FF-8E57-510EC46B7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hangman is a game where one player thinks of a word, phrase or sentence and the other(s) tries to guess it by suggesting letters within a certain number of guesses.</a:t>
            </a:r>
            <a:endParaRPr lang="en-GB" dirty="0"/>
          </a:p>
        </p:txBody>
      </p:sp>
      <p:pic>
        <p:nvPicPr>
          <p:cNvPr id="7" name="Picture 6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C9C73626-B06A-4261-ACDE-78A0FE047A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731" y="926774"/>
            <a:ext cx="3953069" cy="527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0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F8640-86E3-40E4-B648-B879A087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 – Hangman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51E5-63D8-4BE7-9CB1-C0B9F551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Write a function </a:t>
            </a:r>
            <a:r>
              <a:rPr lang="en-US" sz="1800" b="1" dirty="0"/>
              <a:t>hangman()</a:t>
            </a:r>
            <a:r>
              <a:rPr lang="en-US" sz="1800" dirty="0"/>
              <a:t>, which receives four arguments:</a:t>
            </a:r>
          </a:p>
          <a:p>
            <a:r>
              <a:rPr lang="en-US" sz="1800" dirty="0" err="1"/>
              <a:t>hidden_word</a:t>
            </a:r>
            <a:r>
              <a:rPr lang="en-US" sz="1800" dirty="0"/>
              <a:t>: a hidden word that the player must guess. Normally, this word would be hidden from the player, but we will show it for now, as a way to check our function hangman() works as intended.</a:t>
            </a:r>
          </a:p>
          <a:p>
            <a:r>
              <a:rPr lang="en-US" sz="1800" dirty="0" err="1"/>
              <a:t>proposed_letter</a:t>
            </a:r>
            <a:r>
              <a:rPr lang="en-US" sz="1800" dirty="0"/>
              <a:t>: a single letter string, corresponding to a letter, which the player just proposed.</a:t>
            </a:r>
          </a:p>
          <a:p>
            <a:r>
              <a:rPr lang="en-US" sz="1800" dirty="0" err="1"/>
              <a:t>letters_list</a:t>
            </a:r>
            <a:r>
              <a:rPr lang="en-US" sz="1800" dirty="0"/>
              <a:t>: a list of letters, containing the previous propositions made by the user.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12F417-E2DA-40DD-9EBE-FA4786F53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This function returns three arguments:</a:t>
            </a:r>
          </a:p>
          <a:p>
            <a:r>
              <a:rPr lang="en-US" sz="1800" dirty="0" err="1"/>
              <a:t>revealed_word</a:t>
            </a:r>
            <a:r>
              <a:rPr lang="en-US" sz="1800" dirty="0"/>
              <a:t>: The revealed word consists of the </a:t>
            </a:r>
            <a:r>
              <a:rPr lang="en-US" sz="1800" dirty="0" err="1"/>
              <a:t>hidden_word</a:t>
            </a:r>
            <a:r>
              <a:rPr lang="en-US" sz="1800" dirty="0"/>
              <a:t>, where the letters in the parameters </a:t>
            </a:r>
            <a:r>
              <a:rPr lang="en-US" sz="1800" dirty="0" err="1"/>
              <a:t>proposed_letter</a:t>
            </a:r>
            <a:r>
              <a:rPr lang="en-US" sz="1800" dirty="0"/>
              <a:t> and </a:t>
            </a:r>
            <a:r>
              <a:rPr lang="en-US" sz="1800" dirty="0" err="1"/>
              <a:t>letters_list</a:t>
            </a:r>
            <a:r>
              <a:rPr lang="en-US" sz="1800" dirty="0"/>
              <a:t> are shown. the other letters are replaced with star (*) characters.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For instance, if the parameters are</a:t>
            </a:r>
          </a:p>
          <a:p>
            <a:r>
              <a:rPr lang="en-US" sz="1800" dirty="0" err="1"/>
              <a:t>hidden_word</a:t>
            </a:r>
            <a:r>
              <a:rPr lang="en-US" sz="1800" dirty="0"/>
              <a:t> = "</a:t>
            </a:r>
            <a:r>
              <a:rPr lang="en-US" sz="1800" dirty="0" err="1"/>
              <a:t>bulbasaur</a:t>
            </a:r>
            <a:r>
              <a:rPr lang="en-US" sz="1800" dirty="0"/>
              <a:t>",</a:t>
            </a:r>
          </a:p>
          <a:p>
            <a:r>
              <a:rPr lang="en-US" sz="1800" dirty="0" err="1"/>
              <a:t>proposed_letter</a:t>
            </a:r>
            <a:r>
              <a:rPr lang="en-US" sz="1800" dirty="0"/>
              <a:t> = "u",</a:t>
            </a:r>
          </a:p>
          <a:p>
            <a:r>
              <a:rPr lang="en-US" sz="1800" dirty="0"/>
              <a:t>and </a:t>
            </a:r>
            <a:r>
              <a:rPr lang="en-US" sz="1800" dirty="0" err="1"/>
              <a:t>letters_list</a:t>
            </a:r>
            <a:r>
              <a:rPr lang="en-US" sz="1800" dirty="0"/>
              <a:t> = ["e", "a", "r"] are passed to the function hangman(),</a:t>
            </a:r>
          </a:p>
          <a:p>
            <a:pPr marL="0" indent="0">
              <a:buNone/>
            </a:pPr>
            <a:r>
              <a:rPr lang="en-US" sz="1800" dirty="0"/>
              <a:t>Then it will return </a:t>
            </a:r>
            <a:r>
              <a:rPr lang="en-US" sz="1800" dirty="0" err="1"/>
              <a:t>revealed_word</a:t>
            </a:r>
            <a:r>
              <a:rPr lang="en-US" sz="1800" dirty="0"/>
              <a:t> = "*u**a*</a:t>
            </a:r>
            <a:r>
              <a:rPr lang="en-US" sz="1800" dirty="0" err="1"/>
              <a:t>aur</a:t>
            </a:r>
            <a:r>
              <a:rPr lang="en-US" sz="1800" dirty="0"/>
              <a:t>". Note that all occurrences of the proposed letters should be displayed.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88044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38B003-8EA0-4EF0-95A0-6AD42BCC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operations on strings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C79B70-AC51-42EE-BF67-C94E8CA74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405284" cy="50323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Boolean operations on strings:</a:t>
            </a:r>
          </a:p>
          <a:p>
            <a:r>
              <a:rPr lang="en-US" dirty="0"/>
              <a:t>As you have seen earlier, we can use </a:t>
            </a:r>
            <a:r>
              <a:rPr lang="en-US" b="1" dirty="0">
                <a:solidFill>
                  <a:srgbClr val="00B050"/>
                </a:solidFill>
              </a:rPr>
              <a:t>==</a:t>
            </a:r>
            <a:r>
              <a:rPr lang="en-US" dirty="0"/>
              <a:t> (resp. </a:t>
            </a:r>
            <a:r>
              <a:rPr lang="en-US" b="1" dirty="0">
                <a:solidFill>
                  <a:srgbClr val="00B050"/>
                </a:solidFill>
              </a:rPr>
              <a:t>!=</a:t>
            </a:r>
            <a:r>
              <a:rPr lang="en-US" dirty="0"/>
              <a:t>) to check if two strings are identical (resp. different).</a:t>
            </a:r>
          </a:p>
          <a:p>
            <a:pPr marL="0" indent="0">
              <a:buNone/>
            </a:pPr>
            <a:r>
              <a:rPr lang="en-US" dirty="0"/>
              <a:t>The comparisons also work on strings but with a different behavior.</a:t>
            </a:r>
          </a:p>
          <a:p>
            <a:r>
              <a:rPr lang="en-US" dirty="0"/>
              <a:t>The comparison operators (</a:t>
            </a:r>
            <a:r>
              <a:rPr lang="en-US" b="1" dirty="0">
                <a:solidFill>
                  <a:srgbClr val="00B050"/>
                </a:solidFill>
              </a:rPr>
              <a:t>&gt;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&lt;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&gt;=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&lt;=</a:t>
            </a:r>
            <a:r>
              <a:rPr lang="en-US" dirty="0"/>
              <a:t>) can also be used.</a:t>
            </a:r>
          </a:p>
          <a:p>
            <a:r>
              <a:rPr lang="en-US" dirty="0"/>
              <a:t>These comparison operators compare the alphabetical order between strings.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316C23-6907-4DD5-9D51-89AB5D204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4667" r="32115" b="28000"/>
          <a:stretch/>
        </p:blipFill>
        <p:spPr>
          <a:xfrm>
            <a:off x="6729045" y="1481748"/>
            <a:ext cx="4923694" cy="515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0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33F6E-2166-4C59-9B0A-16249D1A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formatting with </a:t>
            </a:r>
            <a:r>
              <a:rPr lang="en-US" b="1" dirty="0">
                <a:solidFill>
                  <a:srgbClr val="00B050"/>
                </a:solidFill>
              </a:rPr>
              <a:t>format</a:t>
            </a:r>
            <a:r>
              <a:rPr lang="en-US" b="1" dirty="0"/>
              <a:t>()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6A6F-85FA-455C-95EA-EBE199D18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have seen how the </a:t>
            </a:r>
            <a:r>
              <a:rPr lang="en-US" b="1" dirty="0"/>
              <a:t>format() </a:t>
            </a:r>
            <a:r>
              <a:rPr lang="en-US" dirty="0"/>
              <a:t>method could be used to insert the values of some variables inside a string.</a:t>
            </a:r>
          </a:p>
          <a:p>
            <a:r>
              <a:rPr lang="en-US" dirty="0"/>
              <a:t>Turns out it can operate with indexes or even keywords.</a:t>
            </a:r>
          </a:p>
          <a:p>
            <a:r>
              <a:rPr lang="en-US" dirty="0"/>
              <a:t>Some arguments can also be passed to the placeholders {}, for more advanced formatting, but this is out of the scope of this class.</a:t>
            </a:r>
          </a:p>
          <a:p>
            <a:r>
              <a:rPr lang="en-US" dirty="0">
                <a:hlinkClick r:id="rId2"/>
              </a:rPr>
              <a:t>https://docs.python.org/3/library/string.html#formatstrings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AD343-0F18-4835-A98D-6A0E028297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794" t="45539" r="10000" b="32102"/>
          <a:stretch/>
        </p:blipFill>
        <p:spPr>
          <a:xfrm>
            <a:off x="900720" y="4622800"/>
            <a:ext cx="10622313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09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FA40-5516-4A40-9A8A-AEB7D190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word on F-strings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FEC51-5EC5-4113-844D-355FEE4C8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 quick word on </a:t>
            </a:r>
            <a:r>
              <a:rPr lang="en-US" b="1" dirty="0">
                <a:solidFill>
                  <a:srgbClr val="00B050"/>
                </a:solidFill>
              </a:rPr>
              <a:t>F-Strings</a:t>
            </a:r>
            <a:r>
              <a:rPr lang="en-US" b="1" dirty="0"/>
              <a:t>: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dirty="0"/>
              <a:t>The latest versions of Python (3.7+) came with </a:t>
            </a:r>
            <a:r>
              <a:rPr lang="en-US" b="1" dirty="0">
                <a:solidFill>
                  <a:srgbClr val="00B050"/>
                </a:solidFill>
              </a:rPr>
              <a:t>F-strings</a:t>
            </a:r>
            <a:r>
              <a:rPr lang="en-US" b="1" dirty="0"/>
              <a:t>: </a:t>
            </a:r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F-strings</a:t>
            </a:r>
            <a:r>
              <a:rPr lang="en-US" dirty="0"/>
              <a:t> are strings, but they are preceded by the letter </a:t>
            </a:r>
            <a:r>
              <a:rPr lang="en-US" b="1" dirty="0"/>
              <a:t>F</a:t>
            </a:r>
            <a:r>
              <a:rPr lang="en-US" dirty="0"/>
              <a:t>, to indicate that it contains some placeholders </a:t>
            </a:r>
            <a:r>
              <a:rPr lang="en-US" b="1" dirty="0"/>
              <a:t>{} to be formatted</a:t>
            </a:r>
            <a:r>
              <a:rPr lang="en-US" dirty="0"/>
              <a:t>.</a:t>
            </a:r>
          </a:p>
          <a:p>
            <a:r>
              <a:rPr lang="en-US" dirty="0"/>
              <a:t>In F-strings, you can directly pass some variable names </a:t>
            </a:r>
            <a:r>
              <a:rPr lang="en-US" b="1" dirty="0"/>
              <a:t>inside</a:t>
            </a:r>
            <a:r>
              <a:rPr lang="en-US" dirty="0"/>
              <a:t> the placeholders, which is simpler than using </a:t>
            </a:r>
            <a:r>
              <a:rPr lang="en-US" b="1" dirty="0">
                <a:solidFill>
                  <a:srgbClr val="00B050"/>
                </a:solidFill>
              </a:rPr>
              <a:t>format</a:t>
            </a:r>
            <a:r>
              <a:rPr lang="en-US" b="1" dirty="0"/>
              <a:t>()</a:t>
            </a:r>
            <a:r>
              <a:rPr lang="en-US" dirty="0"/>
              <a:t>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98840F-B7AF-4A70-8B56-36AED6457E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33" t="25143" r="26454" b="54041"/>
          <a:stretch/>
        </p:blipFill>
        <p:spPr>
          <a:xfrm>
            <a:off x="3002908" y="4478695"/>
            <a:ext cx="6186184" cy="237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86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626E5-B006-47B4-BBEE-A3955F5A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</a:t>
            </a:r>
            <a:r>
              <a:rPr lang="en-US" dirty="0">
                <a:sym typeface="Wingdings" panose="05000000000000000000" pitchFamily="2" charset="2"/>
              </a:rPr>
              <a:t></a:t>
            </a:r>
            <a:r>
              <a:rPr lang="en-US" dirty="0"/>
              <a:t> Strings conversions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7C0669-7C43-4B67-9781-18BD74E0E9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4890476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Because lists and strings are roughly the same thing, it is sometimes convenient to convert one into the other.</a:t>
            </a:r>
          </a:p>
          <a:p>
            <a:r>
              <a:rPr lang="en-US" dirty="0"/>
              <a:t>It is sometimes more useful to convert one into the other to </a:t>
            </a:r>
            <a:r>
              <a:rPr lang="en-US" b="1" dirty="0"/>
              <a:t>get rid of the </a:t>
            </a:r>
            <a:r>
              <a:rPr lang="en-US" b="1" dirty="0">
                <a:solidFill>
                  <a:srgbClr val="7030A0"/>
                </a:solidFill>
              </a:rPr>
              <a:t>immutability</a:t>
            </a:r>
            <a:r>
              <a:rPr lang="en-US" b="1" dirty="0"/>
              <a:t> property of strings!</a:t>
            </a:r>
          </a:p>
          <a:p>
            <a:r>
              <a:rPr lang="en-US" b="1" dirty="0"/>
              <a:t>Str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List:</a:t>
            </a:r>
            <a:r>
              <a:rPr lang="en-US" dirty="0"/>
              <a:t> Easily done with</a:t>
            </a:r>
            <a:br>
              <a:rPr lang="en-US" dirty="0"/>
            </a:br>
            <a:r>
              <a:rPr lang="en-US" b="1" dirty="0">
                <a:solidFill>
                  <a:srgbClr val="00B050"/>
                </a:solidFill>
              </a:rPr>
              <a:t>list</a:t>
            </a:r>
            <a:r>
              <a:rPr lang="en-US" b="1" dirty="0"/>
              <a:t>()</a:t>
            </a:r>
            <a:r>
              <a:rPr lang="en-US" dirty="0"/>
              <a:t>, which gives a list of characters.</a:t>
            </a: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3E3B2C-E9F6-4991-AAAC-40AB67C77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35945" r="31410" b="46051"/>
          <a:stretch/>
        </p:blipFill>
        <p:spPr>
          <a:xfrm>
            <a:off x="5728676" y="1766277"/>
            <a:ext cx="6368614" cy="302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11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626E5-B006-47B4-BBEE-A3955F5A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</a:t>
            </a:r>
            <a:r>
              <a:rPr lang="en-US" dirty="0">
                <a:sym typeface="Wingdings" panose="05000000000000000000" pitchFamily="2" charset="2"/>
              </a:rPr>
              <a:t></a:t>
            </a:r>
            <a:r>
              <a:rPr lang="en-US" dirty="0"/>
              <a:t> Strings conversions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7C0669-7C43-4B67-9781-18BD74E0E9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converse operations is somewhat more difficult.</a:t>
            </a:r>
          </a:p>
          <a:p>
            <a:r>
              <a:rPr lang="en-US" b="1" dirty="0"/>
              <a:t>List </a:t>
            </a:r>
            <a:r>
              <a:rPr lang="en-US" b="1" dirty="0">
                <a:sym typeface="Wingdings" panose="05000000000000000000" pitchFamily="2" charset="2"/>
              </a:rPr>
              <a:t></a:t>
            </a:r>
            <a:r>
              <a:rPr lang="en-US" b="1" dirty="0"/>
              <a:t> Str: </a:t>
            </a:r>
            <a:r>
              <a:rPr lang="en-US" dirty="0"/>
              <a:t>done with the </a:t>
            </a:r>
            <a:r>
              <a:rPr lang="en-US" b="1" dirty="0">
                <a:solidFill>
                  <a:srgbClr val="00B050"/>
                </a:solidFill>
              </a:rPr>
              <a:t>join</a:t>
            </a:r>
            <a:r>
              <a:rPr lang="en-US" b="1" dirty="0"/>
              <a:t>() </a:t>
            </a:r>
            <a:r>
              <a:rPr lang="en-US" dirty="0"/>
              <a:t>method, often applied on an empty string </a:t>
            </a:r>
            <a:r>
              <a:rPr lang="en-US" b="1" dirty="0">
                <a:solidFill>
                  <a:srgbClr val="00B050"/>
                </a:solidFill>
              </a:rPr>
              <a:t>“”</a:t>
            </a:r>
            <a:r>
              <a:rPr lang="en-US" dirty="0"/>
              <a:t>.</a:t>
            </a:r>
          </a:p>
          <a:p>
            <a:r>
              <a:rPr lang="en-US" dirty="0"/>
              <a:t>Applying it on something else than an empty string leads to… interesting results.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4C77BE-F8D1-42E8-BFF4-4D7AD50E75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67" t="55179" r="28205" b="20205"/>
          <a:stretch/>
        </p:blipFill>
        <p:spPr>
          <a:xfrm>
            <a:off x="5865448" y="1739657"/>
            <a:ext cx="6292673" cy="319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79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ED907C-25FA-4427-B346-E329C553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a string into a list of strings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0FA6C0-1B4F-4546-858A-87DC4D1B42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257800" cy="3847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needed, you can </a:t>
            </a:r>
            <a:r>
              <a:rPr lang="en-US" b="1" dirty="0"/>
              <a:t>split</a:t>
            </a:r>
            <a:r>
              <a:rPr lang="en-US" dirty="0"/>
              <a:t> </a:t>
            </a:r>
            <a:r>
              <a:rPr lang="en-US" b="1" dirty="0"/>
              <a:t>a large string into a list of smaller ones</a:t>
            </a:r>
            <a:r>
              <a:rPr lang="en-US" dirty="0"/>
              <a:t>, with the </a:t>
            </a:r>
            <a:r>
              <a:rPr lang="en-US" b="1" dirty="0">
                <a:solidFill>
                  <a:srgbClr val="00B050"/>
                </a:solidFill>
              </a:rPr>
              <a:t>split</a:t>
            </a:r>
            <a:r>
              <a:rPr lang="en-US" b="1" dirty="0"/>
              <a:t>()</a:t>
            </a:r>
            <a:r>
              <a:rPr lang="en-US" dirty="0"/>
              <a:t> method.</a:t>
            </a:r>
          </a:p>
          <a:p>
            <a:r>
              <a:rPr lang="en-US" dirty="0"/>
              <a:t>By default, it returns a list of the different words in the string, </a:t>
            </a:r>
            <a:r>
              <a:rPr lang="en-US" b="1" dirty="0"/>
              <a:t>using whitespaces as separators</a:t>
            </a:r>
            <a:r>
              <a:rPr lang="en-US" dirty="0"/>
              <a:t>.</a:t>
            </a:r>
          </a:p>
          <a:p>
            <a:r>
              <a:rPr lang="en-US" dirty="0"/>
              <a:t>You can also specify a substring to use as a separator instead of whitespaces.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D54592-64EC-428F-898A-08524FC80D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95" t="26051" r="23782" b="45231"/>
          <a:stretch/>
        </p:blipFill>
        <p:spPr>
          <a:xfrm>
            <a:off x="6172202" y="1825624"/>
            <a:ext cx="6011598" cy="27776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BF9E04-E395-EB72-8FB9-CFA21E913B6C}"/>
              </a:ext>
            </a:extLst>
          </p:cNvPr>
          <p:cNvSpPr txBox="1"/>
          <p:nvPr/>
        </p:nvSpPr>
        <p:spPr>
          <a:xfrm>
            <a:off x="838200" y="5580674"/>
            <a:ext cx="922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Convenient for dates (14/10/2020), times (14:52:26), etc.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213987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05C25-A727-4D4E-9787-F0DB042E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 types check</a:t>
            </a:r>
            <a:br>
              <a:rPr lang="en-US" dirty="0"/>
            </a:br>
            <a:r>
              <a:rPr lang="en-US" dirty="0"/>
              <a:t>in strings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20067-BEB7-44FD-BFCD-AC952BBBBF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You can check for characters types in a string with 3 methods.</a:t>
            </a:r>
          </a:p>
          <a:p>
            <a:r>
              <a:rPr lang="en-US" b="1" dirty="0" err="1"/>
              <a:t>isalpha</a:t>
            </a:r>
            <a:r>
              <a:rPr lang="en-US" b="1" dirty="0"/>
              <a:t>()</a:t>
            </a:r>
            <a:r>
              <a:rPr lang="en-US" dirty="0"/>
              <a:t> returns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is characters are letters only; and </a:t>
            </a:r>
            <a:r>
              <a:rPr lang="en-US" b="1" dirty="0">
                <a:solidFill>
                  <a:srgbClr val="00B050"/>
                </a:solidFill>
              </a:rPr>
              <a:t>False</a:t>
            </a:r>
            <a:r>
              <a:rPr lang="en-US" dirty="0"/>
              <a:t> otherwise.</a:t>
            </a:r>
          </a:p>
          <a:p>
            <a:r>
              <a:rPr lang="en-US" b="1" dirty="0" err="1"/>
              <a:t>isdigit</a:t>
            </a:r>
            <a:r>
              <a:rPr lang="en-US" b="1" dirty="0"/>
              <a:t>() </a:t>
            </a:r>
            <a:r>
              <a:rPr lang="en-US" dirty="0"/>
              <a:t>returns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if the characters are digits only; and </a:t>
            </a:r>
            <a:r>
              <a:rPr lang="en-US" b="1" dirty="0">
                <a:solidFill>
                  <a:srgbClr val="00B050"/>
                </a:solidFill>
              </a:rPr>
              <a:t>False</a:t>
            </a:r>
            <a:r>
              <a:rPr lang="en-US" dirty="0"/>
              <a:t> otherwise.</a:t>
            </a:r>
          </a:p>
          <a:p>
            <a:r>
              <a:rPr lang="en-US" b="1" dirty="0" err="1"/>
              <a:t>isalnum</a:t>
            </a:r>
            <a:r>
              <a:rPr lang="en-US" b="1" dirty="0"/>
              <a:t>() </a:t>
            </a:r>
            <a:r>
              <a:rPr lang="en-US" dirty="0"/>
              <a:t>returns </a:t>
            </a:r>
            <a:r>
              <a:rPr lang="en-US" b="1" dirty="0">
                <a:solidFill>
                  <a:srgbClr val="00B050"/>
                </a:solidFill>
              </a:rPr>
              <a:t>True</a:t>
            </a:r>
            <a:r>
              <a:rPr lang="en-US" dirty="0"/>
              <a:t> if the characters are letters and digits only; and </a:t>
            </a:r>
            <a:r>
              <a:rPr lang="en-US" b="1" dirty="0">
                <a:solidFill>
                  <a:srgbClr val="00B050"/>
                </a:solidFill>
              </a:rPr>
              <a:t>False</a:t>
            </a:r>
            <a:r>
              <a:rPr lang="en-US" dirty="0"/>
              <a:t> otherwise.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4E5FD-A546-40D9-B5B8-10989C7A53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731" t="27077" r="26667" b="15487"/>
          <a:stretch/>
        </p:blipFill>
        <p:spPr>
          <a:xfrm>
            <a:off x="6439878" y="627045"/>
            <a:ext cx="5707852" cy="617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8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70AB-A7C6-42A7-B368-6F9396CA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4 - Create password from sentence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F393E-0F49-4FED-9A9E-8AE1C77AC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passphrase</a:t>
            </a:r>
            <a:r>
              <a:rPr lang="en-US" dirty="0"/>
              <a:t> is a sentence which can be used to create passwords that are difficult to crack and easy to memorize.</a:t>
            </a:r>
          </a:p>
          <a:p>
            <a:r>
              <a:rPr lang="en-US" dirty="0"/>
              <a:t>The user simply needs to create a memorable sentence containing multiple words.</a:t>
            </a:r>
          </a:p>
          <a:p>
            <a:r>
              <a:rPr lang="en-US" dirty="0"/>
              <a:t>Later on, the user will assemble a password by alternating the first letter of each word in the passphrase and the number of characters in it. In addition, add the special characters when they appear.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737FA-BA3E-4D0F-9153-081E6BF0A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86939" cy="50323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For instance, the sentence</a:t>
            </a:r>
          </a:p>
          <a:p>
            <a:pPr marL="0" indent="0" algn="ctr">
              <a:buNone/>
            </a:pPr>
            <a:r>
              <a:rPr lang="en-US" b="1" dirty="0"/>
              <a:t>"I used to be an adventurer like you until I took an arrow to the knee“</a:t>
            </a:r>
          </a:p>
          <a:p>
            <a:pPr marL="0" indent="0">
              <a:buNone/>
            </a:pPr>
            <a:r>
              <a:rPr lang="en-US" dirty="0"/>
              <a:t>can be used to generate the following password </a:t>
            </a:r>
          </a:p>
          <a:p>
            <a:pPr marL="0" indent="0" algn="ctr">
              <a:buNone/>
            </a:pPr>
            <a:r>
              <a:rPr lang="en-US" b="1" dirty="0"/>
              <a:t>"I1u4t2b2a2a10l4y3u5I1t4a2a5t2t3k4“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Write a function </a:t>
            </a:r>
            <a:r>
              <a:rPr lang="en-US" b="1" dirty="0" err="1"/>
              <a:t>generate_password</a:t>
            </a:r>
            <a:r>
              <a:rPr lang="en-US" b="1" dirty="0"/>
              <a:t>()</a:t>
            </a:r>
            <a:r>
              <a:rPr lang="en-US" dirty="0"/>
              <a:t>, which receives a passphrase as its only parameter, and returns a single output, consisting of a string generated according to the method we described.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6187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6A7CC-2584-4C40-A525-E9AEECA8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5 – Password checker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F314-2CCD-4AF4-8D33-ABF7D09F2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0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Write a function </a:t>
            </a:r>
            <a:r>
              <a:rPr lang="en-US" b="1" dirty="0" err="1"/>
              <a:t>password_check</a:t>
            </a:r>
            <a:r>
              <a:rPr lang="en-US" b="1" dirty="0"/>
              <a:t>()</a:t>
            </a:r>
            <a:r>
              <a:rPr lang="en-US" dirty="0"/>
              <a:t>, which receives a single parameter, password, consisting of a string variable.</a:t>
            </a:r>
          </a:p>
          <a:p>
            <a:pPr marL="0" indent="0">
              <a:buNone/>
            </a:pPr>
            <a:r>
              <a:rPr lang="en-US" dirty="0"/>
              <a:t>This function returns a </a:t>
            </a:r>
            <a:r>
              <a:rPr lang="en-US" dirty="0" err="1"/>
              <a:t>boolean</a:t>
            </a:r>
            <a:r>
              <a:rPr lang="en-US" dirty="0"/>
              <a:t> with value True if:</a:t>
            </a:r>
          </a:p>
          <a:p>
            <a:r>
              <a:rPr lang="en-US" dirty="0"/>
              <a:t>the password has at least 8 characters,</a:t>
            </a:r>
          </a:p>
          <a:p>
            <a:r>
              <a:rPr lang="en-US" dirty="0"/>
              <a:t>and the password contains at least one letter </a:t>
            </a:r>
          </a:p>
          <a:p>
            <a:r>
              <a:rPr lang="en-US" dirty="0"/>
              <a:t>and the password contains at least one number,</a:t>
            </a:r>
          </a:p>
          <a:p>
            <a:r>
              <a:rPr lang="en-US" dirty="0"/>
              <a:t>and the password contains at least one special character (i.e. a non-number, non-letter character).</a:t>
            </a:r>
          </a:p>
          <a:p>
            <a:pPr marL="0" indent="0">
              <a:buNone/>
            </a:pPr>
            <a:r>
              <a:rPr lang="en-US" dirty="0"/>
              <a:t>If any of these conditions is not met, the password is deemed invalid (not strong enough) and the function returns False.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2537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9C0BE5-A386-4D5D-8588-F18EC6CE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usual, RTFM!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F05F-D80D-4CCB-B20B-F196217D9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string objects in Python have </a:t>
            </a:r>
            <a:r>
              <a:rPr lang="en-US" b="1" dirty="0"/>
              <a:t>many more built-in methods and functions </a:t>
            </a:r>
            <a:r>
              <a:rPr lang="en-US" dirty="0"/>
              <a:t>you could use.</a:t>
            </a:r>
          </a:p>
          <a:p>
            <a:r>
              <a:rPr lang="en-US" dirty="0"/>
              <a:t>We </a:t>
            </a:r>
            <a:r>
              <a:rPr lang="en-US" b="1" dirty="0"/>
              <a:t>do not expect you to know </a:t>
            </a:r>
            <a:r>
              <a:rPr lang="en-US" dirty="0"/>
              <a:t>about all these methods and functions, nor about how they work in detail.</a:t>
            </a:r>
          </a:p>
          <a:p>
            <a:r>
              <a:rPr lang="en-US" dirty="0"/>
              <a:t>Just know where to find the information if you need it.</a:t>
            </a:r>
          </a:p>
          <a:p>
            <a:r>
              <a:rPr lang="en-US" dirty="0"/>
              <a:t>And do not be afraid to </a:t>
            </a:r>
            <a:r>
              <a:rPr lang="en-US" b="1" dirty="0"/>
              <a:t>read the Python documentation!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String type documentation (</a:t>
            </a:r>
            <a:r>
              <a:rPr lang="en-US" b="1" dirty="0">
                <a:solidFill>
                  <a:srgbClr val="00B050"/>
                </a:solidFill>
              </a:rPr>
              <a:t>RTFM!</a:t>
            </a:r>
            <a:r>
              <a:rPr lang="en-US" b="1" dirty="0"/>
              <a:t>)</a:t>
            </a:r>
            <a:br>
              <a:rPr lang="en-GB" b="1" dirty="0"/>
            </a:br>
            <a:r>
              <a:rPr lang="en-GB" dirty="0">
                <a:hlinkClick r:id="rId2"/>
              </a:rPr>
              <a:t>https://docs.python.org/2/library/string.html</a:t>
            </a:r>
            <a:endParaRPr lang="en-GB" dirty="0"/>
          </a:p>
          <a:p>
            <a:endParaRPr lang="en-GB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85D6023-7B42-4C7C-1E8F-B7F35E345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3928">
            <a:off x="9539985" y="4341383"/>
            <a:ext cx="2291093" cy="221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68367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F0ECE-00D0-476D-AB51-5CD67D26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find</a:t>
            </a:r>
            <a:r>
              <a:rPr lang="en-US" b="1" dirty="0"/>
              <a:t>()</a:t>
            </a:r>
            <a:r>
              <a:rPr lang="en-US" dirty="0"/>
              <a:t>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62B74-4974-46DE-9EFF-7CF6A9FDCC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strings come with an additional method, called </a:t>
            </a:r>
            <a:r>
              <a:rPr lang="en-US" b="1" dirty="0">
                <a:solidFill>
                  <a:srgbClr val="00B050"/>
                </a:solidFill>
              </a:rPr>
              <a:t>find</a:t>
            </a:r>
            <a:r>
              <a:rPr lang="en-US" b="1" dirty="0"/>
              <a:t>()</a:t>
            </a:r>
            <a:r>
              <a:rPr lang="en-US" dirty="0"/>
              <a:t>, which looks for a character or substring inside another string.</a:t>
            </a:r>
          </a:p>
          <a:p>
            <a:r>
              <a:rPr lang="en-US" dirty="0"/>
              <a:t>It returns the index of the first appears of said character or substring inside the string.</a:t>
            </a:r>
          </a:p>
          <a:p>
            <a:r>
              <a:rPr lang="en-US" dirty="0"/>
              <a:t>If the character or substring does not appear, it returns -1.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60D7BD-6407-4FF6-9A8D-0093A440C7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56" t="40816" r="32041" b="33715"/>
          <a:stretch/>
        </p:blipFill>
        <p:spPr>
          <a:xfrm>
            <a:off x="6096000" y="1660955"/>
            <a:ext cx="5935196" cy="414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15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72342-8170-4A76-AB18-90E2D096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strings and lists of strings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345A6E-5A35-49F0-8D81-E9D3373380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have seen earlier how the </a:t>
            </a:r>
            <a:r>
              <a:rPr lang="en-US" b="1" dirty="0">
                <a:solidFill>
                  <a:srgbClr val="00B050"/>
                </a:solidFill>
              </a:rPr>
              <a:t>sorted</a:t>
            </a:r>
            <a:r>
              <a:rPr lang="en-US" b="1" dirty="0"/>
              <a:t>()</a:t>
            </a:r>
            <a:r>
              <a:rPr lang="en-US" dirty="0"/>
              <a:t> function could be used to sort a list of strings alphabetically.</a:t>
            </a:r>
          </a:p>
          <a:p>
            <a:r>
              <a:rPr lang="en-US" dirty="0"/>
              <a:t>It can also be applied on a single string. This produces a list of strings, this time reorganized in alphabetical order.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5F6287-EBE9-4413-BB0A-D2EA0DE15B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59" t="26462" r="28525" b="55487"/>
          <a:stretch/>
        </p:blipFill>
        <p:spPr>
          <a:xfrm>
            <a:off x="6172202" y="2342765"/>
            <a:ext cx="5897234" cy="227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853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A90E17-1199-4321-87E3-3D132FA9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Additional: functions, strip-cleaning a string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A9F4FD-0D50-415D-94BB-AA160F399F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Strip-cleaning a string </a:t>
            </a:r>
            <a:r>
              <a:rPr lang="en-US" dirty="0"/>
              <a:t>removes the extra spaces, if any, at the beginning and end of a string.</a:t>
            </a:r>
          </a:p>
          <a:p>
            <a:r>
              <a:rPr lang="en-US" dirty="0"/>
              <a:t>If a substring is passed to the </a:t>
            </a:r>
            <a:r>
              <a:rPr lang="en-US" b="1" dirty="0">
                <a:solidFill>
                  <a:srgbClr val="00B050"/>
                </a:solidFill>
              </a:rPr>
              <a:t>split</a:t>
            </a:r>
            <a:r>
              <a:rPr lang="en-US" b="1" dirty="0"/>
              <a:t>() </a:t>
            </a:r>
            <a:r>
              <a:rPr lang="en-US" dirty="0"/>
              <a:t>method, it will remove the occurrences of these extra characters at the beginning and end of the string. 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931F7E-ECD8-4966-8430-6A7FF10057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59" t="23589" r="23205" b="47693"/>
          <a:stretch/>
        </p:blipFill>
        <p:spPr>
          <a:xfrm>
            <a:off x="6172202" y="2227384"/>
            <a:ext cx="5920212" cy="266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38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9C0BE5-A386-4D5D-8588-F18EC6CE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Once more for those in the back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BF05F-D80D-4CCB-B20B-F196217D9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string objects in Python have </a:t>
            </a:r>
            <a:r>
              <a:rPr lang="en-US" b="1" dirty="0"/>
              <a:t>many more built-in methods and functions </a:t>
            </a:r>
            <a:r>
              <a:rPr lang="en-US" dirty="0"/>
              <a:t>you could use.</a:t>
            </a:r>
          </a:p>
          <a:p>
            <a:r>
              <a:rPr lang="en-US" dirty="0"/>
              <a:t>We </a:t>
            </a:r>
            <a:r>
              <a:rPr lang="en-US" b="1" dirty="0"/>
              <a:t>do not expect you to know </a:t>
            </a:r>
            <a:r>
              <a:rPr lang="en-US" dirty="0"/>
              <a:t>about all these methods and functions, nor about how they work in detail.</a:t>
            </a:r>
          </a:p>
          <a:p>
            <a:r>
              <a:rPr lang="en-US" dirty="0"/>
              <a:t>Just know where to find the information if you need it.</a:t>
            </a:r>
          </a:p>
          <a:p>
            <a:r>
              <a:rPr lang="en-US" dirty="0"/>
              <a:t>And do not be afraid to </a:t>
            </a:r>
            <a:r>
              <a:rPr lang="en-US" b="1" dirty="0"/>
              <a:t>read the Python documentation!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String type documentation (</a:t>
            </a:r>
            <a:r>
              <a:rPr lang="en-US" b="1" dirty="0">
                <a:solidFill>
                  <a:srgbClr val="00B050"/>
                </a:solidFill>
              </a:rPr>
              <a:t>RTFM!</a:t>
            </a:r>
            <a:r>
              <a:rPr lang="en-US" b="1" dirty="0"/>
              <a:t>)</a:t>
            </a:r>
            <a:br>
              <a:rPr lang="en-GB" b="1" dirty="0"/>
            </a:br>
            <a:r>
              <a:rPr lang="en-GB" dirty="0">
                <a:hlinkClick r:id="rId2"/>
              </a:rPr>
              <a:t>https://docs.python.org/2/library/string.html</a:t>
            </a:r>
            <a:endParaRPr lang="en-GB" dirty="0"/>
          </a:p>
          <a:p>
            <a:endParaRPr lang="en-GB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85D6023-7B42-4C7C-1E8F-B7F35E345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43928">
            <a:off x="9539985" y="4341383"/>
            <a:ext cx="2291093" cy="221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158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C776-F489-4F89-B9D1-64DFC920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4" y="406968"/>
            <a:ext cx="6798541" cy="837884"/>
          </a:xfrm>
        </p:spPr>
        <p:txBody>
          <a:bodyPr anchor="b">
            <a:normAutofit/>
          </a:bodyPr>
          <a:lstStyle/>
          <a:p>
            <a:r>
              <a:rPr lang="en-US" sz="4000" dirty="0"/>
              <a:t>Conclusion (</a:t>
            </a:r>
            <a:r>
              <a:rPr lang="en-US" sz="4000"/>
              <a:t>Chapter 14)</a:t>
            </a:r>
            <a:endParaRPr lang="en-US" sz="4000" dirty="0"/>
          </a:p>
        </p:txBody>
      </p:sp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943E5914-5549-6D68-0D39-CD2945350A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64" r="40215" b="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85463-414E-4F5F-96DD-C1BA37CF0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1651819"/>
            <a:ext cx="7362963" cy="5004619"/>
          </a:xfrm>
        </p:spPr>
        <p:txBody>
          <a:bodyPr>
            <a:normAutofit/>
          </a:bodyPr>
          <a:lstStyle/>
          <a:p>
            <a:r>
              <a:rPr lang="en-US" dirty="0"/>
              <a:t>What is a </a:t>
            </a:r>
            <a:r>
              <a:rPr lang="en-US" b="1" dirty="0"/>
              <a:t>string</a:t>
            </a:r>
            <a:r>
              <a:rPr lang="en-US" dirty="0"/>
              <a:t>? How are they related to </a:t>
            </a:r>
            <a:r>
              <a:rPr lang="en-US" b="1" dirty="0"/>
              <a:t>lists</a:t>
            </a:r>
            <a:r>
              <a:rPr lang="en-US" dirty="0"/>
              <a:t>? </a:t>
            </a:r>
            <a:endParaRPr lang="en-US" b="1" dirty="0"/>
          </a:p>
          <a:p>
            <a:r>
              <a:rPr lang="en-US" dirty="0"/>
              <a:t>How to </a:t>
            </a:r>
            <a:r>
              <a:rPr lang="en-US" b="1" dirty="0"/>
              <a:t>index</a:t>
            </a:r>
            <a:r>
              <a:rPr lang="en-US" dirty="0"/>
              <a:t>, </a:t>
            </a:r>
            <a:r>
              <a:rPr lang="en-US" b="1" dirty="0"/>
              <a:t>slice</a:t>
            </a:r>
            <a:r>
              <a:rPr lang="en-US" dirty="0"/>
              <a:t> and </a:t>
            </a:r>
            <a:r>
              <a:rPr lang="en-US" b="1" dirty="0"/>
              <a:t>traverse</a:t>
            </a:r>
            <a:r>
              <a:rPr lang="en-US" dirty="0"/>
              <a:t> a string?</a:t>
            </a:r>
          </a:p>
          <a:p>
            <a:r>
              <a:rPr lang="en-US" dirty="0"/>
              <a:t>What is the </a:t>
            </a:r>
            <a:r>
              <a:rPr lang="en-US" b="1" dirty="0"/>
              <a:t>immutability</a:t>
            </a:r>
            <a:r>
              <a:rPr lang="en-US" dirty="0"/>
              <a:t> </a:t>
            </a:r>
            <a:r>
              <a:rPr lang="en-US" b="1" dirty="0"/>
              <a:t>property</a:t>
            </a:r>
            <a:r>
              <a:rPr lang="en-US" dirty="0"/>
              <a:t> of strings?</a:t>
            </a:r>
          </a:p>
          <a:p>
            <a:r>
              <a:rPr lang="en-US" dirty="0"/>
              <a:t>What are common </a:t>
            </a:r>
            <a:r>
              <a:rPr lang="en-US" b="1" dirty="0" err="1"/>
              <a:t>booleans</a:t>
            </a:r>
            <a:r>
              <a:rPr lang="en-US" b="1" dirty="0"/>
              <a:t> on strings</a:t>
            </a:r>
            <a:r>
              <a:rPr lang="en-US" dirty="0"/>
              <a:t>?</a:t>
            </a:r>
          </a:p>
          <a:p>
            <a:r>
              <a:rPr lang="en-US" dirty="0"/>
              <a:t>A complete description of </a:t>
            </a:r>
            <a:r>
              <a:rPr lang="en-US" b="1" dirty="0"/>
              <a:t>printing</a:t>
            </a:r>
            <a:r>
              <a:rPr lang="en-US" dirty="0"/>
              <a:t> and </a:t>
            </a:r>
            <a:r>
              <a:rPr lang="en-US" b="1" dirty="0"/>
              <a:t>formatting</a:t>
            </a:r>
            <a:r>
              <a:rPr lang="en-US" dirty="0"/>
              <a:t> with strings.</a:t>
            </a:r>
            <a:endParaRPr lang="en-US" b="1" dirty="0"/>
          </a:p>
          <a:p>
            <a:r>
              <a:rPr lang="en-US" dirty="0"/>
              <a:t>How ton </a:t>
            </a:r>
            <a:r>
              <a:rPr lang="en-US" b="1" dirty="0"/>
              <a:t>convert strings </a:t>
            </a:r>
            <a:r>
              <a:rPr lang="en-US" b="1" dirty="0">
                <a:sym typeface="Wingdings" panose="05000000000000000000" pitchFamily="2" charset="2"/>
              </a:rPr>
              <a:t>to </a:t>
            </a:r>
            <a:r>
              <a:rPr lang="en-US" b="1" dirty="0"/>
              <a:t>lists </a:t>
            </a:r>
            <a:r>
              <a:rPr lang="en-US" dirty="0"/>
              <a:t>and vice-versa?</a:t>
            </a:r>
          </a:p>
          <a:p>
            <a:r>
              <a:rPr lang="en-US" dirty="0"/>
              <a:t>What are </a:t>
            </a:r>
            <a:r>
              <a:rPr lang="en-US" b="1" dirty="0"/>
              <a:t>more advanced operations </a:t>
            </a:r>
            <a:r>
              <a:rPr lang="en-US" dirty="0"/>
              <a:t>on strings, such as splitting, stripping, character checking, sorting, etc.? (RTFM!)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568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278D13-7863-0226-5C84-C8727D3AA21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0D5619-914E-461A-E4D7-C94DE821959E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4C1BF5A-D5A5-4405-76C0-751401906E0A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BF6FCE6-8501-F3B6-70F6-76005B4A6CC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13B761-31C7-27C6-D709-845340E482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is the output produced by this code?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483E88-63B7-32E8-2A33-9304A4248FF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198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5DD522-41D2-F5A6-2319-39A9DB04DB2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0A16FC-F74F-DC2C-976E-C47A70E800EA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ECD5B8-93B7-AFFB-3BCC-85CED5EA73EB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4E2895F-F240-799A-5E9C-5988DC59582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D0589AA-7497-3753-6182-5C22E5840D7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is the output of this code?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24542-8264-A650-7DCF-D5142DF7AC7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07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in a suit giving a thumbs up&#10;&#10;Description automatically generated">
            <a:extLst>
              <a:ext uri="{FF2B5EF4-FFF2-40B4-BE49-F238E27FC236}">
                <a16:creationId xmlns:a16="http://schemas.microsoft.com/office/drawing/2014/main" id="{6E56D427-C14E-086A-7BAB-604C72976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143" y="0"/>
            <a:ext cx="4535714" cy="6858000"/>
          </a:xfrm>
          <a:prstGeom prst="rect">
            <a:avLst/>
          </a:prstGeom>
        </p:spPr>
      </p:pic>
      <p:pic>
        <p:nvPicPr>
          <p:cNvPr id="5" name="Picture 4" descr="A blue and yellow snake logo&#10;&#10;Description automatically generated">
            <a:extLst>
              <a:ext uri="{FF2B5EF4-FFF2-40B4-BE49-F238E27FC236}">
                <a16:creationId xmlns:a16="http://schemas.microsoft.com/office/drawing/2014/main" id="{1912C5DD-560E-3849-F6C6-A65BB9B38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736" y="3429000"/>
            <a:ext cx="1656597" cy="181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710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ic of two people&#10;&#10;Description automatically generated">
            <a:extLst>
              <a:ext uri="{FF2B5EF4-FFF2-40B4-BE49-F238E27FC236}">
                <a16:creationId xmlns:a16="http://schemas.microsoft.com/office/drawing/2014/main" id="{FFDC0FBA-28B5-387C-A3C9-14B5AB130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E7CEC8-718D-B152-8C41-0322532BF02D}"/>
              </a:ext>
            </a:extLst>
          </p:cNvPr>
          <p:cNvSpPr txBox="1"/>
          <p:nvPr/>
        </p:nvSpPr>
        <p:spPr>
          <a:xfrm>
            <a:off x="206829" y="522515"/>
            <a:ext cx="2460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Meanwhile…</a:t>
            </a:r>
          </a:p>
        </p:txBody>
      </p:sp>
      <p:pic>
        <p:nvPicPr>
          <p:cNvPr id="8" name="Picture 7" descr="A yellow and white logo&#10;&#10;Description automatically generated">
            <a:extLst>
              <a:ext uri="{FF2B5EF4-FFF2-40B4-BE49-F238E27FC236}">
                <a16:creationId xmlns:a16="http://schemas.microsoft.com/office/drawing/2014/main" id="{26D51B0E-F239-64D0-4A47-1626CFAE2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82"/>
          <a:stretch/>
        </p:blipFill>
        <p:spPr>
          <a:xfrm>
            <a:off x="6988628" y="1186542"/>
            <a:ext cx="2024743" cy="940950"/>
          </a:xfrm>
          <a:prstGeom prst="rect">
            <a:avLst/>
          </a:prstGeom>
        </p:spPr>
      </p:pic>
      <p:pic>
        <p:nvPicPr>
          <p:cNvPr id="9" name="Picture 8" descr="A blue and yellow snake logo&#10;&#10;Description automatically generated">
            <a:extLst>
              <a:ext uri="{FF2B5EF4-FFF2-40B4-BE49-F238E27FC236}">
                <a16:creationId xmlns:a16="http://schemas.microsoft.com/office/drawing/2014/main" id="{11A342B0-01E5-487C-B5E3-437399AAC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023" y="2623457"/>
            <a:ext cx="624944" cy="685800"/>
          </a:xfrm>
          <a:prstGeom prst="rect">
            <a:avLst/>
          </a:prstGeom>
        </p:spPr>
      </p:pic>
      <p:pic>
        <p:nvPicPr>
          <p:cNvPr id="10" name="Picture 9" descr="A blue and yellow snake logo&#10;&#10;Description automatically generated">
            <a:extLst>
              <a:ext uri="{FF2B5EF4-FFF2-40B4-BE49-F238E27FC236}">
                <a16:creationId xmlns:a16="http://schemas.microsoft.com/office/drawing/2014/main" id="{8A780C8E-28DE-ECC5-1804-C8EED2F95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195" y="6281059"/>
            <a:ext cx="456308" cy="500743"/>
          </a:xfrm>
          <a:prstGeom prst="rect">
            <a:avLst/>
          </a:prstGeom>
        </p:spPr>
      </p:pic>
      <p:pic>
        <p:nvPicPr>
          <p:cNvPr id="11" name="Picture 10" descr="A blue and yellow snake logo&#10;&#10;Description automatically generated">
            <a:extLst>
              <a:ext uri="{FF2B5EF4-FFF2-40B4-BE49-F238E27FC236}">
                <a16:creationId xmlns:a16="http://schemas.microsoft.com/office/drawing/2014/main" id="{A35BF4F1-DC90-B22E-EFE0-FE9BE8940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734" y="6172200"/>
            <a:ext cx="456308" cy="500743"/>
          </a:xfrm>
          <a:prstGeom prst="rect">
            <a:avLst/>
          </a:prstGeom>
        </p:spPr>
      </p:pic>
      <p:pic>
        <p:nvPicPr>
          <p:cNvPr id="12" name="Picture 11" descr="A yellow and white logo&#10;&#10;Description automatically generated">
            <a:extLst>
              <a:ext uri="{FF2B5EF4-FFF2-40B4-BE49-F238E27FC236}">
                <a16:creationId xmlns:a16="http://schemas.microsoft.com/office/drawing/2014/main" id="{725A7BF4-6BF5-A13A-A8CF-B3BEB6503B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82"/>
          <a:stretch/>
        </p:blipFill>
        <p:spPr>
          <a:xfrm>
            <a:off x="8467415" y="6302549"/>
            <a:ext cx="633044" cy="294192"/>
          </a:xfrm>
          <a:prstGeom prst="rect">
            <a:avLst/>
          </a:prstGeom>
        </p:spPr>
      </p:pic>
      <p:pic>
        <p:nvPicPr>
          <p:cNvPr id="13" name="Picture 12" descr="A yellow and white logo&#10;&#10;Description automatically generated">
            <a:extLst>
              <a:ext uri="{FF2B5EF4-FFF2-40B4-BE49-F238E27FC236}">
                <a16:creationId xmlns:a16="http://schemas.microsoft.com/office/drawing/2014/main" id="{5BA08847-9AE3-71A2-617F-F37804AD9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82"/>
          <a:stretch/>
        </p:blipFill>
        <p:spPr>
          <a:xfrm>
            <a:off x="7799152" y="2937654"/>
            <a:ext cx="504680" cy="23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1F0B519-DD79-7441-5E17-9B0A4DA786E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E78603-0F74-2FCB-A67F-F45526CC700C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50C06E7-E3B7-45F1-FCE3-088E06631537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2482A62-F05D-E396-81CA-4107FE4167D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5EDA83-603D-9656-7A99-D12FEFC076B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Which slicing should we use on line 2 to produce a True on line 3?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55A5A1-094F-C30A-75AC-429A5CE444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464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83A4F5-9225-30B5-4C81-46BDFAA2B53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FE2C757-4C11-DBD8-25A9-DAF4A8EB8A2C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A3F6551-8E6E-CAE1-8F50-1A380DD328DE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7056020-7454-AE07-CD5A-A5C19649728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C21E1E-071F-3E50-9168-B36EA0D42C9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What will be printed?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13F12E-D959-0176-DD92-99009A0185C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08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5C6B1D-C039-785F-1C55-BE7B768D598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286500" y="430530"/>
            <a:ext cx="5524500" cy="891540"/>
          </a:xfrm>
          <a:prstGeom prst="roundRect">
            <a:avLst/>
          </a:prstGeom>
          <a:solidFill>
            <a:srgbClr val="F4F4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rIns="1143000" rtlCol="0" anchor="ctr">
            <a:normAutofit/>
          </a:bodyPr>
          <a:lstStyle/>
          <a:p>
            <a:r>
              <a:rPr lang="en-GB" sz="2000">
                <a:solidFill>
                  <a:srgbClr val="5B5B5B"/>
                </a:solidFill>
              </a:rPr>
              <a:t>Please download and install the Slido app on all computers you use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C533A8-B409-2E9E-0D17-06EBB013D0B3}"/>
              </a:ext>
            </a:extLst>
          </p:cNvPr>
          <p:cNvPicPr>
            <a:picLocks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26048" y="577634"/>
            <a:ext cx="597332" cy="5973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0599F28-7ADD-141E-BE9F-28508B4993F1}"/>
              </a:ext>
            </a:extLst>
          </p:cNvPr>
          <p:cNvPicPr>
            <a:picLocks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1440" y="617220"/>
            <a:ext cx="1036320" cy="51816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DAA5741-2E37-D507-7296-DB73AB4BEC3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8240" y="2270760"/>
            <a:ext cx="2316480" cy="2316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1E7101A-575A-F2A8-669D-5721413D793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01440" y="2571750"/>
            <a:ext cx="7315199" cy="1714500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4000" b="1">
                <a:solidFill>
                  <a:srgbClr val="5B5B5B"/>
                </a:solidFill>
              </a:rPr>
              <a:t>Given a string s = "MatthieuDeMari", which of these will produce a True?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33446C-31BB-03F6-9BBD-D97CCF3B08C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901440" y="6032500"/>
            <a:ext cx="7315199" cy="5181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r>
              <a:rPr lang="en-GB" sz="2200" b="1">
                <a:solidFill>
                  <a:srgbClr val="5B5B5B"/>
                </a:solidFill>
              </a:rPr>
              <a:t>ⓘ</a:t>
            </a:r>
            <a:r>
              <a:rPr lang="en-GB" sz="2000">
                <a:solidFill>
                  <a:srgbClr val="5B5B5B"/>
                </a:solidFill>
              </a:rPr>
              <a:t> Start presenting to display the poll results on this slide.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8147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4.0.5919"/>
  <p:tag name="SLIDO_PRESENTATION_ID" val="74c43ff7-9875-431a-ba68-137ed9ac8afb"/>
  <p:tag name="SLIDO_EVENT_UUID" val="0ede15f9-32fc-4c7e-81a6-121dd8959ba5"/>
  <p:tag name="SLIDO_EVENT_SECTION_UUID" val="450a9be4-ce16-435a-8ff7-b001754aca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I4OTF9"/>
  <p:tag name="SLIDO_TYPE" val="SlidoPoll"/>
  <p:tag name="SLIDO_POLL_UUID" val="6fcef422-61a0-4c16-a2f3-22b7a80ce135"/>
  <p:tag name="SLIDO_POLL_QUESTION_UUID" val="0b852b2a-1e14-40d3-a872-eabb9702e4b6"/>
  <p:tag name="SLIDO_TIMELINE" val="W3sic2NyZWVuIjoiUXVpekpvaW5pbmciLCJzaG93UmVzdWx0cyI6ZmFsc2UsInNob3dDb3JyZWN0QW5zd2VycyI6ZmFsc2UsInZvdGluZ0xvY2tlZCI6ZmFsc2V9LHsicG9sbFF1ZXN0aW9uVXVpZCI6IjBiODUyYjJhLTFlMTQtNDBkMy1hODcyLWVhYmI5NzAyZTRiNiIsInNob3dSZXN1bHRzIjpmYWxzZSwic2hvd0NvcnJlY3RBbnN3ZXJzIjpmYWxzZSwidm90aW5nTG9ja2VkIjpmYWxzZX0seyJwb2xsUXVlc3Rpb25VdWlkIjoiMGI4NTJiMmEtMWUxNC00MGQzLWE4NzItZWFiYjk3MDJlNGI2Iiwic2hvd1Jlc3VsdHMiOnRydWUsInNob3dDb3JyZWN0QW5zd2VycyI6ZmFsc2UsInZvdGluZ0xvY2tlZCI6dHJ1ZX0seyJwb2xsUXVlc3Rpb25VdWlkIjoiMGI4NTJiMmEtMWUxNC00MGQzLWE4NzItZWFiYjk3MDJlNGI2Iiwic2hvd1Jlc3VsdHMiOnRydWUsInNob3dDb3JyZWN0QW5zd2VycyI6dHJ1ZSwidm90aW5nTG9ja2Vk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wMTd9"/>
  <p:tag name="SLIDO_TYPE" val="SlidoPoll"/>
  <p:tag name="SLIDO_POLL_UUID" val="6fcef422-61a0-4c16-a2f3-22b7a80ce135"/>
  <p:tag name="SLIDO_POLL_QUESTION_UUID" val="b4772a2c-b3e4-4fc2-a2e2-bbfe8899646d"/>
  <p:tag name="SLIDO_TIMELINE" val="W3sicG9sbFF1ZXN0aW9uVXVpZCI6ImI0NzcyYTJjLWIzZTQtNGZjMi1hMmUyLWJiZmU4ODk5NjQ2ZCIsInNob3dSZXN1bHRzIjpmYWxzZSwic2hvd0NvcnJlY3RBbnN3ZXJzIjpmYWxzZSwidm90aW5nTG9ja2VkIjpmYWxzZX0seyJwb2xsUXVlc3Rpb25VdWlkIjoiYjQ3NzJhMmMtYjNlNC00ZmMyLWEyZTItYmJmZTg4OTk2NDZkIiwic2hvd1Jlc3VsdHMiOnRydWUsInNob3dDb3JyZWN0QW5zd2VycyI6ZmFsc2UsInZvdGluZ0xvY2tlZCI6dHJ1ZX0seyJwb2xsUXVlc3Rpb25VdWlkIjoiYjQ3NzJhMmMtYjNlNC00ZmMyLWEyZTItYmJmZTg4OTk2NDZkIiwic2hvd1Jlc3VsdHMiOnRydWUsInNob3dDb3JyZWN0QW5zd2VycyI6dHJ1ZSwidm90aW5nTG9ja2VkIjp0cnVlfV0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xMDZ9"/>
  <p:tag name="SLIDO_TYPE" val="SlidoPoll"/>
  <p:tag name="SLIDO_POLL_UUID" val="6fcef422-61a0-4c16-a2f3-22b7a80ce135"/>
  <p:tag name="SLIDO_POLL_QUESTION_UUID" val="8c118f5d-069c-4e93-b4e9-f5c9baa44abf"/>
  <p:tag name="SLIDO_TIMELINE" val="W3sic2NyZWVuIjoiUXVpekdldFJlYWR5Iiwic2hvd1Jlc3VsdHMiOmZhbHNlLCJzaG93Q29ycmVjdEFuc3dlcnMiOmZhbHNlLCJ2b3RpbmdMb2NrZWQiOmZhbHNlfSx7InBvbGxRdWVzdGlvblV1aWQiOiI4YzExOGY1ZC0wNjljLTRlOTMtYjRlOS1mNWM5YmFhNDRhYmYiLCJzaG93UmVzdWx0cyI6ZmFsc2UsInNob3dDb3JyZWN0QW5zd2VycyI6ZmFsc2UsInZvdGluZ0xvY2tlZCI6ZmFsc2V9LHsicG9sbFF1ZXN0aW9uVXVpZCI6IjhjMTE4ZjVkLTA2OWMtNGU5My1iNGU5LWY1YzliYWE0NGFiZiIsInNob3dSZXN1bHRzIjp0cnVlLCJzaG93Q29ycmVjdEFuc3dlcnMiOmZhbHNlLCJ2b3RpbmdMb2NrZWQiOnRydWV9LHsicG9sbFF1ZXN0aW9uVXVpZCI6IjhjMTE4ZjVkLTA2OWMtNGU5My1iNGU5LWY1YzliYWE0NGFiZiIsInNob3dSZXN1bHRzIjp0cnVlLCJzaG93Q29ycmVjdEFuc3dlcnMiOnRydWUsInZvdGluZ0xvY2tlZCI6dHJ1ZX1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xNDd9"/>
  <p:tag name="SLIDO_TYPE" val="SlidoPoll"/>
  <p:tag name="SLIDO_POLL_UUID" val="6fcef422-61a0-4c16-a2f3-22b7a80ce135"/>
  <p:tag name="SLIDO_POLL_QUESTION_UUID" val="1393e9b9-a269-4522-8d9f-8a2c09e73f3d"/>
  <p:tag name="SLIDO_TIMELINE" val="W3sicG9sbFF1ZXN0aW9uVXVpZCI6IjEzOTNlOWI5LWEyNjktNDUyMi04ZDlmLThhMmMwOWU3M2YzZCIsInNob3dSZXN1bHRzIjpmYWxzZSwic2hvd0NvcnJlY3RBbnN3ZXJzIjpmYWxzZSwidm90aW5nTG9ja2VkIjpmYWxzZX0seyJwb2xsUXVlc3Rpb25VdWlkIjoiMTM5M2U5YjktYTI2OS00NTIyLThkOWYtOGEyYzA5ZTczZjNkIiwic2hvd1Jlc3VsdHMiOnRydWUsInNob3dDb3JyZWN0QW5zd2VycyI6ZmFsc2UsInZvdGluZ0xvY2tlZCI6dHJ1ZX0seyJwb2xsUXVlc3Rpb25VdWlkIjoiMTM5M2U5YjktYTI2OS00NTIyLThkOWYtOGEyYzA5ZTczZjNkIiwic2hvd1Jlc3VsdHMiOnRydWUsInNob3dDb3JyZWN0QW5zd2VycyI6dHJ1ZSwidm90aW5nTG9ja2VkIjp0cnVlfV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MzYyNjMyMzJ9"/>
  <p:tag name="SLIDO_TYPE" val="SlidoPoll"/>
  <p:tag name="SLIDO_POLL_UUID" val="6fcef422-61a0-4c16-a2f3-22b7a80ce135"/>
  <p:tag name="SLIDO_POLL_QUESTION_UUID" val="60e69571-eaf4-4140-865d-cbce665df5d1"/>
  <p:tag name="SLIDO_TIMELINE" val="W3sicG9sbFF1ZXN0aW9uVXVpZCI6IjYwZTY5NTcxLWVhZjQtNDE0MC04NjVkLWNiY2U2NjVkZjVkMSIsInNob3dSZXN1bHRzIjpmYWxzZSwic2hvd0NvcnJlY3RBbnN3ZXJzIjpmYWxzZSwidm90aW5nTG9ja2VkIjpmYWxzZX0seyJwb2xsUXVlc3Rpb25VdWlkIjoiNjBlNjk1NzEtZWFmNC00MTQwLTg2NWQtY2JjZTY2NWRmNWQxIiwic2hvd1Jlc3VsdHMiOnRydWUsInNob3dDb3JyZWN0QW5zd2VycyI6ZmFsc2UsInZvdGluZ0xvY2tlZCI6dHJ1ZX0seyJwb2xsUXVlc3Rpb25VdWlkIjoiNjBlNjk1NzEtZWFmNC00MTQwLTg2NWQtY2JjZTY2NWRmNWQxIiwic2hvd1Jlc3VsdHMiOnRydWUsInNob3dDb3JyZWN0QW5zd2VycyI6dHJ1ZSwidm90aW5nTG9ja2VkIjp0cnVlfSx7InNjcmVlbiI6IlF1aXpMZWFkZXJib2FyZCIsInBvbGxRdWVzdGlvblV1aWQiOiI2MGU2OTU3MS1lYWY0LTQxNDAtODY1ZC1jYmNlNjY1ZGY1ZDEiLCJzaG93UmVzdWx0cyI6dHJ1ZSwic2hvd0NvcnJlY3RBbnN3ZXJzIjp0cnVlLCJ2b3RpbmdMb2NrZWQiOnRydWV9XQ=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remind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dott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logo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uiz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5260</TotalTime>
  <Words>2877</Words>
  <Application>Microsoft Office PowerPoint</Application>
  <PresentationFormat>Widescreen</PresentationFormat>
  <Paragraphs>202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Wingdings</vt:lpstr>
      <vt:lpstr>Office Theme</vt:lpstr>
      <vt:lpstr>A gamified introduction to Python Programming  Lecture 14 Everything about strings</vt:lpstr>
      <vt:lpstr>Outline (Chapter 14)</vt:lpstr>
      <vt:lpstr>From lists to strings</vt:lpstr>
      <vt:lpstr>Length of a string</vt:lpstr>
      <vt:lpstr>Using triple quotes and string formatting (\)</vt:lpstr>
      <vt:lpstr>Using triple quotes and string formatting (\)</vt:lpstr>
      <vt:lpstr>The + and ∗ operators on strings</vt:lpstr>
      <vt:lpstr>Indexing and slicing a string</vt:lpstr>
      <vt:lpstr>Immutable types</vt:lpstr>
      <vt:lpstr>Replacing parts of a string</vt:lpstr>
      <vt:lpstr>Traversing a string</vt:lpstr>
      <vt:lpstr>Traversing a string</vt:lpstr>
      <vt:lpstr>Traversing a string</vt:lpstr>
      <vt:lpstr>The in keyword</vt:lpstr>
      <vt:lpstr>Activity 1 – Is it a palindrome</vt:lpstr>
      <vt:lpstr>Activity 2 – 1337 speak translators</vt:lpstr>
      <vt:lpstr>Activity 2 – 1337 speak translators</vt:lpstr>
      <vt:lpstr>Activity 3 – Hangman</vt:lpstr>
      <vt:lpstr>Activity 3 – Hangman</vt:lpstr>
      <vt:lpstr>Boolean operations on strings</vt:lpstr>
      <vt:lpstr>Strings formatting with format()</vt:lpstr>
      <vt:lpstr>A quick word on F-strings</vt:lpstr>
      <vt:lpstr>Lists  Strings conversions</vt:lpstr>
      <vt:lpstr>Lists  Strings conversions</vt:lpstr>
      <vt:lpstr>Splitting a string into a list of strings</vt:lpstr>
      <vt:lpstr>Characters types check in strings</vt:lpstr>
      <vt:lpstr>Activity 4 - Create password from sentence</vt:lpstr>
      <vt:lpstr>Activity 5 – Password checker</vt:lpstr>
      <vt:lpstr>As usual, RTFM!</vt:lpstr>
      <vt:lpstr>The find() method</vt:lpstr>
      <vt:lpstr>Sorting strings and lists of strings</vt:lpstr>
      <vt:lpstr>Additional: functions, strip-cleaning a string</vt:lpstr>
      <vt:lpstr>Once more for those in the back</vt:lpstr>
      <vt:lpstr>Conclusion (Chapter 14)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ILP 2020 – W1S1 Syllabus, eDimension, and key concepts of programming</dc:title>
  <dc:creator>Matthieu De Mari</dc:creator>
  <cp:lastModifiedBy>Matthieu DE MARI</cp:lastModifiedBy>
  <cp:revision>789</cp:revision>
  <dcterms:created xsi:type="dcterms:W3CDTF">2020-05-19T08:08:47Z</dcterms:created>
  <dcterms:modified xsi:type="dcterms:W3CDTF">2025-09-02T05:41:30Z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2023-07-25T02:51:24Z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f72aecae-0043-4591-866e-41b7d259e453</vt:lpwstr>
  </property>
  <property fmtid="{D5CDD505-2E9C-101B-9397-08002B2CF9AE}" pid="8" name="MSIP_Label_be298231-ee28-4c9e-9ffa-238d0040efda_ContentBits">
    <vt:lpwstr>0</vt:lpwstr>
  </property>
</Properties>
</file>