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5"/>
  </p:notesMasterIdLst>
  <p:sldIdLst>
    <p:sldId id="388" r:id="rId2"/>
    <p:sldId id="370" r:id="rId3"/>
    <p:sldId id="279" r:id="rId4"/>
    <p:sldId id="275" r:id="rId5"/>
    <p:sldId id="280" r:id="rId6"/>
    <p:sldId id="281" r:id="rId7"/>
    <p:sldId id="282" r:id="rId8"/>
    <p:sldId id="283" r:id="rId9"/>
    <p:sldId id="284" r:id="rId10"/>
    <p:sldId id="286" r:id="rId11"/>
    <p:sldId id="288" r:id="rId12"/>
    <p:sldId id="287" r:id="rId13"/>
    <p:sldId id="289" r:id="rId14"/>
    <p:sldId id="290" r:id="rId15"/>
    <p:sldId id="324" r:id="rId16"/>
    <p:sldId id="276" r:id="rId17"/>
    <p:sldId id="294" r:id="rId18"/>
    <p:sldId id="293" r:id="rId19"/>
    <p:sldId id="291" r:id="rId20"/>
    <p:sldId id="295" r:id="rId21"/>
    <p:sldId id="296" r:id="rId22"/>
    <p:sldId id="297" r:id="rId23"/>
    <p:sldId id="299" r:id="rId24"/>
    <p:sldId id="298" r:id="rId25"/>
    <p:sldId id="301" r:id="rId26"/>
    <p:sldId id="302" r:id="rId27"/>
    <p:sldId id="303" r:id="rId28"/>
    <p:sldId id="326" r:id="rId29"/>
    <p:sldId id="305" r:id="rId30"/>
    <p:sldId id="308" r:id="rId31"/>
    <p:sldId id="309" r:id="rId32"/>
    <p:sldId id="277" r:id="rId33"/>
    <p:sldId id="311" r:id="rId34"/>
    <p:sldId id="313" r:id="rId35"/>
    <p:sldId id="312" r:id="rId36"/>
    <p:sldId id="278" r:id="rId37"/>
    <p:sldId id="316" r:id="rId38"/>
    <p:sldId id="318" r:id="rId39"/>
    <p:sldId id="317" r:id="rId40"/>
    <p:sldId id="320" r:id="rId41"/>
    <p:sldId id="321" r:id="rId42"/>
    <p:sldId id="322" r:id="rId43"/>
    <p:sldId id="389" r:id="rId4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61BF0B2F-DB36-44CE-8114-D60DFF170E92}">
          <p14:sldIdLst>
            <p14:sldId id="388"/>
            <p14:sldId id="370"/>
          </p14:sldIdLst>
        </p14:section>
        <p14:section name="Testing codes" id="{1837C2CE-0723-48C4-A03E-8295CAD66173}">
          <p14:sldIdLst>
            <p14:sldId id="279"/>
            <p14:sldId id="275"/>
            <p14:sldId id="280"/>
            <p14:sldId id="281"/>
            <p14:sldId id="282"/>
            <p14:sldId id="283"/>
            <p14:sldId id="284"/>
            <p14:sldId id="286"/>
            <p14:sldId id="288"/>
            <p14:sldId id="287"/>
            <p14:sldId id="289"/>
            <p14:sldId id="290"/>
            <p14:sldId id="324"/>
          </p14:sldIdLst>
        </p14:section>
        <p14:section name="Asserts" id="{1FB59CF1-96E8-438B-9039-89D3606D4473}">
          <p14:sldIdLst>
            <p14:sldId id="276"/>
            <p14:sldId id="294"/>
            <p14:sldId id="293"/>
            <p14:sldId id="291"/>
            <p14:sldId id="295"/>
          </p14:sldIdLst>
        </p14:section>
        <p14:section name="Asserting on types" id="{CF0AB253-D127-419E-AA00-2BF225FE413B}">
          <p14:sldIdLst>
            <p14:sldId id="296"/>
            <p14:sldId id="297"/>
            <p14:sldId id="299"/>
            <p14:sldId id="298"/>
            <p14:sldId id="301"/>
            <p14:sldId id="302"/>
            <p14:sldId id="303"/>
            <p14:sldId id="326"/>
            <p14:sldId id="305"/>
            <p14:sldId id="308"/>
            <p14:sldId id="309"/>
          </p14:sldIdLst>
        </p14:section>
        <p14:section name="Typical errors" id="{B92C4E91-D09B-48EB-BBE5-27760760EABB}">
          <p14:sldIdLst>
            <p14:sldId id="277"/>
            <p14:sldId id="311"/>
            <p14:sldId id="313"/>
            <p14:sldId id="312"/>
          </p14:sldIdLst>
        </p14:section>
        <p14:section name="Debugging practice" id="{EBCC9C68-6E55-4266-B86A-56AA4A7914A1}">
          <p14:sldIdLst>
            <p14:sldId id="278"/>
            <p14:sldId id="316"/>
            <p14:sldId id="318"/>
            <p14:sldId id="317"/>
            <p14:sldId id="320"/>
            <p14:sldId id="321"/>
            <p14:sldId id="322"/>
          </p14:sldIdLst>
        </p14:section>
        <p14:section name="Conclusion" id="{8FC5B4E0-8B82-44CE-8E2E-949C5DB81C7E}">
          <p14:sldIdLst>
            <p14:sldId id="38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533" autoAdjust="0"/>
    <p:restoredTop sz="94660"/>
  </p:normalViewPr>
  <p:slideViewPr>
    <p:cSldViewPr snapToGrid="0">
      <p:cViewPr varScale="1">
        <p:scale>
          <a:sx n="70" d="100"/>
          <a:sy n="70" d="100"/>
        </p:scale>
        <p:origin x="912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thieu De Mari" userId="dfb708c9-d8dc-439f-9a3b-c772bf4a311c" providerId="ADAL" clId="{EC20E82E-55AC-47EE-8B81-2787AC72A23D}"/>
    <pc:docChg chg="mod modSld">
      <pc:chgData name="Matthieu De Mari" userId="dfb708c9-d8dc-439f-9a3b-c772bf4a311c" providerId="ADAL" clId="{EC20E82E-55AC-47EE-8B81-2787AC72A23D}" dt="2023-08-03T04:22:17.710" v="8" actId="20577"/>
      <pc:docMkLst>
        <pc:docMk/>
      </pc:docMkLst>
      <pc:sldChg chg="modSp mod">
        <pc:chgData name="Matthieu De Mari" userId="dfb708c9-d8dc-439f-9a3b-c772bf4a311c" providerId="ADAL" clId="{EC20E82E-55AC-47EE-8B81-2787AC72A23D}" dt="2023-08-03T04:22:17.710" v="8" actId="20577"/>
        <pc:sldMkLst>
          <pc:docMk/>
          <pc:sldMk cId="3314370689" sldId="256"/>
        </pc:sldMkLst>
      </pc:sldChg>
      <pc:sldChg chg="modSp mod">
        <pc:chgData name="Matthieu De Mari" userId="dfb708c9-d8dc-439f-9a3b-c772bf4a311c" providerId="ADAL" clId="{EC20E82E-55AC-47EE-8B81-2787AC72A23D}" dt="2023-07-25T02:48:53.333" v="6" actId="20577"/>
        <pc:sldMkLst>
          <pc:docMk/>
          <pc:sldMk cId="2865792470" sldId="257"/>
        </pc:sldMkLst>
      </pc:sldChg>
    </pc:docChg>
  </pc:docChgLst>
  <pc:docChgLst>
    <pc:chgData name="Matthieu De Mari" userId="dfb708c9-d8dc-439f-9a3b-c772bf4a311c" providerId="ADAL" clId="{991D72E3-5218-4FAA-B2A6-C3C8D53375C4}"/>
    <pc:docChg chg="modSld">
      <pc:chgData name="Matthieu De Mari" userId="dfb708c9-d8dc-439f-9a3b-c772bf4a311c" providerId="ADAL" clId="{991D72E3-5218-4FAA-B2A6-C3C8D53375C4}" dt="2025-08-29T07:40:13.857" v="5" actId="20577"/>
      <pc:docMkLst>
        <pc:docMk/>
      </pc:docMkLst>
      <pc:sldChg chg="modSp mod">
        <pc:chgData name="Matthieu De Mari" userId="dfb708c9-d8dc-439f-9a3b-c772bf4a311c" providerId="ADAL" clId="{991D72E3-5218-4FAA-B2A6-C3C8D53375C4}" dt="2025-08-29T07:40:07.433" v="3" actId="20577"/>
        <pc:sldMkLst>
          <pc:docMk/>
          <pc:sldMk cId="109241041" sldId="370"/>
        </pc:sldMkLst>
        <pc:spChg chg="mod">
          <ac:chgData name="Matthieu De Mari" userId="dfb708c9-d8dc-439f-9a3b-c772bf4a311c" providerId="ADAL" clId="{991D72E3-5218-4FAA-B2A6-C3C8D53375C4}" dt="2025-08-29T07:40:07.433" v="3" actId="20577"/>
          <ac:spMkLst>
            <pc:docMk/>
            <pc:sldMk cId="109241041" sldId="370"/>
            <ac:spMk id="2" creationId="{F15BC776-F489-4F89-B9D1-64DFC920472A}"/>
          </ac:spMkLst>
        </pc:spChg>
      </pc:sldChg>
      <pc:sldChg chg="modSp mod">
        <pc:chgData name="Matthieu De Mari" userId="dfb708c9-d8dc-439f-9a3b-c772bf4a311c" providerId="ADAL" clId="{991D72E3-5218-4FAA-B2A6-C3C8D53375C4}" dt="2025-08-29T07:40:03.624" v="1" actId="20577"/>
        <pc:sldMkLst>
          <pc:docMk/>
          <pc:sldMk cId="2033612700" sldId="388"/>
        </pc:sldMkLst>
        <pc:spChg chg="mod">
          <ac:chgData name="Matthieu De Mari" userId="dfb708c9-d8dc-439f-9a3b-c772bf4a311c" providerId="ADAL" clId="{991D72E3-5218-4FAA-B2A6-C3C8D53375C4}" dt="2025-08-29T07:40:03.624" v="1" actId="20577"/>
          <ac:spMkLst>
            <pc:docMk/>
            <pc:sldMk cId="2033612700" sldId="388"/>
            <ac:spMk id="2" creationId="{D1A4800C-4604-46C3-8534-E496416410D8}"/>
          </ac:spMkLst>
        </pc:spChg>
      </pc:sldChg>
      <pc:sldChg chg="modSp mod">
        <pc:chgData name="Matthieu De Mari" userId="dfb708c9-d8dc-439f-9a3b-c772bf4a311c" providerId="ADAL" clId="{991D72E3-5218-4FAA-B2A6-C3C8D53375C4}" dt="2025-08-29T07:40:13.857" v="5" actId="20577"/>
        <pc:sldMkLst>
          <pc:docMk/>
          <pc:sldMk cId="1434690813" sldId="389"/>
        </pc:sldMkLst>
        <pc:spChg chg="mod">
          <ac:chgData name="Matthieu De Mari" userId="dfb708c9-d8dc-439f-9a3b-c772bf4a311c" providerId="ADAL" clId="{991D72E3-5218-4FAA-B2A6-C3C8D53375C4}" dt="2025-08-29T07:40:13.857" v="5" actId="20577"/>
          <ac:spMkLst>
            <pc:docMk/>
            <pc:sldMk cId="1434690813" sldId="389"/>
            <ac:spMk id="2" creationId="{F15BC776-F489-4F89-B9D1-64DFC920472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02C633-D211-40C3-887C-3CBAB2660441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32E642-F25B-493E-A2A1-636081A892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7086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2E642-F25B-493E-A2A1-636081A8920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6486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EC17A-674A-4C3F-BC30-BFBA08ABE4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F5FC8E-927A-465A-BBB8-B7B92B3C9F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0EB0EA-53CB-4CDA-B75C-3E2C0A58F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35705-BBCA-4556-ACDF-9B1720022F62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A7DCCC-6D71-4A4E-AEEE-0B2218F23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45B211-9797-446B-9E37-7716E2D79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868E6-E8D9-4E5C-8D88-3A8E4B062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6927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8D279-2F57-4FAF-AB35-927128639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90AB7B-BDD2-44C6-A0D1-49B2752750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74F15B-13DA-414B-AA9E-312EFCEC1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35705-BBCA-4556-ACDF-9B1720022F62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640AAF-93D5-4761-BABD-CA5844B68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15DF0-2325-4507-A975-10BD0ADEB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868E6-E8D9-4E5C-8D88-3A8E4B062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3694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40304-AE73-4302-87CC-24B0F632C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06D78E-EC4B-4813-8A1F-F2E52F342B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7BA979-9BB4-4289-9DB5-99722695E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35705-BBCA-4556-ACDF-9B1720022F62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DD1C4A-4B37-4BBF-8D8D-70C15BECC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98B3E8-97FD-4D5A-9E7F-094803E19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868E6-E8D9-4E5C-8D88-3A8E4B062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3294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579A6-32DF-4326-9558-98EBAD6F1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D0E257-587A-4977-8F41-AC11FABE05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BFC17D-7B18-4463-8AD1-02096A762F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1CB84B-1E02-4B58-B40A-9406EB7A3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35705-BBCA-4556-ACDF-9B1720022F62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98E644-3B10-48AC-B26F-53BB6C5E5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E4137B-E451-4550-AC5E-FDD5EF4A3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868E6-E8D9-4E5C-8D88-3A8E4B062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5544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34C46-E763-4454-A55C-4D073D796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418599-2549-42D4-AE6A-3AE6303DDC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EF7BEA-1052-47EE-8737-373B5B8A06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0484B2-0AA6-4BCD-A9C2-F9C52D16B0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A28E02-2399-4E06-958B-7F589C2322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D92E8A1-B60E-4D34-8808-9610FA62B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35705-BBCA-4556-ACDF-9B1720022F62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9BA7C6-C3AF-4002-9A64-8ECB2CF95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DD379B-4439-4262-993D-E8601E57D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868E6-E8D9-4E5C-8D88-3A8E4B062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5904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CA69B-B8CF-4606-A5D7-3544652F8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260713-AF76-4836-9359-28352216B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35705-BBCA-4556-ACDF-9B1720022F62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876BFC-C6C6-4391-96C0-036E3423C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E3CDA8-423E-4EBF-B090-31D689A9D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868E6-E8D9-4E5C-8D88-3A8E4B062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589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4F8BF8-883B-45CC-977C-3F5DE7B26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35705-BBCA-4556-ACDF-9B1720022F62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F6F30B-59C0-47FD-961E-565406508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F4EFC5-04B3-470E-A42E-0A939BE50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868E6-E8D9-4E5C-8D88-3A8E4B062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4863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EC26F-BC54-47EA-8422-7DDFC0F15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D9CE83-1B05-4B29-8D3C-E6D85F87F1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788935-BCA0-4009-B1D3-1BA39A4F30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39C54D-351E-4CB1-A9A9-1F8DA5306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35705-BBCA-4556-ACDF-9B1720022F62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A79FC4-2B2A-4D94-8376-6C5710486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4330FF-9589-4440-AE48-2C69F5A4B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868E6-E8D9-4E5C-8D88-3A8E4B062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6570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9373B-C9EC-4F6B-A67F-B51B01220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BBD4C5-42CF-4F3B-BB31-69B2FEE048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ABE619-7DBC-4F48-8E20-C4870284DC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24D82F-3C69-4C72-AC90-41D10B952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35705-BBCA-4556-ACDF-9B1720022F62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239B8B-B801-4287-A83C-8B7FBF03F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07A3F8-BBC8-4F62-A0AD-2511EE0A9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868E6-E8D9-4E5C-8D88-3A8E4B062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2657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671A0-F864-4A74-B2F3-7FBE77203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948ACD-F019-4406-9C30-2C5A770161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EEA5E0-D375-4F3F-9AD5-1441B5995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35705-BBCA-4556-ACDF-9B1720022F62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5CC4CD-9620-4676-9662-448832098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A3F1F2-AFC7-4EBE-B003-21CEE11A5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868E6-E8D9-4E5C-8D88-3A8E4B062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4474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A82569-1D65-4E5C-BD57-29B9DC19CE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D6F27E-5FB9-4CAB-8A03-0B351C4488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4FFC07-50E2-48CF-8AA1-5F9484122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35705-BBCA-4556-ACDF-9B1720022F62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B95BAE-CED5-43DE-82FA-5CA17A011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5DCF8A-5E6C-4D03-9E8B-B531C59FD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868E6-E8D9-4E5C-8D88-3A8E4B062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386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31D2B0-631C-48D1-9B72-3E71AD362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03816A-C1DA-4952-B535-751DF23114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3DAE84-914B-4B93-B507-4EDA527FA2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435705-BBCA-4556-ACDF-9B1720022F62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CD92ED-88E0-4D42-8630-3B50EDC3B1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073A48-E58F-431C-822F-923321606F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B868E6-E8D9-4E5C-8D88-3A8E4B062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330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hyperlink" Target="https://www.tutorialsteacher.com/python/error-types-in-python" TargetMode="Externa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4800C-4604-46C3-8534-E496416410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16310"/>
            <a:ext cx="12192000" cy="3897006"/>
          </a:xfrm>
        </p:spPr>
        <p:txBody>
          <a:bodyPr>
            <a:normAutofit fontScale="90000"/>
          </a:bodyPr>
          <a:lstStyle/>
          <a:p>
            <a:r>
              <a:rPr lang="en-US" dirty="0"/>
              <a:t>A gamified introduction to</a:t>
            </a:r>
            <a:br>
              <a:rPr lang="en-US" dirty="0"/>
            </a:br>
            <a:r>
              <a:rPr lang="en-US" dirty="0"/>
              <a:t>Python Programming</a:t>
            </a:r>
            <a:br>
              <a:rPr lang="en-US" dirty="0"/>
            </a:br>
            <a:br>
              <a:rPr lang="en-US" dirty="0"/>
            </a:br>
            <a:r>
              <a:rPr lang="en-US" dirty="0"/>
              <a:t>Lecture 11</a:t>
            </a:r>
            <a:br>
              <a:rPr lang="en-US" dirty="0"/>
            </a:br>
            <a:r>
              <a:rPr lang="en-US" dirty="0"/>
              <a:t>The art of Testing and Debugging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8C5E95-F1FD-4A67-A3DE-8055EE3B66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13316"/>
            <a:ext cx="9144000" cy="1655762"/>
          </a:xfrm>
        </p:spPr>
        <p:txBody>
          <a:bodyPr/>
          <a:lstStyle/>
          <a:p>
            <a:r>
              <a:rPr lang="en-US" dirty="0"/>
              <a:t>Matthieu DE MARI – Singapore University of Technology and Design</a:t>
            </a:r>
          </a:p>
        </p:txBody>
      </p:sp>
      <p:pic>
        <p:nvPicPr>
          <p:cNvPr id="4" name="Picture 3" descr="A picture containing drawing&#10;&#10;Description automatically generated">
            <a:extLst>
              <a:ext uri="{FF2B5EF4-FFF2-40B4-BE49-F238E27FC236}">
                <a16:creationId xmlns:a16="http://schemas.microsoft.com/office/drawing/2014/main" id="{9755DB92-2D71-489C-96BD-2993BB4CC9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4008" y="4995521"/>
            <a:ext cx="4443984" cy="1731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6127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BC776-F489-4F89-B9D1-64DFC9204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3734" y="406968"/>
            <a:ext cx="6798541" cy="837884"/>
          </a:xfrm>
        </p:spPr>
        <p:txBody>
          <a:bodyPr anchor="b">
            <a:normAutofit/>
          </a:bodyPr>
          <a:lstStyle/>
          <a:p>
            <a:r>
              <a:rPr lang="en-US" sz="4000" dirty="0"/>
              <a:t>Outline (Chapter 11)</a:t>
            </a:r>
          </a:p>
        </p:txBody>
      </p:sp>
      <p:pic>
        <p:nvPicPr>
          <p:cNvPr id="5" name="Picture 4" descr="Closeup of a keyboard">
            <a:extLst>
              <a:ext uri="{FF2B5EF4-FFF2-40B4-BE49-F238E27FC236}">
                <a16:creationId xmlns:a16="http://schemas.microsoft.com/office/drawing/2014/main" id="{943E5914-5549-6D68-0D39-CD2945350A4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164" r="40215" b="1"/>
          <a:stretch/>
        </p:blipFill>
        <p:spPr>
          <a:xfrm>
            <a:off x="1" y="10"/>
            <a:ext cx="4196496" cy="6857990"/>
          </a:xfrm>
          <a:prstGeom prst="rect">
            <a:avLst/>
          </a:prstGeom>
          <a:effectLst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F85463-414E-4F5F-96DD-C1BA37CF02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3734" y="1651819"/>
            <a:ext cx="7362963" cy="5004619"/>
          </a:xfrm>
        </p:spPr>
        <p:txBody>
          <a:bodyPr>
            <a:normAutofit/>
          </a:bodyPr>
          <a:lstStyle/>
          <a:p>
            <a:r>
              <a:rPr lang="en-US" dirty="0"/>
              <a:t>What is </a:t>
            </a:r>
            <a:r>
              <a:rPr lang="en-US" b="1" dirty="0"/>
              <a:t>testing</a:t>
            </a:r>
            <a:r>
              <a:rPr lang="en-US" dirty="0"/>
              <a:t> in programming?</a:t>
            </a:r>
          </a:p>
          <a:p>
            <a:r>
              <a:rPr lang="en-US" dirty="0"/>
              <a:t>What is a </a:t>
            </a:r>
            <a:r>
              <a:rPr lang="en-US" b="1" dirty="0"/>
              <a:t>unit test</a:t>
            </a:r>
            <a:r>
              <a:rPr lang="en-US" dirty="0"/>
              <a:t>?</a:t>
            </a:r>
          </a:p>
          <a:p>
            <a:r>
              <a:rPr lang="en-US" dirty="0"/>
              <a:t>What is the </a:t>
            </a:r>
            <a:r>
              <a:rPr lang="en-US" b="1" dirty="0"/>
              <a:t>assert </a:t>
            </a:r>
            <a:r>
              <a:rPr lang="en-US" dirty="0"/>
              <a:t>keyword? How is it related to </a:t>
            </a:r>
            <a:r>
              <a:rPr lang="en-US" b="1" dirty="0"/>
              <a:t>error messages</a:t>
            </a:r>
            <a:r>
              <a:rPr lang="en-US" dirty="0"/>
              <a:t>?</a:t>
            </a:r>
          </a:p>
          <a:p>
            <a:r>
              <a:rPr lang="en-US" dirty="0"/>
              <a:t>What is therefore the </a:t>
            </a:r>
            <a:r>
              <a:rPr lang="en-US" b="1" dirty="0"/>
              <a:t>right philosophy for programming and testing</a:t>
            </a:r>
            <a:r>
              <a:rPr lang="en-US" dirty="0"/>
              <a:t>?</a:t>
            </a:r>
          </a:p>
          <a:p>
            <a:r>
              <a:rPr lang="en-US" dirty="0"/>
              <a:t>What is an </a:t>
            </a:r>
            <a:r>
              <a:rPr lang="en-US" b="1" dirty="0"/>
              <a:t>integration test</a:t>
            </a:r>
            <a:r>
              <a:rPr lang="en-US" dirty="0"/>
              <a:t>?</a:t>
            </a:r>
          </a:p>
          <a:p>
            <a:r>
              <a:rPr lang="en-US" dirty="0"/>
              <a:t>What is </a:t>
            </a:r>
            <a:r>
              <a:rPr lang="en-US" b="1" dirty="0"/>
              <a:t>debugging</a:t>
            </a:r>
            <a:r>
              <a:rPr lang="en-US" dirty="0"/>
              <a:t>?</a:t>
            </a:r>
          </a:p>
          <a:p>
            <a:r>
              <a:rPr lang="en-US" dirty="0"/>
              <a:t>What are </a:t>
            </a:r>
            <a:r>
              <a:rPr lang="en-US" b="1" dirty="0"/>
              <a:t>good practices in debugging</a:t>
            </a:r>
            <a:r>
              <a:rPr lang="en-US" dirty="0"/>
              <a:t>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41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EED6F-3F05-4558-BE23-5009E8B47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Testing: a definition?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7194CA-E2CC-4404-8ABB-0F65BC7C76E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“Program testing can be used to show the presence of bugs, but never to show their absence!”</a:t>
            </a:r>
            <a:br>
              <a:rPr lang="en-US" dirty="0"/>
            </a:br>
            <a:r>
              <a:rPr lang="en-GB" dirty="0"/>
              <a:t>– </a:t>
            </a:r>
            <a:r>
              <a:rPr lang="en-GB" dirty="0" err="1"/>
              <a:t>Edsger</a:t>
            </a:r>
            <a:r>
              <a:rPr lang="en-GB" dirty="0"/>
              <a:t> W. Dijkstra</a:t>
            </a:r>
          </a:p>
        </p:txBody>
      </p:sp>
      <p:pic>
        <p:nvPicPr>
          <p:cNvPr id="6" name="Picture 5" descr="A person wearing glasses&#10;&#10;Description automatically generated">
            <a:extLst>
              <a:ext uri="{FF2B5EF4-FFF2-40B4-BE49-F238E27FC236}">
                <a16:creationId xmlns:a16="http://schemas.microsoft.com/office/drawing/2014/main" id="{EF2B9212-0513-48DB-BA79-F34324433F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2983" y="102478"/>
            <a:ext cx="2637158" cy="3516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56480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EED6F-3F05-4558-BE23-5009E8B47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Testing: a definition?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7194CA-E2CC-4404-8ABB-0F65BC7C76E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“Program testing can be used to show the presence of bugs, but never to show their absence!”</a:t>
            </a:r>
            <a:br>
              <a:rPr lang="en-US" dirty="0"/>
            </a:br>
            <a:r>
              <a:rPr lang="en-GB" dirty="0"/>
              <a:t>– </a:t>
            </a:r>
            <a:r>
              <a:rPr lang="en-GB" dirty="0" err="1"/>
              <a:t>Edsger</a:t>
            </a:r>
            <a:r>
              <a:rPr lang="en-GB" dirty="0"/>
              <a:t> W. Dijkstra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b="1" dirty="0"/>
              <a:t>FYI: </a:t>
            </a:r>
            <a:r>
              <a:rPr lang="en-GB" dirty="0"/>
              <a:t>Dijkstra is famous for his algorithm, used for path-finding in many applications (GPS, video games, etc.)</a:t>
            </a:r>
          </a:p>
        </p:txBody>
      </p:sp>
      <p:pic>
        <p:nvPicPr>
          <p:cNvPr id="8" name="Picture 7" descr="A picture containing game&#10;&#10;Description automatically generated">
            <a:extLst>
              <a:ext uri="{FF2B5EF4-FFF2-40B4-BE49-F238E27FC236}">
                <a16:creationId xmlns:a16="http://schemas.microsoft.com/office/drawing/2014/main" id="{0241E61E-CD05-4566-B9AF-D907A37D44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8202" y="461336"/>
            <a:ext cx="4155954" cy="259364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651BAA0-6C6B-C8DD-C508-D96B7263796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43" t="10865" r="28419" b="29888"/>
          <a:stretch/>
        </p:blipFill>
        <p:spPr>
          <a:xfrm>
            <a:off x="6816435" y="3429000"/>
            <a:ext cx="4999487" cy="325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0124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3A901-CB79-47C1-A3DD-84ED6AAD9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Testing: a definition?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45A109-236A-473D-B4A0-F09D94DD09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4"/>
            <a:ext cx="590673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0B050"/>
                </a:solidFill>
              </a:rPr>
              <a:t>Program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b="1" dirty="0">
                <a:solidFill>
                  <a:srgbClr val="00B050"/>
                </a:solidFill>
              </a:rPr>
              <a:t>testing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/>
              <a:t>is the </a:t>
            </a:r>
            <a:r>
              <a:rPr lang="en-US" b="1" dirty="0"/>
              <a:t>process of executing a program, with the objective of finding errors</a:t>
            </a:r>
            <a:r>
              <a:rPr lang="en-US" dirty="0"/>
              <a:t>.</a:t>
            </a:r>
          </a:p>
          <a:p>
            <a:r>
              <a:rPr lang="en-US" b="1" dirty="0">
                <a:solidFill>
                  <a:srgbClr val="00B050"/>
                </a:solidFill>
              </a:rPr>
              <a:t>Program testing </a:t>
            </a:r>
            <a:r>
              <a:rPr lang="en-US" b="1" u="sng" dirty="0"/>
              <a:t>cannot show the absence of errors</a:t>
            </a:r>
            <a:r>
              <a:rPr lang="en-US" dirty="0"/>
              <a:t>. It can only show if errors are present.</a:t>
            </a:r>
          </a:p>
          <a:p>
            <a:r>
              <a:rPr lang="en-US" b="1" dirty="0"/>
              <a:t>Test driven development: </a:t>
            </a:r>
            <a:r>
              <a:rPr lang="en-US" dirty="0"/>
              <a:t>It is often preferable to identify and write the tests before coding the program.</a:t>
            </a:r>
            <a:br>
              <a:rPr lang="en-US" dirty="0"/>
            </a:br>
            <a:r>
              <a:rPr lang="en-US" dirty="0"/>
              <a:t>This is something I have done for you on early activities, your job now!</a:t>
            </a: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3694B45-14E1-44A4-8719-6A28812D9B4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804" t="34468" r="57500" b="38014"/>
          <a:stretch/>
        </p:blipFill>
        <p:spPr>
          <a:xfrm>
            <a:off x="7089058" y="4010713"/>
            <a:ext cx="4920356" cy="2653984"/>
          </a:xfrm>
          <a:prstGeom prst="rect">
            <a:avLst/>
          </a:prstGeom>
        </p:spPr>
      </p:pic>
      <p:pic>
        <p:nvPicPr>
          <p:cNvPr id="10" name="Picture 9" descr="A picture containing object, drawing&#10;&#10;Description automatically generated">
            <a:extLst>
              <a:ext uri="{FF2B5EF4-FFF2-40B4-BE49-F238E27FC236}">
                <a16:creationId xmlns:a16="http://schemas.microsoft.com/office/drawing/2014/main" id="{307AFC33-33B7-41D7-AB8E-6EF91483262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14" r="17900"/>
          <a:stretch/>
        </p:blipFill>
        <p:spPr>
          <a:xfrm>
            <a:off x="7089058" y="193303"/>
            <a:ext cx="4090219" cy="3534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2822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61FE9-F628-4C31-90D1-22DDB19B9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Limits of testing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EE42F0-81BA-41AC-96BC-DCFF5E3015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933394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Issue #1: </a:t>
            </a:r>
            <a:r>
              <a:rPr lang="en-US" dirty="0"/>
              <a:t>Program testing cannot show the absence of errors. It can only show if errors are present.</a:t>
            </a:r>
          </a:p>
          <a:p>
            <a:r>
              <a:rPr lang="en-US" b="1" dirty="0"/>
              <a:t>Issue #2:</a:t>
            </a:r>
            <a:r>
              <a:rPr lang="en-US" dirty="0"/>
              <a:t> In the ideal world, all possible paths through a programs should be tested.</a:t>
            </a:r>
          </a:p>
          <a:p>
            <a:r>
              <a:rPr lang="en-US" dirty="0"/>
              <a:t>But it is often impossible.</a:t>
            </a:r>
          </a:p>
          <a:p>
            <a:pPr lvl="1"/>
            <a:r>
              <a:rPr lang="en-US" dirty="0"/>
              <a:t>E.g., I can test all squares of an 8x8 grid, because there is a finite number of them.</a:t>
            </a:r>
          </a:p>
          <a:p>
            <a:pPr lvl="1"/>
            <a:r>
              <a:rPr lang="en-US" dirty="0"/>
              <a:t>But I cannot test all possible integers, lists of integers, etc. </a:t>
            </a:r>
            <a:endParaRPr lang="en-GB" dirty="0"/>
          </a:p>
        </p:txBody>
      </p:sp>
      <p:pic>
        <p:nvPicPr>
          <p:cNvPr id="5" name="Picture 4" descr="A picture containing object, drawing&#10;&#10;Description automatically generated">
            <a:extLst>
              <a:ext uri="{FF2B5EF4-FFF2-40B4-BE49-F238E27FC236}">
                <a16:creationId xmlns:a16="http://schemas.microsoft.com/office/drawing/2014/main" id="{E4E446F7-09C7-4654-8458-F590588D57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8594" y="252479"/>
            <a:ext cx="5593406" cy="314629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3A5C4D0-EF7A-4198-9A34-9814BB71FD8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481" t="40709" r="34974" b="7746"/>
          <a:stretch/>
        </p:blipFill>
        <p:spPr>
          <a:xfrm>
            <a:off x="6517532" y="3688624"/>
            <a:ext cx="5593405" cy="3146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20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A885F-58C7-41BF-A237-A138A9BE7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Unit testing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6DD14-9E2B-4372-8D8F-F71C8377C7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Definition (</a:t>
            </a:r>
            <a:r>
              <a:rPr lang="en-US" b="1" dirty="0">
                <a:solidFill>
                  <a:srgbClr val="00B050"/>
                </a:solidFill>
              </a:rPr>
              <a:t>Unit testing</a:t>
            </a:r>
            <a:r>
              <a:rPr lang="en-US" b="1" dirty="0"/>
              <a:t>): </a:t>
            </a:r>
            <a:r>
              <a:rPr lang="en-US" b="1" dirty="0">
                <a:solidFill>
                  <a:srgbClr val="00B050"/>
                </a:solidFill>
              </a:rPr>
              <a:t>Unit tests </a:t>
            </a:r>
            <a:r>
              <a:rPr lang="en-US" dirty="0"/>
              <a:t>are</a:t>
            </a:r>
            <a:r>
              <a:rPr lang="en-US" b="1" dirty="0"/>
              <a:t> </a:t>
            </a:r>
            <a:r>
              <a:rPr lang="en-US" dirty="0"/>
              <a:t>test cases, whose objective is to verify that a </a:t>
            </a:r>
            <a:r>
              <a:rPr lang="en-US" b="1" dirty="0"/>
              <a:t>single</a:t>
            </a:r>
            <a:r>
              <a:rPr lang="en-US" dirty="0"/>
              <a:t> function is able to operate as expected, on a specifically identified use case.</a:t>
            </a:r>
          </a:p>
          <a:p>
            <a:r>
              <a:rPr lang="en-US" dirty="0"/>
              <a:t>Often a good idea to start simple, and progressively look for more complex/special cases.</a:t>
            </a:r>
          </a:p>
          <a:p>
            <a:r>
              <a:rPr lang="en-US" dirty="0"/>
              <a:t>Let us demonstrate on the next slides.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049554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BF40DA8-E77E-4C93-8035-77AA47CB19F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723" t="33901" r="41915" b="16028"/>
          <a:stretch/>
        </p:blipFill>
        <p:spPr>
          <a:xfrm>
            <a:off x="1149484" y="190027"/>
            <a:ext cx="9893032" cy="6281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1013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260F938-69CC-4DC3-B63E-AD15A154B18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918" t="30241" r="38067" b="11203"/>
          <a:stretch/>
        </p:blipFill>
        <p:spPr>
          <a:xfrm>
            <a:off x="1244338" y="166551"/>
            <a:ext cx="9511645" cy="6524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0669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3940D7B-C518-4588-B095-B86179D2621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840" t="30653" r="21521" b="9828"/>
          <a:stretch/>
        </p:blipFill>
        <p:spPr>
          <a:xfrm>
            <a:off x="253648" y="402996"/>
            <a:ext cx="11684703" cy="6052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8182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A885F-58C7-41BF-A237-A138A9BE7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Unit testing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6DD14-9E2B-4372-8D8F-F71C8377C7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Definition (</a:t>
            </a:r>
            <a:r>
              <a:rPr lang="en-US" b="1" dirty="0">
                <a:solidFill>
                  <a:srgbClr val="00B050"/>
                </a:solidFill>
              </a:rPr>
              <a:t>Unit testing</a:t>
            </a:r>
            <a:r>
              <a:rPr lang="en-US" b="1" dirty="0"/>
              <a:t>): </a:t>
            </a:r>
            <a:r>
              <a:rPr lang="en-US" b="1" dirty="0">
                <a:solidFill>
                  <a:srgbClr val="00B050"/>
                </a:solidFill>
              </a:rPr>
              <a:t>Unit tests </a:t>
            </a:r>
            <a:r>
              <a:rPr lang="en-US" dirty="0"/>
              <a:t>are</a:t>
            </a:r>
            <a:r>
              <a:rPr lang="en-US" b="1" dirty="0"/>
              <a:t> </a:t>
            </a:r>
            <a:r>
              <a:rPr lang="en-US" dirty="0"/>
              <a:t>test cases, whose objective is to verify that a </a:t>
            </a:r>
            <a:r>
              <a:rPr lang="en-US" b="1" dirty="0"/>
              <a:t>single</a:t>
            </a:r>
            <a:r>
              <a:rPr lang="en-US" dirty="0"/>
              <a:t> function is able to operate as expected, on a specifically identified use case.</a:t>
            </a:r>
          </a:p>
          <a:p>
            <a:r>
              <a:rPr lang="en-US" dirty="0"/>
              <a:t>Often a good idea to start simple, and progressively look for more complex/special cases.</a:t>
            </a:r>
          </a:p>
          <a:p>
            <a:r>
              <a:rPr lang="en-US" dirty="0"/>
              <a:t>Let us demonstrate on the next slides.</a:t>
            </a:r>
            <a:endParaRPr lang="en-GB" dirty="0"/>
          </a:p>
          <a:p>
            <a:endParaRPr lang="en-US" dirty="0"/>
          </a:p>
          <a:p>
            <a:r>
              <a:rPr lang="en-US" dirty="0"/>
              <a:t>Whenever a test case is identified as not working, </a:t>
            </a:r>
            <a:r>
              <a:rPr lang="en-US" b="1" dirty="0"/>
              <a:t>amend</a:t>
            </a:r>
            <a:r>
              <a:rPr lang="en-US" dirty="0"/>
              <a:t> the function to cover for this special case if needed.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072886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E149242-5F86-4B9F-BD49-560C501B861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917" t="33127" r="41393" b="5704"/>
          <a:stretch/>
        </p:blipFill>
        <p:spPr>
          <a:xfrm>
            <a:off x="1783236" y="-1"/>
            <a:ext cx="8693421" cy="669303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8D8E3C6-18FD-46DD-A397-2BD9304F0480}"/>
              </a:ext>
            </a:extLst>
          </p:cNvPr>
          <p:cNvSpPr/>
          <p:nvPr/>
        </p:nvSpPr>
        <p:spPr>
          <a:xfrm>
            <a:off x="3094892" y="781538"/>
            <a:ext cx="7313872" cy="1062893"/>
          </a:xfrm>
          <a:prstGeom prst="rect">
            <a:avLst/>
          </a:prstGeom>
          <a:noFill/>
          <a:ln w="38100">
            <a:solidFill>
              <a:srgbClr val="7030A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76762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A885F-58C7-41BF-A237-A138A9BE7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Unit testing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6DD14-9E2B-4372-8D8F-F71C8377C7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Definition (</a:t>
            </a:r>
            <a:r>
              <a:rPr lang="en-US" b="1" dirty="0">
                <a:solidFill>
                  <a:srgbClr val="00B050"/>
                </a:solidFill>
              </a:rPr>
              <a:t>Unit testing</a:t>
            </a:r>
            <a:r>
              <a:rPr lang="en-US" b="1" dirty="0"/>
              <a:t>): </a:t>
            </a:r>
            <a:r>
              <a:rPr lang="en-US" b="1" dirty="0">
                <a:solidFill>
                  <a:srgbClr val="00B050"/>
                </a:solidFill>
              </a:rPr>
              <a:t>Unit tests </a:t>
            </a:r>
            <a:r>
              <a:rPr lang="en-US" dirty="0"/>
              <a:t>are</a:t>
            </a:r>
            <a:r>
              <a:rPr lang="en-US" b="1" dirty="0"/>
              <a:t> </a:t>
            </a:r>
            <a:r>
              <a:rPr lang="en-US" dirty="0"/>
              <a:t>test cases, whose objective is to verify that a </a:t>
            </a:r>
            <a:r>
              <a:rPr lang="en-US" b="1" dirty="0"/>
              <a:t>single</a:t>
            </a:r>
            <a:r>
              <a:rPr lang="en-US" dirty="0"/>
              <a:t> function is able to operate as expected, on a specifically identified use case.</a:t>
            </a:r>
          </a:p>
          <a:p>
            <a:r>
              <a:rPr lang="en-US" dirty="0"/>
              <a:t>Often a good idea to start simple, and progressively look for more complex/special cases.</a:t>
            </a:r>
          </a:p>
          <a:p>
            <a:r>
              <a:rPr lang="en-US" dirty="0"/>
              <a:t>Let us demonstrate on the next slides.</a:t>
            </a:r>
            <a:endParaRPr lang="en-GB" dirty="0"/>
          </a:p>
          <a:p>
            <a:endParaRPr lang="en-US" dirty="0"/>
          </a:p>
          <a:p>
            <a:r>
              <a:rPr lang="en-US" dirty="0"/>
              <a:t>Whenever a test case is identified as not working, </a:t>
            </a:r>
            <a:r>
              <a:rPr lang="en-US" b="1" dirty="0"/>
              <a:t>amend</a:t>
            </a:r>
            <a:r>
              <a:rPr lang="en-US" dirty="0"/>
              <a:t> the function to cover for this special case if needed.</a:t>
            </a:r>
          </a:p>
          <a:p>
            <a:r>
              <a:rPr lang="en-US" dirty="0"/>
              <a:t>Unit testing is a </a:t>
            </a:r>
            <a:r>
              <a:rPr lang="en-US" b="1" dirty="0"/>
              <a:t>cat-and-mouse game!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29680556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6EC182-78BB-48A8-93D9-EE222DE076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But ultimately, unit testing is never enough.</a:t>
            </a:r>
          </a:p>
          <a:p>
            <a:r>
              <a:rPr lang="en-US" dirty="0"/>
              <a:t>It is a never-ending task, as it will never be able to cover for all possible ways to break our function.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7E6F50-D931-45A9-9D8C-99255003005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804" t="37872" r="47658" b="36029"/>
          <a:stretch/>
        </p:blipFill>
        <p:spPr>
          <a:xfrm>
            <a:off x="1781783" y="3429000"/>
            <a:ext cx="8628434" cy="3287023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5E8A01E1-3C33-47FB-9926-FC6D5130B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Unit testing is essential…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58741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person, indoor, person, person&#10;&#10;Description automatically generated">
            <a:extLst>
              <a:ext uri="{FF2B5EF4-FFF2-40B4-BE49-F238E27FC236}">
                <a16:creationId xmlns:a16="http://schemas.microsoft.com/office/drawing/2014/main" id="{4ACEABDD-A770-478E-874C-67E81D49C1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823" y="1945433"/>
            <a:ext cx="5986864" cy="4572000"/>
          </a:xfrm>
          <a:prstGeom prst="rect">
            <a:avLst/>
          </a:prstGeom>
        </p:spPr>
      </p:pic>
      <p:pic>
        <p:nvPicPr>
          <p:cNvPr id="7" name="Picture 6" descr="A group of people around each other&#10;&#10;Description automatically generated">
            <a:extLst>
              <a:ext uri="{FF2B5EF4-FFF2-40B4-BE49-F238E27FC236}">
                <a16:creationId xmlns:a16="http://schemas.microsoft.com/office/drawing/2014/main" id="{A0785766-BE0B-49BE-9955-07601B9B66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4252" y="1945433"/>
            <a:ext cx="5114925" cy="4572000"/>
          </a:xfrm>
          <a:prstGeom prst="rect">
            <a:avLst/>
          </a:prstGeom>
        </p:spPr>
      </p:pic>
      <p:sp>
        <p:nvSpPr>
          <p:cNvPr id="8" name="Title 4">
            <a:extLst>
              <a:ext uri="{FF2B5EF4-FFF2-40B4-BE49-F238E27FC236}">
                <a16:creationId xmlns:a16="http://schemas.microsoft.com/office/drawing/2014/main" id="{E0DB6C4F-92D2-4EC7-AF2B-ADF3EA35B1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Finding the right balance?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481669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AFB17-BCED-4BE4-988C-48AA6CF22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Assertion testing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8686A2-E217-4118-A8A4-B006AA1054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In some (stupid) cases, the function should simply refuse to operate.</a:t>
            </a:r>
            <a:endParaRPr lang="en-US" dirty="0"/>
          </a:p>
          <a:p>
            <a:r>
              <a:rPr lang="en-US" dirty="0"/>
              <a:t>It would sometimes be preferable if our function could check that it is indeed being used in an “acceptable” or “normal” setting.</a:t>
            </a:r>
          </a:p>
          <a:p>
            <a:r>
              <a:rPr lang="en-US" dirty="0"/>
              <a:t>When not, it should raise error messages to inform the user that he/she is misusing the function, if so.</a:t>
            </a:r>
          </a:p>
          <a:p>
            <a:r>
              <a:rPr lang="en-US" dirty="0"/>
              <a:t>That is something easily done with the </a:t>
            </a:r>
            <a:r>
              <a:rPr lang="en-US" b="1" dirty="0">
                <a:solidFill>
                  <a:srgbClr val="00B050"/>
                </a:solidFill>
              </a:rPr>
              <a:t>assert</a:t>
            </a:r>
            <a:r>
              <a:rPr lang="en-US" b="1" dirty="0"/>
              <a:t> keyword</a:t>
            </a:r>
            <a:r>
              <a:rPr lang="en-US" dirty="0"/>
              <a:t>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450307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1FDB0-DA31-41C6-9892-EB134A5F3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b="1" dirty="0">
                <a:solidFill>
                  <a:srgbClr val="00B050"/>
                </a:solidFill>
              </a:rPr>
              <a:t>assert</a:t>
            </a:r>
            <a:r>
              <a:rPr lang="en-US" dirty="0"/>
              <a:t> Keyword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3947CB-0C29-461E-A287-1E30C32F63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Definition (the </a:t>
            </a:r>
            <a:r>
              <a:rPr lang="en-US" b="1" dirty="0">
                <a:solidFill>
                  <a:srgbClr val="00B050"/>
                </a:solidFill>
              </a:rPr>
              <a:t>assert</a:t>
            </a:r>
            <a:r>
              <a:rPr lang="en-US" b="1" dirty="0"/>
              <a:t> keyword):</a:t>
            </a:r>
            <a:r>
              <a:rPr lang="en-US" dirty="0"/>
              <a:t> The </a:t>
            </a:r>
            <a:r>
              <a:rPr lang="en-US" b="1" dirty="0">
                <a:solidFill>
                  <a:srgbClr val="00B050"/>
                </a:solidFill>
              </a:rPr>
              <a:t>assert</a:t>
            </a:r>
            <a:r>
              <a:rPr lang="en-US" dirty="0"/>
              <a:t> </a:t>
            </a:r>
            <a:r>
              <a:rPr lang="en-US" b="1" dirty="0"/>
              <a:t>keyword</a:t>
            </a:r>
            <a:r>
              <a:rPr lang="en-US" dirty="0"/>
              <a:t> is used for assertion testing. It is the most basic error control structure, whose objective is to verify that a function/program is being used in its intended purpose/configuration.</a:t>
            </a:r>
          </a:p>
          <a:p>
            <a:r>
              <a:rPr lang="en-US" dirty="0"/>
              <a:t>It receives a Boolean and a message in string format.</a:t>
            </a:r>
          </a:p>
          <a:p>
            <a:r>
              <a:rPr lang="en-US" dirty="0"/>
              <a:t>If the Boolean is </a:t>
            </a:r>
            <a:r>
              <a:rPr lang="en-US" b="1" dirty="0">
                <a:solidFill>
                  <a:srgbClr val="00B050"/>
                </a:solidFill>
              </a:rPr>
              <a:t>True</a:t>
            </a:r>
            <a:r>
              <a:rPr lang="en-US" dirty="0"/>
              <a:t>, </a:t>
            </a:r>
            <a:r>
              <a:rPr lang="en-US" b="1" dirty="0"/>
              <a:t>nothing happens</a:t>
            </a:r>
            <a:r>
              <a:rPr lang="en-US" dirty="0"/>
              <a:t>.</a:t>
            </a:r>
          </a:p>
          <a:p>
            <a:r>
              <a:rPr lang="en-US" dirty="0"/>
              <a:t>If </a:t>
            </a:r>
            <a:r>
              <a:rPr lang="en-US" b="1" dirty="0">
                <a:solidFill>
                  <a:srgbClr val="00B050"/>
                </a:solidFill>
              </a:rPr>
              <a:t>False</a:t>
            </a:r>
            <a:r>
              <a:rPr lang="en-US" dirty="0"/>
              <a:t>, the program </a:t>
            </a:r>
            <a:r>
              <a:rPr lang="en-US" b="1" dirty="0"/>
              <a:t>crashes on purpose </a:t>
            </a:r>
            <a:r>
              <a:rPr lang="en-US" dirty="0"/>
              <a:t>and the </a:t>
            </a:r>
            <a:r>
              <a:rPr lang="en-US" b="1" dirty="0"/>
              <a:t>message is displayed as an error</a:t>
            </a:r>
            <a:r>
              <a:rPr lang="en-US" dirty="0"/>
              <a:t>.</a:t>
            </a:r>
          </a:p>
          <a:p>
            <a:endParaRPr lang="en-US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624218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1FDB0-DA31-41C6-9892-EB134A5F3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b="1" dirty="0">
                <a:solidFill>
                  <a:srgbClr val="00B050"/>
                </a:solidFill>
              </a:rPr>
              <a:t>assert</a:t>
            </a:r>
            <a:r>
              <a:rPr lang="en-US" dirty="0"/>
              <a:t> Keyword</a:t>
            </a: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3AC21D2-C304-4CC8-B84C-65083B290B5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841" t="31478" r="16726" b="16564"/>
          <a:stretch/>
        </p:blipFill>
        <p:spPr>
          <a:xfrm>
            <a:off x="189583" y="1615625"/>
            <a:ext cx="11793457" cy="4964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6474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AFB17-BCED-4BE4-988C-48AA6CF22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Assertions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8686A2-E217-4118-A8A4-B006AA1054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some (stupid) cases, the function should simply refuse to operate.</a:t>
            </a:r>
          </a:p>
          <a:p>
            <a:endParaRPr lang="en-US" dirty="0"/>
          </a:p>
          <a:p>
            <a:r>
              <a:rPr lang="en-US" dirty="0"/>
              <a:t>Instead, it should check that the function is indeed being used in its “normal” setting.</a:t>
            </a:r>
          </a:p>
          <a:p>
            <a:r>
              <a:rPr lang="en-US" dirty="0"/>
              <a:t>And raise error messages to inform the user that he/she is misusing this function, if so.</a:t>
            </a:r>
          </a:p>
          <a:p>
            <a:endParaRPr lang="en-US" dirty="0"/>
          </a:p>
          <a:p>
            <a:r>
              <a:rPr lang="en-US" dirty="0"/>
              <a:t>That is called assertion testing.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FBFBF2-58AF-4663-8FA7-EA1C222A655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643" t="33049" r="8404" b="11490"/>
          <a:stretch/>
        </p:blipFill>
        <p:spPr>
          <a:xfrm>
            <a:off x="224524" y="1690688"/>
            <a:ext cx="11696333" cy="4680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656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581D0-1A4D-4041-979B-8B943250B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b="1" dirty="0">
                <a:solidFill>
                  <a:srgbClr val="00B050"/>
                </a:solidFill>
              </a:rPr>
              <a:t>assert</a:t>
            </a:r>
            <a:r>
              <a:rPr lang="en-US" dirty="0"/>
              <a:t> Keyword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3F746-C5A1-4CD5-88FF-8C0A15FB23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Definition (the </a:t>
            </a:r>
            <a:r>
              <a:rPr lang="en-US" b="1" dirty="0">
                <a:solidFill>
                  <a:srgbClr val="00B050"/>
                </a:solidFill>
              </a:rPr>
              <a:t>assert</a:t>
            </a:r>
            <a:r>
              <a:rPr lang="en-US" b="1" dirty="0"/>
              <a:t> keyword):</a:t>
            </a:r>
            <a:r>
              <a:rPr lang="en-US" dirty="0"/>
              <a:t> The </a:t>
            </a:r>
            <a:r>
              <a:rPr lang="en-US" b="1" dirty="0">
                <a:solidFill>
                  <a:srgbClr val="00B050"/>
                </a:solidFill>
              </a:rPr>
              <a:t>assert</a:t>
            </a:r>
            <a:r>
              <a:rPr lang="en-US" dirty="0"/>
              <a:t> </a:t>
            </a:r>
            <a:r>
              <a:rPr lang="en-US" b="1" dirty="0"/>
              <a:t>keyword</a:t>
            </a:r>
            <a:r>
              <a:rPr lang="en-US" dirty="0"/>
              <a:t> is used for assertion testing. It is the most basic error control structure, whose objective is to verify that a function/program is being used in its intended purpose/configuration.</a:t>
            </a:r>
          </a:p>
          <a:p>
            <a:pPr marL="0" indent="0">
              <a:buNone/>
            </a:pPr>
            <a:r>
              <a:rPr lang="en-GB" dirty="0"/>
              <a:t>Typically, </a:t>
            </a:r>
            <a:r>
              <a:rPr lang="en-GB" b="1" dirty="0">
                <a:solidFill>
                  <a:srgbClr val="00B050"/>
                </a:solidFill>
              </a:rPr>
              <a:t>assert</a:t>
            </a:r>
            <a:r>
              <a:rPr lang="en-GB" dirty="0"/>
              <a:t> can be used to check</a:t>
            </a:r>
          </a:p>
          <a:p>
            <a:pPr lvl="1"/>
            <a:r>
              <a:rPr lang="en-GB" sz="2800" dirty="0"/>
              <a:t>That a user entered digits only, when prompted with input(),</a:t>
            </a:r>
          </a:p>
          <a:p>
            <a:pPr lvl="1"/>
            <a:r>
              <a:rPr lang="en-GB" sz="2800" dirty="0"/>
              <a:t>Mathematical functions are used with numerical types variables,</a:t>
            </a:r>
          </a:p>
          <a:p>
            <a:pPr lvl="1"/>
            <a:r>
              <a:rPr lang="en-GB" sz="2800" dirty="0"/>
              <a:t>Etc.</a:t>
            </a:r>
          </a:p>
        </p:txBody>
      </p:sp>
    </p:spTree>
    <p:extLst>
      <p:ext uri="{BB962C8B-B14F-4D97-AF65-F5344CB8AC3E}">
        <p14:creationId xmlns:p14="http://schemas.microsoft.com/office/powerpoint/2010/main" val="1792935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0ABFE-30FD-4DFD-AB31-1F4ACC303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Asserting on types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A58D6B-3D35-4FAC-A4EB-1645BF46D7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Definition (type checking):</a:t>
            </a:r>
            <a:br>
              <a:rPr lang="en-US" b="1" dirty="0"/>
            </a:br>
            <a:r>
              <a:rPr lang="en-US" dirty="0"/>
              <a:t>Another interesting function is the </a:t>
            </a:r>
            <a:r>
              <a:rPr lang="en-US" b="1" dirty="0" err="1">
                <a:solidFill>
                  <a:srgbClr val="00B050"/>
                </a:solidFill>
              </a:rPr>
              <a:t>isinstance</a:t>
            </a:r>
            <a:r>
              <a:rPr lang="en-US" b="1" dirty="0"/>
              <a:t>()</a:t>
            </a:r>
            <a:r>
              <a:rPr lang="en-US" dirty="0"/>
              <a:t> one, which is used for </a:t>
            </a:r>
            <a:r>
              <a:rPr lang="en-US" b="1" dirty="0"/>
              <a:t>type checking</a:t>
            </a:r>
            <a:r>
              <a:rPr lang="en-US" dirty="0"/>
              <a:t>.</a:t>
            </a:r>
          </a:p>
          <a:p>
            <a:r>
              <a:rPr lang="en-US" dirty="0"/>
              <a:t>It receives two arguments.</a:t>
            </a:r>
          </a:p>
          <a:p>
            <a:r>
              <a:rPr lang="en-US" dirty="0"/>
              <a:t>The first one is a variable,</a:t>
            </a:r>
          </a:p>
          <a:p>
            <a:r>
              <a:rPr lang="en-US" dirty="0"/>
              <a:t>The second a type (int, float, str, list, etc.)</a:t>
            </a:r>
          </a:p>
          <a:p>
            <a:r>
              <a:rPr lang="en-US" dirty="0"/>
              <a:t>It returns </a:t>
            </a:r>
            <a:r>
              <a:rPr lang="en-US" b="1" dirty="0">
                <a:solidFill>
                  <a:srgbClr val="00B050"/>
                </a:solidFill>
              </a:rPr>
              <a:t>True</a:t>
            </a:r>
            <a:r>
              <a:rPr lang="en-US" dirty="0"/>
              <a:t>, if the variable is of said type and </a:t>
            </a:r>
            <a:r>
              <a:rPr lang="en-US" b="1" dirty="0">
                <a:solidFill>
                  <a:srgbClr val="00B050"/>
                </a:solidFill>
              </a:rPr>
              <a:t>False</a:t>
            </a:r>
            <a:r>
              <a:rPr lang="en-US" dirty="0"/>
              <a:t> otherwise.</a:t>
            </a: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437E3E8-644B-41AB-BF56-AD9487287D6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763" t="56632" r="47345" b="17388"/>
          <a:stretch/>
        </p:blipFill>
        <p:spPr>
          <a:xfrm>
            <a:off x="6172202" y="2316636"/>
            <a:ext cx="5920832" cy="2224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1093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E4B71-D73B-467C-B5FC-B9F442819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application example: our sqrt function</a:t>
            </a:r>
            <a:endParaRPr lang="en-GB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CF3051-5ADC-4841-81D5-E8F2A810218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875" t="27102" r="71684" b="28571"/>
          <a:stretch/>
        </p:blipFill>
        <p:spPr>
          <a:xfrm>
            <a:off x="2171700" y="1578721"/>
            <a:ext cx="7848600" cy="5070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6697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E4B71-D73B-467C-B5FC-B9F442819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application example: our sqrt function</a:t>
            </a:r>
            <a:endParaRPr lang="en-GB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996475-C6E6-4BB1-B10F-5C863DD33E0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840" t="43986" r="19897" b="38161"/>
          <a:stretch/>
        </p:blipFill>
        <p:spPr>
          <a:xfrm>
            <a:off x="376286" y="1794382"/>
            <a:ext cx="11609949" cy="1759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40332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E4B71-D73B-467C-B5FC-B9F442819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application example: our sqrt function</a:t>
            </a:r>
            <a:endParaRPr lang="en-GB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996475-C6E6-4BB1-B10F-5C863DD33E0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840" t="43986" r="19897" b="22474"/>
          <a:stretch/>
        </p:blipFill>
        <p:spPr>
          <a:xfrm>
            <a:off x="376286" y="1794382"/>
            <a:ext cx="11609949" cy="3305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1962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E4B71-D73B-467C-B5FC-B9F442819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application example: our sqrt function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D0623B-B41A-4736-9701-A2FFB0FEAF5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762" t="33541" r="15799" b="11889"/>
          <a:stretch/>
        </p:blipFill>
        <p:spPr>
          <a:xfrm>
            <a:off x="546754" y="1557779"/>
            <a:ext cx="11324617" cy="4935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2703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E4B71-D73B-467C-B5FC-B9F442819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application example: our sqrt function</a:t>
            </a:r>
            <a:endParaRPr lang="en-GB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E9D53F9-620F-4486-922D-B0E60FC8628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840" t="32851" r="16804" b="12441"/>
          <a:stretch/>
        </p:blipFill>
        <p:spPr>
          <a:xfrm>
            <a:off x="565608" y="1461153"/>
            <a:ext cx="11340336" cy="5031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18524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E4B71-D73B-467C-B5FC-B9F442819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application example: our sqrt function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033047-2A13-4195-8FA4-E4945E31BCD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712" t="28591" r="25541" b="5324"/>
          <a:stretch/>
        </p:blipFill>
        <p:spPr>
          <a:xfrm>
            <a:off x="838200" y="188641"/>
            <a:ext cx="9719036" cy="6480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77559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0ABFE-30FD-4DFD-AB31-1F4ACC303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makes a good function?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A58D6B-3D35-4FAC-A4EB-1645BF46D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961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Definition (what makes a good function):</a:t>
            </a:r>
            <a:endParaRPr lang="en-US" dirty="0"/>
          </a:p>
          <a:p>
            <a:pPr marL="0" indent="0">
              <a:buNone/>
            </a:pPr>
            <a:r>
              <a:rPr lang="en-GB" dirty="0"/>
              <a:t>We can define a good function as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A function that is able to operate on any of its “normal” test cases (strictly positive numbers for sqrt)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A function that is able to cover for special cases (empty lists, division by zero, etc.)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A function that raises explicative errors, if it is misused by the user (wrong variable type, not implemented feature, etc.)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(A function that produces results as fast as possible)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25243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0ABFE-30FD-4DFD-AB31-1F4ACC303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makes a good function?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A58D6B-3D35-4FAC-A4EB-1645BF46D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961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Definition (what makes a good function):</a:t>
            </a:r>
            <a:endParaRPr lang="en-US" dirty="0"/>
          </a:p>
          <a:p>
            <a:pPr marL="0" indent="0">
              <a:buNone/>
            </a:pPr>
            <a:r>
              <a:rPr lang="en-GB" dirty="0"/>
              <a:t>We can define a good function as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A function that is able to operate on any of its “normal” test cases (strictly positive numbers for sqrt)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A function that is able to cover for special cases (empty lists, division by zero, etc.)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A function that raises explicative errors, if it is misused by the user (wrong variable type, not implemented feature, etc.)</a:t>
            </a:r>
          </a:p>
          <a:p>
            <a:pPr marL="514350" indent="-514350">
              <a:buFont typeface="+mj-lt"/>
              <a:buAutoNum type="arabicPeriod"/>
            </a:pPr>
            <a:r>
              <a:rPr lang="en-GB" strike="sngStrike" dirty="0">
                <a:solidFill>
                  <a:schemeClr val="bg1">
                    <a:lumMod val="65000"/>
                  </a:schemeClr>
                </a:solidFill>
              </a:rPr>
              <a:t>(A function that produces results as fast as possible)</a:t>
            </a:r>
          </a:p>
          <a:p>
            <a:pPr marL="0" indent="0">
              <a:buNone/>
            </a:pPr>
            <a:r>
              <a:rPr lang="en-GB" dirty="0">
                <a:sym typeface="Wingdings" panose="05000000000000000000" pitchFamily="2" charset="2"/>
              </a:rPr>
              <a:t> Start small, progressively build up the function with more features!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6456165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9539C-B9F3-449E-83C7-B7F9E849F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unit testing to integration testing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6E8C08-CAA0-49F7-BCB8-0633CCE7BA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766367" cy="48956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It is considered good practice to perform unit tests on </a:t>
            </a:r>
            <a:r>
              <a:rPr lang="en-US" b="1" u="sng" dirty="0"/>
              <a:t>ALL</a:t>
            </a:r>
            <a:r>
              <a:rPr lang="en-US" dirty="0"/>
              <a:t> the functions you design, to control that they operate as expected.</a:t>
            </a:r>
          </a:p>
          <a:p>
            <a:r>
              <a:rPr lang="en-US" dirty="0"/>
              <a:t>It is also essential to perform </a:t>
            </a:r>
            <a:r>
              <a:rPr lang="en-US" b="1" dirty="0"/>
              <a:t>integration testing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Definition (</a:t>
            </a:r>
            <a:r>
              <a:rPr lang="en-US" b="1" dirty="0">
                <a:solidFill>
                  <a:srgbClr val="00B050"/>
                </a:solidFill>
              </a:rPr>
              <a:t>integration testing</a:t>
            </a:r>
            <a:r>
              <a:rPr lang="en-US" b="1" dirty="0"/>
              <a:t>): </a:t>
            </a:r>
            <a:r>
              <a:rPr lang="en-US" b="1" dirty="0">
                <a:solidFill>
                  <a:srgbClr val="00B050"/>
                </a:solidFill>
              </a:rPr>
              <a:t>Integration testing </a:t>
            </a:r>
            <a:r>
              <a:rPr lang="en-US" dirty="0"/>
              <a:t>focuses on testing that several subfunctions are able to operate correctly when assembled together in a larger program.</a:t>
            </a:r>
          </a:p>
          <a:p>
            <a:r>
              <a:rPr lang="en-GB" b="1" dirty="0"/>
              <a:t>Especially important when “patching” a function: </a:t>
            </a:r>
            <a:r>
              <a:rPr lang="en-GB" dirty="0"/>
              <a:t>slightly modifying a single function should not make the rest of the program (game, app, etc.) malfunction!</a:t>
            </a:r>
          </a:p>
        </p:txBody>
      </p:sp>
    </p:spTree>
    <p:extLst>
      <p:ext uri="{BB962C8B-B14F-4D97-AF65-F5344CB8AC3E}">
        <p14:creationId xmlns:p14="http://schemas.microsoft.com/office/powerpoint/2010/main" val="364791874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9539C-B9F3-449E-83C7-B7F9E849F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unit testing to integration testing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6E8C08-CAA0-49F7-BCB8-0633CCE7BA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16244" cy="48956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It is considered good practice to perform unit tests on </a:t>
            </a:r>
            <a:r>
              <a:rPr lang="en-US" b="1" u="sng" dirty="0">
                <a:solidFill>
                  <a:schemeClr val="bg1">
                    <a:lumMod val="75000"/>
                  </a:schemeClr>
                </a:solidFill>
              </a:rPr>
              <a:t>ALL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the functions you design, to control that they operate as expected.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It is also essential to perform </a:t>
            </a:r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integration testing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.</a:t>
            </a:r>
          </a:p>
          <a:p>
            <a:pPr marL="0" indent="0">
              <a:buNone/>
            </a:pPr>
            <a:endParaRPr lang="en-US" b="1" dirty="0">
              <a:solidFill>
                <a:schemeClr val="bg1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Definition (integration testing): Integration testing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focuses on testing that several subfunctions are able to operate correctly when assembled together in a larger program.</a:t>
            </a:r>
          </a:p>
          <a:p>
            <a:r>
              <a:rPr lang="en-GB" b="1" dirty="0">
                <a:solidFill>
                  <a:schemeClr val="bg1">
                    <a:lumMod val="75000"/>
                  </a:schemeClr>
                </a:solidFill>
              </a:rPr>
              <a:t>Especially important when “patching” a function: </a:t>
            </a:r>
            <a:r>
              <a:rPr lang="en-GB" dirty="0">
                <a:solidFill>
                  <a:schemeClr val="bg1">
                    <a:lumMod val="75000"/>
                  </a:schemeClr>
                </a:solidFill>
              </a:rPr>
              <a:t>slightly modifying a single function should not make the rest of the program (game, app, etc.) malfunction!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6C83E1-4BAB-46CC-B72E-0B6822879B04}"/>
              </a:ext>
            </a:extLst>
          </p:cNvPr>
          <p:cNvSpPr txBox="1"/>
          <p:nvPr/>
        </p:nvSpPr>
        <p:spPr>
          <a:xfrm rot="20349957">
            <a:off x="298574" y="1830016"/>
            <a:ext cx="1171601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>
                <a:solidFill>
                  <a:schemeClr val="accent1">
                    <a:lumMod val="50000"/>
                  </a:schemeClr>
                </a:solidFill>
              </a:rPr>
              <a:t>MORE ON THIS TO BE COVERED IN ADVANCED CLASSES IN SUTD!</a:t>
            </a:r>
            <a:endParaRPr lang="en-GB" sz="7200" b="1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371981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F1811-D491-4973-875C-2EF8D0CCC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Error messages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53BFE2-F8B9-40D3-8B04-219A11D639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Definition (what is an error message anyway?):</a:t>
            </a:r>
          </a:p>
          <a:p>
            <a:pPr marL="0" indent="0">
              <a:buNone/>
            </a:pPr>
            <a:r>
              <a:rPr lang="en-US" dirty="0"/>
              <a:t>Error messages are exceptions, which were caught by the Python compiler program, when it attempted to execute your code.</a:t>
            </a:r>
          </a:p>
          <a:p>
            <a:pPr marL="0" indent="0">
              <a:buNone/>
            </a:pPr>
            <a:r>
              <a:rPr lang="en-US" dirty="0"/>
              <a:t>Typically, they are assertions, which did not pass, so that the program could execute normally.</a:t>
            </a:r>
          </a:p>
          <a:p>
            <a:r>
              <a:rPr lang="en-US" dirty="0"/>
              <a:t>They usually consist of an </a:t>
            </a:r>
            <a:r>
              <a:rPr lang="en-US" b="1" dirty="0"/>
              <a:t>approximate location of where the error occurred in your code</a:t>
            </a:r>
            <a:r>
              <a:rPr lang="en-US" dirty="0"/>
              <a:t>,</a:t>
            </a:r>
          </a:p>
          <a:p>
            <a:r>
              <a:rPr lang="en-GB" dirty="0"/>
              <a:t>And a </a:t>
            </a:r>
            <a:r>
              <a:rPr lang="en-GB" b="1" dirty="0"/>
              <a:t>standardized error message</a:t>
            </a:r>
            <a:r>
              <a:rPr lang="en-GB" dirty="0"/>
              <a:t>, attempting to explain the type of error encountered.</a:t>
            </a:r>
          </a:p>
        </p:txBody>
      </p:sp>
    </p:spTree>
    <p:extLst>
      <p:ext uri="{BB962C8B-B14F-4D97-AF65-F5344CB8AC3E}">
        <p14:creationId xmlns:p14="http://schemas.microsoft.com/office/powerpoint/2010/main" val="213820442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F1811-D491-4973-875C-2EF8D0CCC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Error messages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D9DA6A-32DE-40D2-ACA8-C2AE0496541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670" t="39291" r="26516" b="13191"/>
          <a:stretch/>
        </p:blipFill>
        <p:spPr>
          <a:xfrm>
            <a:off x="838199" y="1507788"/>
            <a:ext cx="10515599" cy="5127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88656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F1811-D491-4973-875C-2EF8D0CCC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Error messages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D9DA6A-32DE-40D2-ACA8-C2AE0496541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670" t="39291" r="26516" b="13191"/>
          <a:stretch/>
        </p:blipFill>
        <p:spPr>
          <a:xfrm>
            <a:off x="838199" y="1507788"/>
            <a:ext cx="10515599" cy="5127694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A6CF5182-A8C2-412A-923E-6FA574B425E1}"/>
              </a:ext>
            </a:extLst>
          </p:cNvPr>
          <p:cNvSpPr/>
          <p:nvPr/>
        </p:nvSpPr>
        <p:spPr>
          <a:xfrm>
            <a:off x="735291" y="4949072"/>
            <a:ext cx="1140643" cy="678730"/>
          </a:xfrm>
          <a:prstGeom prst="ellipse">
            <a:avLst/>
          </a:prstGeom>
          <a:noFill/>
          <a:ln w="38100">
            <a:solidFill>
              <a:srgbClr val="7030A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68906BD-9425-4860-B6AD-A2E3A1426539}"/>
              </a:ext>
            </a:extLst>
          </p:cNvPr>
          <p:cNvSpPr/>
          <p:nvPr/>
        </p:nvSpPr>
        <p:spPr>
          <a:xfrm>
            <a:off x="735291" y="5995447"/>
            <a:ext cx="8135332" cy="798874"/>
          </a:xfrm>
          <a:prstGeom prst="ellipse">
            <a:avLst/>
          </a:prstGeom>
          <a:noFill/>
          <a:ln w="38100">
            <a:solidFill>
              <a:srgbClr val="7030A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C3513C6-7CF6-40E1-B0D2-A9DB5C22EC65}"/>
              </a:ext>
            </a:extLst>
          </p:cNvPr>
          <p:cNvSpPr/>
          <p:nvPr/>
        </p:nvSpPr>
        <p:spPr>
          <a:xfrm>
            <a:off x="838197" y="3823720"/>
            <a:ext cx="1556211" cy="678730"/>
          </a:xfrm>
          <a:prstGeom prst="ellipse">
            <a:avLst/>
          </a:prstGeom>
          <a:noFill/>
          <a:ln w="38100">
            <a:solidFill>
              <a:srgbClr val="7030A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9D69BFA-4DA2-4A51-AFDA-17602739B4CE}"/>
              </a:ext>
            </a:extLst>
          </p:cNvPr>
          <p:cNvSpPr/>
          <p:nvPr/>
        </p:nvSpPr>
        <p:spPr>
          <a:xfrm>
            <a:off x="838197" y="6055519"/>
            <a:ext cx="1556211" cy="678730"/>
          </a:xfrm>
          <a:prstGeom prst="ellipse">
            <a:avLst/>
          </a:prstGeom>
          <a:noFill/>
          <a:ln w="38100">
            <a:solidFill>
              <a:srgbClr val="7030A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992229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8879C-D895-4A7E-A561-51AE4E1F0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Typical error types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C84AD4-BD39-4429-805F-D6CCA8501D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009" y="1825625"/>
            <a:ext cx="11858017" cy="4351338"/>
          </a:xfrm>
        </p:spPr>
        <p:txBody>
          <a:bodyPr/>
          <a:lstStyle/>
          <a:p>
            <a:r>
              <a:rPr lang="en-US" b="1" dirty="0"/>
              <a:t>Learn more: </a:t>
            </a:r>
            <a:r>
              <a:rPr lang="en-US" dirty="0">
                <a:hlinkClick r:id="rId2"/>
              </a:rPr>
              <a:t>https://www.tutorialsteacher.com/python/error-types-in-python</a:t>
            </a:r>
            <a:endParaRPr lang="en-US" dirty="0"/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3F2EBE-0BE3-44C2-B325-CB85679D6F2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8590" t="22553" r="27553" b="25958"/>
          <a:stretch/>
        </p:blipFill>
        <p:spPr>
          <a:xfrm>
            <a:off x="2015247" y="2366367"/>
            <a:ext cx="8161506" cy="4389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868963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88C9F-02F0-4EFD-AA60-DCA57FEB1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Debugging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302019-E3C0-4C72-BB5D-EDD096F936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Definition (</a:t>
            </a:r>
            <a:r>
              <a:rPr lang="en-US" b="1" dirty="0">
                <a:solidFill>
                  <a:srgbClr val="00B050"/>
                </a:solidFill>
              </a:rPr>
              <a:t>Debugging</a:t>
            </a:r>
            <a:r>
              <a:rPr lang="en-US" b="1" dirty="0"/>
              <a:t>): </a:t>
            </a:r>
            <a:r>
              <a:rPr lang="en-US" b="1" dirty="0">
                <a:solidFill>
                  <a:srgbClr val="00B050"/>
                </a:solidFill>
              </a:rPr>
              <a:t>Debugging</a:t>
            </a:r>
            <a:r>
              <a:rPr lang="en-US" dirty="0"/>
              <a:t> is the </a:t>
            </a:r>
            <a:r>
              <a:rPr lang="en-US" b="1" dirty="0"/>
              <a:t>art/process</a:t>
            </a:r>
            <a:r>
              <a:rPr lang="en-US" dirty="0"/>
              <a:t> of detecting and removing existing and potential errors (also called as 'bugs') in a code that can cause it to behave unexpectedly or crash.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To </a:t>
            </a:r>
            <a:r>
              <a:rPr lang="en-US" b="1" dirty="0"/>
              <a:t>debug</a:t>
            </a:r>
            <a:r>
              <a:rPr lang="en-US" dirty="0"/>
              <a:t> a program, the developer (you) has to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start with a problematic piece of code,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isolate the source of the problem,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and then propose a fix for it.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6657425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7A6CC-AA9A-4C45-8524-E7E816682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Debugging: Isolating a problem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4ABDB6-D250-44B9-A10C-70723A07F2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How to isolate the problem</a:t>
            </a:r>
          </a:p>
          <a:p>
            <a:r>
              <a:rPr lang="en-US" dirty="0"/>
              <a:t>Python will try its best to provide a location of where the error occurred in its error message.</a:t>
            </a:r>
          </a:p>
          <a:p>
            <a:r>
              <a:rPr lang="en-US" dirty="0"/>
              <a:t>Unfortunately, it is not always good info.</a:t>
            </a:r>
          </a:p>
          <a:p>
            <a:r>
              <a:rPr lang="en-US" dirty="0"/>
              <a:t>It is often a good idea to try and pinpoint the location of the error, with some prints, to control which parts of the program work fine and which do not.</a:t>
            </a:r>
          </a:p>
          <a:p>
            <a:r>
              <a:rPr lang="en-US" dirty="0"/>
              <a:t>Feel free to comment/uncomment parts of the code to see if it affects the apparition of said error as well!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0387296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7A6CC-AA9A-4C45-8524-E7E816682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Debugging: 1&amp;2. isolating a problem</a:t>
            </a: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B2F8344-41B4-4C96-9D32-399195C19D6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479" t="26621" r="26701" b="16289"/>
          <a:stretch/>
        </p:blipFill>
        <p:spPr>
          <a:xfrm>
            <a:off x="1394381" y="1395935"/>
            <a:ext cx="9069371" cy="531289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32B69A2-A674-4A7A-A19A-1992054B180A}"/>
              </a:ext>
            </a:extLst>
          </p:cNvPr>
          <p:cNvSpPr/>
          <p:nvPr/>
        </p:nvSpPr>
        <p:spPr>
          <a:xfrm>
            <a:off x="2375555" y="2460396"/>
            <a:ext cx="1564849" cy="261102"/>
          </a:xfrm>
          <a:prstGeom prst="rect">
            <a:avLst/>
          </a:prstGeom>
          <a:noFill/>
          <a:ln w="38100">
            <a:solidFill>
              <a:srgbClr val="7030A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84DA5C3-85BB-43AA-852F-FA0B65122D51}"/>
              </a:ext>
            </a:extLst>
          </p:cNvPr>
          <p:cNvSpPr/>
          <p:nvPr/>
        </p:nvSpPr>
        <p:spPr>
          <a:xfrm>
            <a:off x="2375554" y="2895747"/>
            <a:ext cx="1951349" cy="328220"/>
          </a:xfrm>
          <a:prstGeom prst="rect">
            <a:avLst/>
          </a:prstGeom>
          <a:noFill/>
          <a:ln w="38100">
            <a:solidFill>
              <a:srgbClr val="7030A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95EE825-EBC2-4100-A17B-EBEB687493DC}"/>
              </a:ext>
            </a:extLst>
          </p:cNvPr>
          <p:cNvSpPr/>
          <p:nvPr/>
        </p:nvSpPr>
        <p:spPr>
          <a:xfrm>
            <a:off x="1519288" y="3811707"/>
            <a:ext cx="573464" cy="515196"/>
          </a:xfrm>
          <a:prstGeom prst="rect">
            <a:avLst/>
          </a:prstGeom>
          <a:noFill/>
          <a:ln w="38100">
            <a:solidFill>
              <a:srgbClr val="7030A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677306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81950-FFA9-4EDF-B213-CCEFB0A1D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Debugging: 3. Fixing the problem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2327B3-E677-4DF9-9B42-825E000608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error message indicates that Python was not able to sum a number (int), with a block of text (string).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Why did this occur?</a:t>
            </a:r>
          </a:p>
          <a:p>
            <a:r>
              <a:rPr lang="en-US" dirty="0"/>
              <a:t>And how do I fix it?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3F2D49-B047-4D5D-9CBA-A6DCAC37A60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479" t="79446" r="41630" b="16357"/>
          <a:stretch/>
        </p:blipFill>
        <p:spPr>
          <a:xfrm>
            <a:off x="253738" y="2852262"/>
            <a:ext cx="11696859" cy="692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943569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81950-FFA9-4EDF-B213-CCEFB0A1D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Debugging: 3. Fixing the problem</a:t>
            </a: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548FB06-D2F4-48B7-A6FA-A3219EE2A6D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479" t="26621" r="26701" b="16289"/>
          <a:stretch/>
        </p:blipFill>
        <p:spPr>
          <a:xfrm>
            <a:off x="1394381" y="1395935"/>
            <a:ext cx="9069371" cy="531289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7358C78-A884-4182-88E4-56DE35CD4B8B}"/>
              </a:ext>
            </a:extLst>
          </p:cNvPr>
          <p:cNvSpPr txBox="1"/>
          <p:nvPr/>
        </p:nvSpPr>
        <p:spPr>
          <a:xfrm>
            <a:off x="7560297" y="1574276"/>
            <a:ext cx="434968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7030A0"/>
                </a:solidFill>
              </a:rPr>
              <a:t>Contains strings of digits, not  number type!</a:t>
            </a:r>
            <a:endParaRPr lang="en-GB" sz="3200" b="1" dirty="0">
              <a:solidFill>
                <a:srgbClr val="7030A0"/>
              </a:solidFill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2831FEE-A5A1-416F-B958-819A64710C3F}"/>
              </a:ext>
            </a:extLst>
          </p:cNvPr>
          <p:cNvCxnSpPr/>
          <p:nvPr/>
        </p:nvCxnSpPr>
        <p:spPr>
          <a:xfrm flipH="1">
            <a:off x="6193411" y="1885362"/>
            <a:ext cx="1809946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181550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81950-FFA9-4EDF-B213-CCEFB0A1D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Debugging: 3. Fixing the problem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147E65-62BC-4990-8B72-19EFCAF6DC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Proposed fix (one of many): </a:t>
            </a:r>
            <a:r>
              <a:rPr lang="en-US" dirty="0"/>
              <a:t>convert to </a:t>
            </a:r>
            <a:r>
              <a:rPr lang="en-US" b="1" dirty="0">
                <a:solidFill>
                  <a:srgbClr val="00B050"/>
                </a:solidFill>
              </a:rPr>
              <a:t>int</a:t>
            </a:r>
            <a:r>
              <a:rPr lang="en-US" b="1" dirty="0"/>
              <a:t>/</a:t>
            </a:r>
            <a:r>
              <a:rPr lang="en-US" b="1" dirty="0">
                <a:solidFill>
                  <a:srgbClr val="00B050"/>
                </a:solidFill>
              </a:rPr>
              <a:t>float </a:t>
            </a:r>
            <a:r>
              <a:rPr lang="en-US" dirty="0"/>
              <a:t>before summing, convert back to </a:t>
            </a:r>
            <a:r>
              <a:rPr lang="en-US" b="1" dirty="0">
                <a:solidFill>
                  <a:srgbClr val="00B050"/>
                </a:solidFill>
              </a:rPr>
              <a:t>str</a:t>
            </a:r>
            <a:r>
              <a:rPr lang="en-US" dirty="0"/>
              <a:t> at the end.</a:t>
            </a:r>
          </a:p>
          <a:p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254CF9-BA04-4ED4-AB64-F5A561EE429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511" t="36551" r="50000" b="38582"/>
          <a:stretch/>
        </p:blipFill>
        <p:spPr>
          <a:xfrm>
            <a:off x="1663429" y="2702138"/>
            <a:ext cx="9046723" cy="4018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81333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3962611-DFD5-4092-AAFD-559E3DFCE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5488" y="0"/>
            <a:ext cx="10910292" cy="6858000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270F1FA-0425-408F-9861-80BF5AFB2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F94CC47D-0715-4624-BB7C-B2A3CF4DC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5368" y="2043663"/>
            <a:ext cx="6105194" cy="203105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Let us practice some debugging!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EE8B6C-04B5-432E-B294-B88A1D27B6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45368" y="4074718"/>
            <a:ext cx="6105194" cy="682079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en-US" sz="20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Open the “Debugging practice” notebook for some typical examples of bugs and debugging!</a:t>
            </a:r>
          </a:p>
        </p:txBody>
      </p:sp>
    </p:spTree>
    <p:extLst>
      <p:ext uri="{BB962C8B-B14F-4D97-AF65-F5344CB8AC3E}">
        <p14:creationId xmlns:p14="http://schemas.microsoft.com/office/powerpoint/2010/main" val="301045031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BC776-F489-4F89-B9D1-64DFC9204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3734" y="406968"/>
            <a:ext cx="6798541" cy="837884"/>
          </a:xfrm>
        </p:spPr>
        <p:txBody>
          <a:bodyPr anchor="b">
            <a:normAutofit/>
          </a:bodyPr>
          <a:lstStyle/>
          <a:p>
            <a:r>
              <a:rPr lang="en-US" sz="4000" dirty="0"/>
              <a:t>Conclusion (</a:t>
            </a:r>
            <a:r>
              <a:rPr lang="en-US" sz="4000"/>
              <a:t>Chapter 11)</a:t>
            </a:r>
            <a:endParaRPr lang="en-US" sz="4000" dirty="0"/>
          </a:p>
        </p:txBody>
      </p:sp>
      <p:pic>
        <p:nvPicPr>
          <p:cNvPr id="5" name="Picture 4" descr="Closeup of a keyboard">
            <a:extLst>
              <a:ext uri="{FF2B5EF4-FFF2-40B4-BE49-F238E27FC236}">
                <a16:creationId xmlns:a16="http://schemas.microsoft.com/office/drawing/2014/main" id="{943E5914-5549-6D68-0D39-CD2945350A4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164" r="40215" b="1"/>
          <a:stretch/>
        </p:blipFill>
        <p:spPr>
          <a:xfrm>
            <a:off x="1" y="10"/>
            <a:ext cx="4196496" cy="6857990"/>
          </a:xfrm>
          <a:prstGeom prst="rect">
            <a:avLst/>
          </a:prstGeom>
          <a:effectLst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F85463-414E-4F5F-96DD-C1BA37CF02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3734" y="1651819"/>
            <a:ext cx="7362963" cy="5004619"/>
          </a:xfrm>
        </p:spPr>
        <p:txBody>
          <a:bodyPr>
            <a:normAutofit/>
          </a:bodyPr>
          <a:lstStyle/>
          <a:p>
            <a:r>
              <a:rPr lang="en-US" dirty="0"/>
              <a:t>What is </a:t>
            </a:r>
            <a:r>
              <a:rPr lang="en-US" b="1" dirty="0"/>
              <a:t>testing</a:t>
            </a:r>
            <a:r>
              <a:rPr lang="en-US" dirty="0"/>
              <a:t> in programming?</a:t>
            </a:r>
          </a:p>
          <a:p>
            <a:r>
              <a:rPr lang="en-US" dirty="0"/>
              <a:t>What is a </a:t>
            </a:r>
            <a:r>
              <a:rPr lang="en-US" b="1" dirty="0"/>
              <a:t>unit test</a:t>
            </a:r>
            <a:r>
              <a:rPr lang="en-US" dirty="0"/>
              <a:t>?</a:t>
            </a:r>
          </a:p>
          <a:p>
            <a:r>
              <a:rPr lang="en-US" dirty="0"/>
              <a:t>What is the </a:t>
            </a:r>
            <a:r>
              <a:rPr lang="en-US" b="1" dirty="0"/>
              <a:t>assert </a:t>
            </a:r>
            <a:r>
              <a:rPr lang="en-US" dirty="0"/>
              <a:t>keyword? How is it related to </a:t>
            </a:r>
            <a:r>
              <a:rPr lang="en-US" b="1" dirty="0"/>
              <a:t>error messages</a:t>
            </a:r>
            <a:r>
              <a:rPr lang="en-US" dirty="0"/>
              <a:t>?</a:t>
            </a:r>
          </a:p>
          <a:p>
            <a:r>
              <a:rPr lang="en-US" dirty="0"/>
              <a:t>What is therefore the </a:t>
            </a:r>
            <a:r>
              <a:rPr lang="en-US" b="1" dirty="0"/>
              <a:t>right philosophy for programming and testing</a:t>
            </a:r>
            <a:r>
              <a:rPr lang="en-US" dirty="0"/>
              <a:t>?</a:t>
            </a:r>
          </a:p>
          <a:p>
            <a:r>
              <a:rPr lang="en-US" dirty="0"/>
              <a:t>What is an </a:t>
            </a:r>
            <a:r>
              <a:rPr lang="en-US" b="1" dirty="0"/>
              <a:t>integration test</a:t>
            </a:r>
            <a:r>
              <a:rPr lang="en-US" dirty="0"/>
              <a:t>?</a:t>
            </a:r>
          </a:p>
          <a:p>
            <a:r>
              <a:rPr lang="en-US" dirty="0"/>
              <a:t>What is </a:t>
            </a:r>
            <a:r>
              <a:rPr lang="en-US" b="1" dirty="0"/>
              <a:t>debugging</a:t>
            </a:r>
            <a:r>
              <a:rPr lang="en-US" dirty="0"/>
              <a:t>?</a:t>
            </a:r>
          </a:p>
          <a:p>
            <a:r>
              <a:rPr lang="en-US" dirty="0"/>
              <a:t>What are </a:t>
            </a:r>
            <a:r>
              <a:rPr lang="en-US" b="1" dirty="0"/>
              <a:t>good practices in debugging</a:t>
            </a:r>
            <a:r>
              <a:rPr lang="en-US" dirty="0"/>
              <a:t>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46908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768</TotalTime>
  <Words>1894</Words>
  <Application>Microsoft Office PowerPoint</Application>
  <PresentationFormat>Widescreen</PresentationFormat>
  <Paragraphs>156</Paragraphs>
  <Slides>43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8" baseType="lpstr">
      <vt:lpstr>Arial</vt:lpstr>
      <vt:lpstr>Calibri</vt:lpstr>
      <vt:lpstr>Calibri Light</vt:lpstr>
      <vt:lpstr>Wingdings</vt:lpstr>
      <vt:lpstr>Office Theme</vt:lpstr>
      <vt:lpstr>A gamified introduction to Python Programming  Lecture 11 The art of Testing and Debugging</vt:lpstr>
      <vt:lpstr>Outline (Chapter 11)</vt:lpstr>
      <vt:lpstr>Testing: a definition?</vt:lpstr>
      <vt:lpstr>Testing: a definition?</vt:lpstr>
      <vt:lpstr>Testing: a definition?</vt:lpstr>
      <vt:lpstr>Limits of testing</vt:lpstr>
      <vt:lpstr>Unit testing</vt:lpstr>
      <vt:lpstr>PowerPoint Presentation</vt:lpstr>
      <vt:lpstr>PowerPoint Presentation</vt:lpstr>
      <vt:lpstr>PowerPoint Presentation</vt:lpstr>
      <vt:lpstr>Unit testing</vt:lpstr>
      <vt:lpstr>PowerPoint Presentation</vt:lpstr>
      <vt:lpstr>Unit testing</vt:lpstr>
      <vt:lpstr>Unit testing is essential…</vt:lpstr>
      <vt:lpstr>Finding the right balance?</vt:lpstr>
      <vt:lpstr>Assertion testing</vt:lpstr>
      <vt:lpstr>The assert Keyword</vt:lpstr>
      <vt:lpstr>The assert Keyword</vt:lpstr>
      <vt:lpstr>Assertions</vt:lpstr>
      <vt:lpstr>The assert Keyword</vt:lpstr>
      <vt:lpstr>Asserting on types</vt:lpstr>
      <vt:lpstr>An application example: our sqrt function</vt:lpstr>
      <vt:lpstr>An application example: our sqrt function</vt:lpstr>
      <vt:lpstr>An application example: our sqrt function</vt:lpstr>
      <vt:lpstr>An application example: our sqrt function</vt:lpstr>
      <vt:lpstr>An application example: our sqrt function</vt:lpstr>
      <vt:lpstr>An application example: our sqrt function</vt:lpstr>
      <vt:lpstr>What makes a good function?</vt:lpstr>
      <vt:lpstr>What makes a good function?</vt:lpstr>
      <vt:lpstr>From unit testing to integration testing</vt:lpstr>
      <vt:lpstr>From unit testing to integration testing</vt:lpstr>
      <vt:lpstr>Error messages</vt:lpstr>
      <vt:lpstr>Error messages</vt:lpstr>
      <vt:lpstr>Error messages</vt:lpstr>
      <vt:lpstr>Typical error types</vt:lpstr>
      <vt:lpstr>Debugging</vt:lpstr>
      <vt:lpstr>Debugging: Isolating a problem</vt:lpstr>
      <vt:lpstr>Debugging: 1&amp;2. isolating a problem</vt:lpstr>
      <vt:lpstr>Debugging: 3. Fixing the problem</vt:lpstr>
      <vt:lpstr>Debugging: 3. Fixing the problem</vt:lpstr>
      <vt:lpstr>Debugging: 3. Fixing the problem</vt:lpstr>
      <vt:lpstr>Let us practice some debugging!</vt:lpstr>
      <vt:lpstr>Conclusion (Chapter 11)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ILP 2020 – W4S1 Midterm details – Testing, asserting and debugging</dc:title>
  <dc:creator>Matthieu DE MARI</dc:creator>
  <cp:lastModifiedBy>Matthieu DE MARI</cp:lastModifiedBy>
  <cp:revision>49</cp:revision>
  <dcterms:created xsi:type="dcterms:W3CDTF">2020-07-27T00:36:07Z</dcterms:created>
  <dcterms:modified xsi:type="dcterms:W3CDTF">2025-08-29T07:40:14Z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e298231-ee28-4c9e-9ffa-238d0040efda_Enabled">
    <vt:lpwstr>true</vt:lpwstr>
  </property>
  <property fmtid="{D5CDD505-2E9C-101B-9397-08002B2CF9AE}" pid="3" name="MSIP_Label_be298231-ee28-4c9e-9ffa-238d0040efda_SetDate">
    <vt:lpwstr>2023-07-25T02:48:46Z</vt:lpwstr>
  </property>
  <property fmtid="{D5CDD505-2E9C-101B-9397-08002B2CF9AE}" pid="4" name="MSIP_Label_be298231-ee28-4c9e-9ffa-238d0040efda_Method">
    <vt:lpwstr>Privileged</vt:lpwstr>
  </property>
  <property fmtid="{D5CDD505-2E9C-101B-9397-08002B2CF9AE}" pid="5" name="MSIP_Label_be298231-ee28-4c9e-9ffa-238d0040efda_Name">
    <vt:lpwstr>Public</vt:lpwstr>
  </property>
  <property fmtid="{D5CDD505-2E9C-101B-9397-08002B2CF9AE}" pid="6" name="MSIP_Label_be298231-ee28-4c9e-9ffa-238d0040efda_SiteId">
    <vt:lpwstr>3476b776-e990-4f72-b950-62489831623d</vt:lpwstr>
  </property>
  <property fmtid="{D5CDD505-2E9C-101B-9397-08002B2CF9AE}" pid="7" name="MSIP_Label_be298231-ee28-4c9e-9ffa-238d0040efda_ActionId">
    <vt:lpwstr>816fa867-fc91-4d9d-b675-0e263513802d</vt:lpwstr>
  </property>
  <property fmtid="{D5CDD505-2E9C-101B-9397-08002B2CF9AE}" pid="8" name="MSIP_Label_be298231-ee28-4c9e-9ffa-238d0040efda_ContentBits">
    <vt:lpwstr>0</vt:lpwstr>
  </property>
</Properties>
</file>