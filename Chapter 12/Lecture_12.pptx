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388" r:id="rId2"/>
    <p:sldId id="389" r:id="rId3"/>
    <p:sldId id="285" r:id="rId4"/>
    <p:sldId id="282" r:id="rId5"/>
    <p:sldId id="286" r:id="rId6"/>
    <p:sldId id="289" r:id="rId7"/>
    <p:sldId id="287" r:id="rId8"/>
    <p:sldId id="292" r:id="rId9"/>
    <p:sldId id="290" r:id="rId10"/>
    <p:sldId id="291" r:id="rId11"/>
    <p:sldId id="293" r:id="rId12"/>
    <p:sldId id="294" r:id="rId13"/>
    <p:sldId id="295" r:id="rId14"/>
    <p:sldId id="297" r:id="rId15"/>
    <p:sldId id="298" r:id="rId16"/>
    <p:sldId id="367" r:id="rId17"/>
    <p:sldId id="393" r:id="rId18"/>
    <p:sldId id="394" r:id="rId19"/>
    <p:sldId id="395" r:id="rId20"/>
    <p:sldId id="275" r:id="rId21"/>
    <p:sldId id="300" r:id="rId22"/>
    <p:sldId id="301" r:id="rId23"/>
    <p:sldId id="302" r:id="rId24"/>
    <p:sldId id="303" r:id="rId25"/>
    <p:sldId id="312" r:id="rId26"/>
    <p:sldId id="307" r:id="rId27"/>
    <p:sldId id="299" r:id="rId28"/>
    <p:sldId id="324" r:id="rId29"/>
    <p:sldId id="325" r:id="rId30"/>
    <p:sldId id="305" r:id="rId31"/>
    <p:sldId id="306" r:id="rId32"/>
    <p:sldId id="308" r:id="rId33"/>
    <p:sldId id="309" r:id="rId34"/>
    <p:sldId id="310" r:id="rId35"/>
    <p:sldId id="318" r:id="rId36"/>
    <p:sldId id="370" r:id="rId37"/>
    <p:sldId id="313" r:id="rId38"/>
    <p:sldId id="314" r:id="rId39"/>
    <p:sldId id="315" r:id="rId40"/>
    <p:sldId id="319" r:id="rId41"/>
    <p:sldId id="320" r:id="rId42"/>
    <p:sldId id="322" r:id="rId43"/>
    <p:sldId id="327" r:id="rId44"/>
    <p:sldId id="329" r:id="rId45"/>
    <p:sldId id="330" r:id="rId46"/>
    <p:sldId id="368" r:id="rId47"/>
    <p:sldId id="390" r:id="rId48"/>
    <p:sldId id="391" r:id="rId49"/>
  </p:sldIdLst>
  <p:sldSz cx="12192000" cy="6858000"/>
  <p:notesSz cx="6858000" cy="9144000"/>
  <p:custDataLst>
    <p:tags r:id="rId51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1BF0B2F-DB36-44CE-8114-D60DFF170E92}">
          <p14:sldIdLst>
            <p14:sldId id="388"/>
            <p14:sldId id="389"/>
          </p14:sldIdLst>
        </p14:section>
        <p14:section name="1.a. Memory management and id()" id="{FE97F93E-1E25-45A0-8F96-B7B96546AEFF}">
          <p14:sldIdLst>
            <p14:sldId id="285"/>
            <p14:sldId id="282"/>
            <p14:sldId id="286"/>
          </p14:sldIdLst>
        </p14:section>
        <p14:section name="1.b. Aliasing, Shallow and Deep copies" id="{99926B94-6426-45C3-87A3-94B9F9DD2950}">
          <p14:sldIdLst>
            <p14:sldId id="289"/>
            <p14:sldId id="287"/>
            <p14:sldId id="292"/>
            <p14:sldId id="290"/>
            <p14:sldId id="291"/>
            <p14:sldId id="293"/>
            <p14:sldId id="294"/>
            <p14:sldId id="295"/>
            <p14:sldId id="297"/>
            <p14:sldId id="298"/>
            <p14:sldId id="367"/>
          </p14:sldIdLst>
        </p14:section>
        <p14:section name="Quiz" id="{E74F8801-6B1B-46C7-B71A-ED08D45CD6CF}">
          <p14:sldIdLst>
            <p14:sldId id="393"/>
            <p14:sldId id="394"/>
            <p14:sldId id="395"/>
          </p14:sldIdLst>
        </p14:section>
        <p14:section name="2.a. Numpy (part1)" id="{D524971B-F6CB-41CE-AE5A-E03BBFE3CDDA}">
          <p14:sldIdLst>
            <p14:sldId id="275"/>
            <p14:sldId id="300"/>
            <p14:sldId id="301"/>
            <p14:sldId id="302"/>
            <p14:sldId id="303"/>
            <p14:sldId id="312"/>
            <p14:sldId id="307"/>
          </p14:sldIdLst>
        </p14:section>
        <p14:section name="Activity 1" id="{6D4DD5B3-FE01-483D-A3AD-477EAD3DD0C5}">
          <p14:sldIdLst>
            <p14:sldId id="299"/>
            <p14:sldId id="324"/>
            <p14:sldId id="325"/>
          </p14:sldIdLst>
        </p14:section>
        <p14:section name="2.b. More stuff about Numpy" id="{84BD98E9-74C6-465B-913B-C081B4276F68}">
          <p14:sldIdLst>
            <p14:sldId id="305"/>
            <p14:sldId id="306"/>
            <p14:sldId id="308"/>
            <p14:sldId id="309"/>
            <p14:sldId id="310"/>
          </p14:sldIdLst>
        </p14:section>
        <p14:section name="3. About the import procedure" id="{8D2D9305-67B4-4A16-89F1-5DB252E34299}">
          <p14:sldIdLst>
            <p14:sldId id="318"/>
            <p14:sldId id="370"/>
            <p14:sldId id="313"/>
            <p14:sldId id="314"/>
            <p14:sldId id="315"/>
            <p14:sldId id="319"/>
            <p14:sldId id="320"/>
            <p14:sldId id="322"/>
          </p14:sldIdLst>
        </p14:section>
        <p14:section name="4. Project organizing" id="{0FEEFAC6-63C8-4223-AB58-207D6D26975A}">
          <p14:sldIdLst>
            <p14:sldId id="327"/>
            <p14:sldId id="329"/>
            <p14:sldId id="330"/>
            <p14:sldId id="368"/>
          </p14:sldIdLst>
        </p14:section>
        <p14:section name="Conclusion" id="{8FC5B4E0-8B82-44CE-8E2E-949C5DB81C7E}">
          <p14:sldIdLst>
            <p14:sldId id="390"/>
            <p14:sldId id="3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331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7AE3EF5B-308E-4B86-8AD1-0F56E8927178}"/>
    <pc:docChg chg="modSld">
      <pc:chgData name="Matthieu De Mari" userId="dfb708c9-d8dc-439f-9a3b-c772bf4a311c" providerId="ADAL" clId="{7AE3EF5B-308E-4B86-8AD1-0F56E8927178}" dt="2025-08-29T07:41:02.203" v="5" actId="20577"/>
      <pc:docMkLst>
        <pc:docMk/>
      </pc:docMkLst>
      <pc:sldChg chg="modSp mod">
        <pc:chgData name="Matthieu De Mari" userId="dfb708c9-d8dc-439f-9a3b-c772bf4a311c" providerId="ADAL" clId="{7AE3EF5B-308E-4B86-8AD1-0F56E8927178}" dt="2025-08-29T07:40:52.876" v="1" actId="20577"/>
        <pc:sldMkLst>
          <pc:docMk/>
          <pc:sldMk cId="2033612700" sldId="388"/>
        </pc:sldMkLst>
        <pc:spChg chg="mod">
          <ac:chgData name="Matthieu De Mari" userId="dfb708c9-d8dc-439f-9a3b-c772bf4a311c" providerId="ADAL" clId="{7AE3EF5B-308E-4B86-8AD1-0F56E8927178}" dt="2025-08-29T07:40:52.876" v="1" actId="20577"/>
          <ac:spMkLst>
            <pc:docMk/>
            <pc:sldMk cId="2033612700" sldId="388"/>
            <ac:spMk id="2" creationId="{D1A4800C-4604-46C3-8534-E496416410D8}"/>
          </ac:spMkLst>
        </pc:spChg>
      </pc:sldChg>
      <pc:sldChg chg="modSp mod">
        <pc:chgData name="Matthieu De Mari" userId="dfb708c9-d8dc-439f-9a3b-c772bf4a311c" providerId="ADAL" clId="{7AE3EF5B-308E-4B86-8AD1-0F56E8927178}" dt="2025-08-29T07:40:55.797" v="3" actId="20577"/>
        <pc:sldMkLst>
          <pc:docMk/>
          <pc:sldMk cId="109241041" sldId="389"/>
        </pc:sldMkLst>
        <pc:spChg chg="mod">
          <ac:chgData name="Matthieu De Mari" userId="dfb708c9-d8dc-439f-9a3b-c772bf4a311c" providerId="ADAL" clId="{7AE3EF5B-308E-4B86-8AD1-0F56E8927178}" dt="2025-08-29T07:40:55.797" v="3" actId="20577"/>
          <ac:spMkLst>
            <pc:docMk/>
            <pc:sldMk cId="109241041" sldId="389"/>
            <ac:spMk id="2" creationId="{F15BC776-F489-4F89-B9D1-64DFC920472A}"/>
          </ac:spMkLst>
        </pc:spChg>
      </pc:sldChg>
      <pc:sldChg chg="modSp mod">
        <pc:chgData name="Matthieu De Mari" userId="dfb708c9-d8dc-439f-9a3b-c772bf4a311c" providerId="ADAL" clId="{7AE3EF5B-308E-4B86-8AD1-0F56E8927178}" dt="2025-08-29T07:41:02.203" v="5" actId="20577"/>
        <pc:sldMkLst>
          <pc:docMk/>
          <pc:sldMk cId="3872143971" sldId="390"/>
        </pc:sldMkLst>
        <pc:spChg chg="mod">
          <ac:chgData name="Matthieu De Mari" userId="dfb708c9-d8dc-439f-9a3b-c772bf4a311c" providerId="ADAL" clId="{7AE3EF5B-308E-4B86-8AD1-0F56E8927178}" dt="2025-08-29T07:41:02.203" v="5" actId="20577"/>
          <ac:spMkLst>
            <pc:docMk/>
            <pc:sldMk cId="3872143971" sldId="390"/>
            <ac:spMk id="2" creationId="{F15BC776-F489-4F89-B9D1-64DFC920472A}"/>
          </ac:spMkLst>
        </pc:spChg>
      </pc:sldChg>
    </pc:docChg>
  </pc:docChgLst>
  <pc:docChgLst>
    <pc:chgData name="Matthieu De Mari" userId="dfb708c9-d8dc-439f-9a3b-c772bf4a311c" providerId="ADAL" clId="{7D4D457A-17F0-43D6-9A05-70EFD1A1EF42}"/>
    <pc:docChg chg="undo custSel delSld modSld modSection">
      <pc:chgData name="Matthieu De Mari" userId="dfb708c9-d8dc-439f-9a3b-c772bf4a311c" providerId="ADAL" clId="{7D4D457A-17F0-43D6-9A05-70EFD1A1EF42}" dt="2025-03-28T04:57:59.932" v="53" actId="20577"/>
      <pc:docMkLst>
        <pc:docMk/>
      </pc:docMkLst>
      <pc:sldChg chg="addSp delSp modSp mod">
        <pc:chgData name="Matthieu De Mari" userId="dfb708c9-d8dc-439f-9a3b-c772bf4a311c" providerId="ADAL" clId="{7D4D457A-17F0-43D6-9A05-70EFD1A1EF42}" dt="2025-03-28T04:56:51.646" v="1"/>
        <pc:sldMkLst>
          <pc:docMk/>
          <pc:sldMk cId="2413300890" sldId="314"/>
        </pc:sldMkLst>
      </pc:sldChg>
      <pc:sldChg chg="del">
        <pc:chgData name="Matthieu De Mari" userId="dfb708c9-d8dc-439f-9a3b-c772bf4a311c" providerId="ADAL" clId="{7D4D457A-17F0-43D6-9A05-70EFD1A1EF42}" dt="2025-03-28T04:57:04.614" v="2" actId="47"/>
        <pc:sldMkLst>
          <pc:docMk/>
          <pc:sldMk cId="4009394080" sldId="316"/>
        </pc:sldMkLst>
      </pc:sldChg>
      <pc:sldChg chg="modSp mod">
        <pc:chgData name="Matthieu De Mari" userId="dfb708c9-d8dc-439f-9a3b-c772bf4a311c" providerId="ADAL" clId="{7D4D457A-17F0-43D6-9A05-70EFD1A1EF42}" dt="2025-03-28T04:57:27.633" v="22" actId="20577"/>
        <pc:sldMkLst>
          <pc:docMk/>
          <pc:sldMk cId="2037448096" sldId="330"/>
        </pc:sldMkLst>
      </pc:sldChg>
      <pc:sldChg chg="modSp mod">
        <pc:chgData name="Matthieu De Mari" userId="dfb708c9-d8dc-439f-9a3b-c772bf4a311c" providerId="ADAL" clId="{7D4D457A-17F0-43D6-9A05-70EFD1A1EF42}" dt="2025-03-28T04:57:59.932" v="53" actId="20577"/>
        <pc:sldMkLst>
          <pc:docMk/>
          <pc:sldMk cId="3321389809" sldId="368"/>
        </pc:sldMkLst>
      </pc:sldChg>
    </pc:docChg>
  </pc:docChgLst>
  <pc:docChgLst>
    <pc:chgData name="Matthieu De Mari" userId="dfb708c9-d8dc-439f-9a3b-c772bf4a311c" providerId="ADAL" clId="{C8B538B8-8CF6-4232-A7C6-F38BD6869E5B}"/>
    <pc:docChg chg="undo redo custSel mod addSld delSld modSld modSection">
      <pc:chgData name="Matthieu De Mari" userId="dfb708c9-d8dc-439f-9a3b-c772bf4a311c" providerId="ADAL" clId="{C8B538B8-8CF6-4232-A7C6-F38BD6869E5B}" dt="2023-08-03T04:25:11.135" v="201" actId="47"/>
      <pc:docMkLst>
        <pc:docMk/>
      </pc:docMkLst>
      <pc:sldChg chg="modSp mod">
        <pc:chgData name="Matthieu De Mari" userId="dfb708c9-d8dc-439f-9a3b-c772bf4a311c" providerId="ADAL" clId="{C8B538B8-8CF6-4232-A7C6-F38BD6869E5B}" dt="2023-07-25T02:50:24.589" v="180" actId="20577"/>
        <pc:sldMkLst>
          <pc:docMk/>
          <pc:sldMk cId="3314370689" sldId="256"/>
        </pc:sldMkLst>
      </pc:sldChg>
      <pc:sldChg chg="modSp mod">
        <pc:chgData name="Matthieu De Mari" userId="dfb708c9-d8dc-439f-9a3b-c772bf4a311c" providerId="ADAL" clId="{C8B538B8-8CF6-4232-A7C6-F38BD6869E5B}" dt="2023-07-25T02:50:31.614" v="188" actId="20577"/>
        <pc:sldMkLst>
          <pc:docMk/>
          <pc:sldMk cId="2865792470" sldId="257"/>
        </pc:sldMkLst>
      </pc:sldChg>
      <pc:sldChg chg="del">
        <pc:chgData name="Matthieu De Mari" userId="dfb708c9-d8dc-439f-9a3b-c772bf4a311c" providerId="ADAL" clId="{C8B538B8-8CF6-4232-A7C6-F38BD6869E5B}" dt="2023-08-03T04:24:23.085" v="192" actId="47"/>
        <pc:sldMkLst>
          <pc:docMk/>
          <pc:sldMk cId="3457506896" sldId="304"/>
        </pc:sldMkLst>
      </pc:sldChg>
      <pc:sldChg chg="modSp mod">
        <pc:chgData name="Matthieu De Mari" userId="dfb708c9-d8dc-439f-9a3b-c772bf4a311c" providerId="ADAL" clId="{C8B538B8-8CF6-4232-A7C6-F38BD6869E5B}" dt="2023-08-03T04:24:43.867" v="193" actId="113"/>
        <pc:sldMkLst>
          <pc:docMk/>
          <pc:sldMk cId="783098080" sldId="307"/>
        </pc:sldMkLst>
      </pc:sldChg>
      <pc:sldChg chg="modSp mod">
        <pc:chgData name="Matthieu De Mari" userId="dfb708c9-d8dc-439f-9a3b-c772bf4a311c" providerId="ADAL" clId="{C8B538B8-8CF6-4232-A7C6-F38BD6869E5B}" dt="2023-08-03T04:24:57.638" v="200" actId="113"/>
        <pc:sldMkLst>
          <pc:docMk/>
          <pc:sldMk cId="3721987184" sldId="310"/>
        </pc:sldMkLst>
      </pc:sldChg>
      <pc:sldChg chg="del">
        <pc:chgData name="Matthieu De Mari" userId="dfb708c9-d8dc-439f-9a3b-c772bf4a311c" providerId="ADAL" clId="{C8B538B8-8CF6-4232-A7C6-F38BD6869E5B}" dt="2023-08-03T04:24:20.749" v="191" actId="47"/>
        <pc:sldMkLst>
          <pc:docMk/>
          <pc:sldMk cId="4192597380" sldId="311"/>
        </pc:sldMkLst>
      </pc:sldChg>
      <pc:sldChg chg="modSp mod">
        <pc:chgData name="Matthieu De Mari" userId="dfb708c9-d8dc-439f-9a3b-c772bf4a311c" providerId="ADAL" clId="{C8B538B8-8CF6-4232-A7C6-F38BD6869E5B}" dt="2023-08-03T04:24:16.018" v="190" actId="207"/>
        <pc:sldMkLst>
          <pc:docMk/>
          <pc:sldMk cId="3352136851" sldId="312"/>
        </pc:sldMkLst>
      </pc:sldChg>
      <pc:sldChg chg="del">
        <pc:chgData name="Matthieu De Mari" userId="dfb708c9-d8dc-439f-9a3b-c772bf4a311c" providerId="ADAL" clId="{C8B538B8-8CF6-4232-A7C6-F38BD6869E5B}" dt="2023-08-03T04:25:11.135" v="201" actId="47"/>
        <pc:sldMkLst>
          <pc:docMk/>
          <pc:sldMk cId="840025735" sldId="323"/>
        </pc:sldMkLst>
      </pc:sldChg>
      <pc:sldChg chg="addSp delSp modSp add del mod">
        <pc:chgData name="Matthieu De Mari" userId="dfb708c9-d8dc-439f-9a3b-c772bf4a311c" providerId="ADAL" clId="{C8B538B8-8CF6-4232-A7C6-F38BD6869E5B}" dt="2023-07-17T07:49:20.611" v="174" actId="47"/>
        <pc:sldMkLst>
          <pc:docMk/>
          <pc:sldMk cId="4212850336" sldId="369"/>
        </pc:sldMkLst>
      </pc:sldChg>
      <pc:sldChg chg="addSp delSp modSp add mod">
        <pc:chgData name="Matthieu De Mari" userId="dfb708c9-d8dc-439f-9a3b-c772bf4a311c" providerId="ADAL" clId="{C8B538B8-8CF6-4232-A7C6-F38BD6869E5B}" dt="2023-07-17T07:49:12.033" v="173" actId="1076"/>
        <pc:sldMkLst>
          <pc:docMk/>
          <pc:sldMk cId="869667019" sldId="3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02C633-D211-40C3-887C-3CBAB2660441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2E642-F25B-493E-A2A1-636081A89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08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EC17A-674A-4C3F-BC30-BFBA08ABE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F5FC8E-927A-465A-BBB8-B7B92B3C9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EB0EA-53CB-4CDA-B75C-3E2C0A58F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7DCCC-6D71-4A4E-AEEE-0B2218F2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5B211-9797-446B-9E37-7716E2D79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92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8D279-2F57-4FAF-AB35-927128639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0AB7B-BDD2-44C6-A0D1-49B275275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4F15B-13DA-414B-AA9E-312EFCEC1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40AAF-93D5-4761-BABD-CA5844B68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5DF0-2325-4507-A975-10BD0ADE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69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40304-AE73-4302-87CC-24B0F632C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6D78E-EC4B-4813-8A1F-F2E52F342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BA979-9BB4-4289-9DB5-99722695E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D1C4A-4B37-4BBF-8D8D-70C15BECC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8B3E8-97FD-4D5A-9E7F-094803E19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329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79A6-32DF-4326-9558-98EBAD6F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0E257-587A-4977-8F41-AC11FABE0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FC17D-7B18-4463-8AD1-02096A762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CB84B-1E02-4B58-B40A-9406EB7A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8E644-3B10-48AC-B26F-53BB6C5E5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4137B-E451-4550-AC5E-FDD5EF4A3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554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4C46-E763-4454-A55C-4D073D796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18599-2549-42D4-AE6A-3AE6303DD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F7BEA-1052-47EE-8737-373B5B8A0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0484B2-0AA6-4BCD-A9C2-F9C52D16B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28E02-2399-4E06-958B-7F589C232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92E8A1-B60E-4D34-8808-9610FA62B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9BA7C6-C3AF-4002-9A64-8ECB2CF9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D379B-4439-4262-993D-E8601E57D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90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CA69B-B8CF-4606-A5D7-3544652F8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260713-AF76-4836-9359-28352216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876BFC-C6C6-4391-96C0-036E3423C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3CDA8-423E-4EBF-B090-31D689A9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58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4F8BF8-883B-45CC-977C-3F5DE7B2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F6F30B-59C0-47FD-961E-56540650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4EFC5-04B3-470E-A42E-0A939BE5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86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EC26F-BC54-47EA-8422-7DDFC0F15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9CE83-1B05-4B29-8D3C-E6D85F87F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88935-BCA0-4009-B1D3-1BA39A4F3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9C54D-351E-4CB1-A9A9-1F8DA5306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79FC4-2B2A-4D94-8376-6C57104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330FF-9589-4440-AE48-2C69F5A4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57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9373B-C9EC-4F6B-A67F-B51B01220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BBD4C5-42CF-4F3B-BB31-69B2FEE048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BE619-7DBC-4F48-8E20-C4870284D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4D82F-3C69-4C72-AC90-41D10B952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39B8B-B801-4287-A83C-8B7FBF03F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7A3F8-BBC8-4F62-A0AD-2511EE0A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65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671A0-F864-4A74-B2F3-7FBE77203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48ACD-F019-4406-9C30-2C5A77016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EA5E0-D375-4F3F-9AD5-1441B5995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C4CD-9620-4676-9662-448832098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3F1F2-AFC7-4EBE-B003-21CEE11A5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47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A82569-1D65-4E5C-BD57-29B9DC19CE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6F27E-5FB9-4CAB-8A03-0B351C448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FFC07-50E2-48CF-8AA1-5F9484122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95BAE-CED5-43DE-82FA-5CA17A011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DCF8A-5E6C-4D03-9E8B-B531C59FD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8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31D2B0-631C-48D1-9B72-3E71AD362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3816A-C1DA-4952-B535-751DF2311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DAE84-914B-4B93-B507-4EDA527FA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D92ED-88E0-4D42-8630-3B50EDC3B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3A48-E58F-431C-822F-923321606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30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16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15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14.png"/><Relationship Id="rId5" Type="http://schemas.openxmlformats.org/officeDocument/2006/relationships/tags" Target="../tags/tag6.xml"/><Relationship Id="rId10" Type="http://schemas.openxmlformats.org/officeDocument/2006/relationships/image" Target="../media/image13.svg"/><Relationship Id="rId4" Type="http://schemas.openxmlformats.org/officeDocument/2006/relationships/tags" Target="../tags/tag5.xml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16.png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image" Target="../media/image15.sv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image" Target="../media/image14.png"/><Relationship Id="rId5" Type="http://schemas.openxmlformats.org/officeDocument/2006/relationships/tags" Target="../tags/tag13.xml"/><Relationship Id="rId10" Type="http://schemas.openxmlformats.org/officeDocument/2006/relationships/image" Target="../media/image13.svg"/><Relationship Id="rId4" Type="http://schemas.openxmlformats.org/officeDocument/2006/relationships/tags" Target="../tags/tag12.xml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16.png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image" Target="../media/image15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image" Target="../media/image14.png"/><Relationship Id="rId5" Type="http://schemas.openxmlformats.org/officeDocument/2006/relationships/tags" Target="../tags/tag20.xml"/><Relationship Id="rId10" Type="http://schemas.openxmlformats.org/officeDocument/2006/relationships/image" Target="../media/image13.svg"/><Relationship Id="rId4" Type="http://schemas.openxmlformats.org/officeDocument/2006/relationships/tags" Target="../tags/tag19.xml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numpy.org/doc/stable/" TargetMode="Externa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800C-4604-46C3-8534-E49641641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6310"/>
            <a:ext cx="12192000" cy="3897006"/>
          </a:xfrm>
        </p:spPr>
        <p:txBody>
          <a:bodyPr>
            <a:normAutofit fontScale="90000"/>
          </a:bodyPr>
          <a:lstStyle/>
          <a:p>
            <a:r>
              <a:rPr lang="en-US" dirty="0"/>
              <a:t>A gamified introduction to</a:t>
            </a:r>
            <a:br>
              <a:rPr lang="en-US" dirty="0"/>
            </a:br>
            <a:r>
              <a:rPr lang="en-US" dirty="0"/>
              <a:t>Python Programming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Lecture 12</a:t>
            </a:r>
            <a:br>
              <a:rPr lang="en-US" dirty="0"/>
            </a:br>
            <a:r>
              <a:rPr lang="en-US" dirty="0"/>
              <a:t>Libraries &amp; Importing (</a:t>
            </a:r>
            <a:r>
              <a:rPr lang="en-US" dirty="0" err="1"/>
              <a:t>Numpy</a:t>
            </a:r>
            <a:r>
              <a:rPr lang="en-US" dirty="0"/>
              <a:t> example)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8C5E95-F1FD-4A67-A3DE-8055EE3B6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3316"/>
            <a:ext cx="9144000" cy="1655762"/>
          </a:xfrm>
        </p:spPr>
        <p:txBody>
          <a:bodyPr/>
          <a:lstStyle/>
          <a:p>
            <a:r>
              <a:rPr lang="en-US" dirty="0"/>
              <a:t>Matthieu DE MARI – Singapore University of Technology and Design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9755DB92-2D71-489C-96BD-2993BB4CC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995521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12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C776-F489-4F89-B9D1-64DFC920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4" y="406968"/>
            <a:ext cx="6798541" cy="837884"/>
          </a:xfrm>
        </p:spPr>
        <p:txBody>
          <a:bodyPr anchor="b">
            <a:normAutofit/>
          </a:bodyPr>
          <a:lstStyle/>
          <a:p>
            <a:r>
              <a:rPr lang="en-US" sz="4000" dirty="0"/>
              <a:t>Outline (Chapter 12)</a:t>
            </a:r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943E5914-5549-6D68-0D39-CD2945350A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64" r="40215" b="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85463-414E-4F5F-96DD-C1BA37CF0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1651819"/>
            <a:ext cx="7362963" cy="5004619"/>
          </a:xfrm>
        </p:spPr>
        <p:txBody>
          <a:bodyPr>
            <a:normAutofit/>
          </a:bodyPr>
          <a:lstStyle/>
          <a:p>
            <a:r>
              <a:rPr lang="en-US" dirty="0"/>
              <a:t>A quick word on memory management and lists: </a:t>
            </a:r>
            <a:r>
              <a:rPr lang="en-US" b="1" dirty="0"/>
              <a:t>aliasing</a:t>
            </a:r>
            <a:r>
              <a:rPr lang="en-US" dirty="0"/>
              <a:t>, </a:t>
            </a:r>
            <a:r>
              <a:rPr lang="en-US" b="1" dirty="0"/>
              <a:t>shallow</a:t>
            </a:r>
            <a:r>
              <a:rPr lang="en-US" dirty="0"/>
              <a:t> and </a:t>
            </a:r>
            <a:r>
              <a:rPr lang="en-US" b="1" dirty="0"/>
              <a:t>deep copies.</a:t>
            </a:r>
          </a:p>
          <a:p>
            <a:r>
              <a:rPr lang="en-US" dirty="0"/>
              <a:t>What is a </a:t>
            </a:r>
            <a:r>
              <a:rPr lang="en-US" b="1" dirty="0"/>
              <a:t>library</a:t>
            </a:r>
            <a:r>
              <a:rPr lang="en-US" dirty="0"/>
              <a:t>? What is the </a:t>
            </a:r>
            <a:r>
              <a:rPr lang="en-US" b="1" dirty="0" err="1"/>
              <a:t>Numpy</a:t>
            </a:r>
            <a:r>
              <a:rPr lang="en-US" b="1" dirty="0"/>
              <a:t> library </a:t>
            </a:r>
            <a:r>
              <a:rPr lang="en-US" dirty="0"/>
              <a:t>and its basic concepts (e.g. arrays, math functions, etc.)?</a:t>
            </a:r>
          </a:p>
          <a:p>
            <a:r>
              <a:rPr lang="en-US" dirty="0"/>
              <a:t>What is the </a:t>
            </a:r>
            <a:r>
              <a:rPr lang="en-US" b="1" dirty="0"/>
              <a:t>import procedure </a:t>
            </a:r>
            <a:r>
              <a:rPr lang="en-US" dirty="0"/>
              <a:t>doing exactly?</a:t>
            </a:r>
          </a:p>
          <a:p>
            <a:r>
              <a:rPr lang="en-US" dirty="0"/>
              <a:t>How to organize your different codes for better </a:t>
            </a:r>
            <a:r>
              <a:rPr lang="en-US" b="1" dirty="0"/>
              <a:t>project organizing</a:t>
            </a:r>
            <a:r>
              <a:rPr lang="en-US" dirty="0"/>
              <a:t>?</a:t>
            </a:r>
          </a:p>
          <a:p>
            <a:r>
              <a:rPr lang="en-US" b="1" dirty="0"/>
              <a:t>Our first mini-project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241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04CBA-5754-415A-81C3-90DDA6FD0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of a computer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FC465-1E17-4249-B562-1064AA68F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660923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memory of a computer consists of several “boxes”, which contain values for variables. Each “box” is identified by an </a:t>
            </a:r>
            <a:r>
              <a:rPr lang="en-US" b="1" dirty="0"/>
              <a:t>address/ID.</a:t>
            </a:r>
          </a:p>
          <a:p>
            <a:pPr marL="0" indent="0">
              <a:buNone/>
            </a:pPr>
            <a:r>
              <a:rPr lang="en-US" dirty="0"/>
              <a:t>When a variable is created:</a:t>
            </a:r>
          </a:p>
          <a:p>
            <a:r>
              <a:rPr lang="en-US" dirty="0"/>
              <a:t>A “box” is assigned for the variable and its value is stored in the “box”.</a:t>
            </a:r>
          </a:p>
          <a:p>
            <a:r>
              <a:rPr lang="en-US" dirty="0"/>
              <a:t>The variable name simply refers to the address/ID of the “box”.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826DFC4B-CC4F-4E11-924F-D90905772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41492"/>
              </p:ext>
            </p:extLst>
          </p:nvPr>
        </p:nvGraphicFramePr>
        <p:xfrm>
          <a:off x="6499122" y="1398954"/>
          <a:ext cx="5565059" cy="1484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4462">
                  <a:extLst>
                    <a:ext uri="{9D8B030D-6E8A-4147-A177-3AD203B41FA5}">
                      <a16:colId xmlns:a16="http://schemas.microsoft.com/office/drawing/2014/main" val="3641291649"/>
                    </a:ext>
                  </a:extLst>
                </a:gridCol>
                <a:gridCol w="1974462">
                  <a:extLst>
                    <a:ext uri="{9D8B030D-6E8A-4147-A177-3AD203B41FA5}">
                      <a16:colId xmlns:a16="http://schemas.microsoft.com/office/drawing/2014/main" val="1538670741"/>
                    </a:ext>
                  </a:extLst>
                </a:gridCol>
                <a:gridCol w="1616135">
                  <a:extLst>
                    <a:ext uri="{9D8B030D-6E8A-4147-A177-3AD203B41FA5}">
                      <a16:colId xmlns:a16="http://schemas.microsoft.com/office/drawing/2014/main" val="138062890"/>
                    </a:ext>
                  </a:extLst>
                </a:gridCol>
              </a:tblGrid>
              <a:tr h="37100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Identifier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Memory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099612"/>
                  </a:ext>
                </a:extLst>
              </a:tr>
              <a:tr h="37100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Address</a:t>
                      </a:r>
                      <a:endParaRPr lang="en-GB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</a:t>
                      </a:r>
                      <a:endParaRPr lang="en-GB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398185"/>
                  </a:ext>
                </a:extLst>
              </a:tr>
              <a:tr h="371003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         x1 </a:t>
                      </a:r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140725454247872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243794"/>
                  </a:ext>
                </a:extLst>
              </a:tr>
              <a:tr h="37100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81244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E77360-9F7C-44B7-A86D-E974AC048490}"/>
              </a:ext>
            </a:extLst>
          </p:cNvPr>
          <p:cNvCxnSpPr>
            <a:cxnSpLocks/>
          </p:cNvCxnSpPr>
          <p:nvPr/>
        </p:nvCxnSpPr>
        <p:spPr>
          <a:xfrm>
            <a:off x="7413523" y="2336800"/>
            <a:ext cx="909862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9EF67EBA-21F9-47F9-9248-874C8F1AF6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633" t="26368" r="37168" b="59616"/>
          <a:stretch/>
        </p:blipFill>
        <p:spPr>
          <a:xfrm>
            <a:off x="8169469" y="3685866"/>
            <a:ext cx="2761862" cy="195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188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04CBA-5754-415A-81C3-90DDA6FD0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the </a:t>
            </a:r>
            <a:r>
              <a:rPr lang="en-US" b="1" dirty="0">
                <a:solidFill>
                  <a:srgbClr val="00B050"/>
                </a:solidFill>
              </a:rPr>
              <a:t>id</a:t>
            </a:r>
            <a:r>
              <a:rPr lang="en-US" b="1" dirty="0"/>
              <a:t>() </a:t>
            </a:r>
            <a:r>
              <a:rPr lang="en-US" dirty="0"/>
              <a:t>function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A95B08-8B9A-40ED-963A-EC2521CC3D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633" t="26368" r="37168" b="24898"/>
          <a:stretch/>
        </p:blipFill>
        <p:spPr>
          <a:xfrm>
            <a:off x="7819053" y="72688"/>
            <a:ext cx="2761862" cy="6785312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F9B3B73-BB04-29F1-AC97-6C7C74F4A9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552768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 (</a:t>
            </a:r>
            <a:r>
              <a:rPr lang="en-US" b="1" dirty="0">
                <a:solidFill>
                  <a:srgbClr val="00B050"/>
                </a:solidFill>
              </a:rPr>
              <a:t>Aliasing</a:t>
            </a:r>
            <a:r>
              <a:rPr lang="en-US" b="1" dirty="0"/>
              <a:t>): </a:t>
            </a:r>
          </a:p>
          <a:p>
            <a:pPr marL="0" indent="0">
              <a:buNone/>
            </a:pPr>
            <a:r>
              <a:rPr lang="en-US" dirty="0"/>
              <a:t>Python saves memory space by having two variables </a:t>
            </a:r>
            <a:r>
              <a:rPr lang="en-US" b="1" dirty="0"/>
              <a:t>point to the same memory ID/location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is called </a:t>
            </a:r>
            <a:r>
              <a:rPr lang="en-US" b="1" dirty="0">
                <a:solidFill>
                  <a:srgbClr val="00B050"/>
                </a:solidFill>
              </a:rPr>
              <a:t>aliasing</a:t>
            </a:r>
            <a:r>
              <a:rPr lang="en-US" dirty="0"/>
              <a:t>.</a:t>
            </a:r>
          </a:p>
          <a:p>
            <a:r>
              <a:rPr lang="en-US" dirty="0"/>
              <a:t>Two variables with different names but identical values might end up being stored in the same address, to save memory space.</a:t>
            </a:r>
          </a:p>
          <a:p>
            <a:r>
              <a:rPr lang="en-US" dirty="0"/>
              <a:t>This can be confirmed by checking the </a:t>
            </a:r>
            <a:r>
              <a:rPr lang="en-US" b="1" dirty="0">
                <a:solidFill>
                  <a:srgbClr val="00B050"/>
                </a:solidFill>
              </a:rPr>
              <a:t>id</a:t>
            </a:r>
            <a:r>
              <a:rPr lang="en-US" b="1" dirty="0"/>
              <a:t>()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/>
              <a:t>of both variables.</a:t>
            </a:r>
          </a:p>
          <a:p>
            <a:endParaRPr lang="en-US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0470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04CBA-5754-415A-81C3-90DDA6FD0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the </a:t>
            </a:r>
            <a:r>
              <a:rPr lang="en-US" b="1" dirty="0">
                <a:solidFill>
                  <a:srgbClr val="00B050"/>
                </a:solidFill>
              </a:rPr>
              <a:t>id</a:t>
            </a:r>
            <a:r>
              <a:rPr lang="en-US" b="1" dirty="0"/>
              <a:t>() </a:t>
            </a:r>
            <a:r>
              <a:rPr lang="en-US" dirty="0"/>
              <a:t>function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FC465-1E17-4249-B562-1064AA68F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552768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 (</a:t>
            </a:r>
            <a:r>
              <a:rPr lang="en-US" b="1" dirty="0">
                <a:solidFill>
                  <a:srgbClr val="00B050"/>
                </a:solidFill>
              </a:rPr>
              <a:t>Aliasing</a:t>
            </a:r>
            <a:r>
              <a:rPr lang="en-US" b="1" dirty="0"/>
              <a:t>): </a:t>
            </a:r>
          </a:p>
          <a:p>
            <a:pPr marL="0" indent="0">
              <a:buNone/>
            </a:pPr>
            <a:r>
              <a:rPr lang="en-US" dirty="0"/>
              <a:t>Python saves memory space by having two variables </a:t>
            </a:r>
            <a:r>
              <a:rPr lang="en-US" b="1" dirty="0"/>
              <a:t>point to the same memory ID/location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is called </a:t>
            </a:r>
            <a:r>
              <a:rPr lang="en-US" b="1" dirty="0">
                <a:solidFill>
                  <a:srgbClr val="00B050"/>
                </a:solidFill>
              </a:rPr>
              <a:t>aliasing</a:t>
            </a:r>
            <a:r>
              <a:rPr lang="en-US" dirty="0"/>
              <a:t>.</a:t>
            </a:r>
          </a:p>
          <a:p>
            <a:r>
              <a:rPr lang="en-US" dirty="0"/>
              <a:t>Two variables with different names but identical values might end up being stored in the same address, to save memory space.</a:t>
            </a:r>
          </a:p>
          <a:p>
            <a:r>
              <a:rPr lang="en-US" dirty="0"/>
              <a:t>This can be confirmed by checking the </a:t>
            </a:r>
            <a:r>
              <a:rPr lang="en-US" b="1" dirty="0">
                <a:solidFill>
                  <a:srgbClr val="00B050"/>
                </a:solidFill>
              </a:rPr>
              <a:t>id</a:t>
            </a:r>
            <a:r>
              <a:rPr lang="en-US" b="1" dirty="0"/>
              <a:t>()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/>
              <a:t>of both variables.</a:t>
            </a:r>
          </a:p>
          <a:p>
            <a:endParaRPr lang="en-US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A95B08-8B9A-40ED-963A-EC2521CC3D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633" t="56719" r="37168" b="24898"/>
          <a:stretch/>
        </p:blipFill>
        <p:spPr>
          <a:xfrm>
            <a:off x="7819053" y="4298462"/>
            <a:ext cx="2761862" cy="2559538"/>
          </a:xfrm>
          <a:prstGeom prst="rect">
            <a:avLst/>
          </a:prstGeom>
        </p:spPr>
      </p:pic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E3D34997-2D4E-4604-92EE-309702CB2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801066"/>
              </p:ext>
            </p:extLst>
          </p:nvPr>
        </p:nvGraphicFramePr>
        <p:xfrm>
          <a:off x="6252308" y="1398954"/>
          <a:ext cx="5877168" cy="1484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056">
                  <a:extLst>
                    <a:ext uri="{9D8B030D-6E8A-4147-A177-3AD203B41FA5}">
                      <a16:colId xmlns:a16="http://schemas.microsoft.com/office/drawing/2014/main" val="3641291649"/>
                    </a:ext>
                  </a:extLst>
                </a:gridCol>
                <a:gridCol w="1959056">
                  <a:extLst>
                    <a:ext uri="{9D8B030D-6E8A-4147-A177-3AD203B41FA5}">
                      <a16:colId xmlns:a16="http://schemas.microsoft.com/office/drawing/2014/main" val="1538670741"/>
                    </a:ext>
                  </a:extLst>
                </a:gridCol>
                <a:gridCol w="1959056">
                  <a:extLst>
                    <a:ext uri="{9D8B030D-6E8A-4147-A177-3AD203B41FA5}">
                      <a16:colId xmlns:a16="http://schemas.microsoft.com/office/drawing/2014/main" val="138062890"/>
                    </a:ext>
                  </a:extLst>
                </a:gridCol>
              </a:tblGrid>
              <a:tr h="37100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Identifier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Memory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099612"/>
                  </a:ext>
                </a:extLst>
              </a:tr>
              <a:tr h="37100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Address</a:t>
                      </a:r>
                      <a:endParaRPr lang="en-GB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</a:t>
                      </a:r>
                      <a:endParaRPr lang="en-GB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398185"/>
                  </a:ext>
                </a:extLst>
              </a:tr>
              <a:tr h="371003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   x1, x3 </a:t>
                      </a:r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140725454247872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243794"/>
                  </a:ext>
                </a:extLst>
              </a:tr>
              <a:tr h="37100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81244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007FF73-E4F6-4197-B4C1-85AD813B1716}"/>
              </a:ext>
            </a:extLst>
          </p:cNvPr>
          <p:cNvCxnSpPr>
            <a:cxnSpLocks/>
          </p:cNvCxnSpPr>
          <p:nvPr/>
        </p:nvCxnSpPr>
        <p:spPr>
          <a:xfrm>
            <a:off x="7143262" y="2336800"/>
            <a:ext cx="1180123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586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2252A-DE0A-4FEC-A0CF-BCA34D609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management in lists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6CD47-CE1B-4C1A-A84A-DD18E567AB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list</a:t>
            </a:r>
            <a:r>
              <a:rPr lang="en-US" dirty="0"/>
              <a:t> is a collection of variables.</a:t>
            </a:r>
          </a:p>
          <a:p>
            <a:r>
              <a:rPr lang="en-US" dirty="0"/>
              <a:t>If variables are assembled in a list, we reuse the existing memory locations (same id).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137B5A-AC58-4302-80A8-6F622A384C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31" t="38564" r="35000" b="15693"/>
          <a:stretch/>
        </p:blipFill>
        <p:spPr>
          <a:xfrm>
            <a:off x="8065474" y="59349"/>
            <a:ext cx="3915509" cy="676866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B4B84E3-6FD2-4710-84D3-594693AD81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31" t="23206" r="35000" b="62770"/>
          <a:stretch/>
        </p:blipFill>
        <p:spPr>
          <a:xfrm>
            <a:off x="562752" y="3743570"/>
            <a:ext cx="5453140" cy="288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008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2252A-DE0A-4FEC-A0CF-BCA34D609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management in lists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6CD47-CE1B-4C1A-A84A-DD18E567AB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list</a:t>
            </a:r>
            <a:r>
              <a:rPr lang="en-US" dirty="0"/>
              <a:t> is a collection of variables.</a:t>
            </a:r>
          </a:p>
          <a:p>
            <a:r>
              <a:rPr lang="en-US" dirty="0"/>
              <a:t>The variables in a list are </a:t>
            </a:r>
            <a:r>
              <a:rPr lang="en-US" b="1" dirty="0"/>
              <a:t>chained</a:t>
            </a:r>
            <a:r>
              <a:rPr lang="en-US" dirty="0"/>
              <a:t> together.</a:t>
            </a:r>
          </a:p>
          <a:p>
            <a:r>
              <a:rPr lang="en-US" dirty="0"/>
              <a:t>(In practice, it is actually more complex than this, but for now, at our current beginner level, this will do!)</a:t>
            </a:r>
          </a:p>
          <a:p>
            <a:endParaRPr lang="en-GB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37727ECE-EEE1-4657-8A25-BCE13E29EA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935501"/>
              </p:ext>
            </p:extLst>
          </p:nvPr>
        </p:nvGraphicFramePr>
        <p:xfrm>
          <a:off x="7682523" y="2048281"/>
          <a:ext cx="4376616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188308">
                  <a:extLst>
                    <a:ext uri="{9D8B030D-6E8A-4147-A177-3AD203B41FA5}">
                      <a16:colId xmlns:a16="http://schemas.microsoft.com/office/drawing/2014/main" val="139457299"/>
                    </a:ext>
                  </a:extLst>
                </a:gridCol>
                <a:gridCol w="2188308">
                  <a:extLst>
                    <a:ext uri="{9D8B030D-6E8A-4147-A177-3AD203B41FA5}">
                      <a16:colId xmlns:a16="http://schemas.microsoft.com/office/drawing/2014/main" val="2263908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Address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rgbClr val="7030A0"/>
                          </a:solidFill>
                        </a:rPr>
                        <a:t>140725454247936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09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896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Next Address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140725454247872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680140"/>
                  </a:ext>
                </a:extLst>
              </a:tr>
            </a:tbl>
          </a:graphicData>
        </a:graphic>
      </p:graphicFrame>
      <p:graphicFrame>
        <p:nvGraphicFramePr>
          <p:cNvPr id="12" name="Table 10">
            <a:extLst>
              <a:ext uri="{FF2B5EF4-FFF2-40B4-BE49-F238E27FC236}">
                <a16:creationId xmlns:a16="http://schemas.microsoft.com/office/drawing/2014/main" id="{BFC39889-5E84-48E3-B60E-13D851185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390159"/>
              </p:ext>
            </p:extLst>
          </p:nvPr>
        </p:nvGraphicFramePr>
        <p:xfrm>
          <a:off x="7682523" y="3763758"/>
          <a:ext cx="4376616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188308">
                  <a:extLst>
                    <a:ext uri="{9D8B030D-6E8A-4147-A177-3AD203B41FA5}">
                      <a16:colId xmlns:a16="http://schemas.microsoft.com/office/drawing/2014/main" val="139457299"/>
                    </a:ext>
                  </a:extLst>
                </a:gridCol>
                <a:gridCol w="2188308">
                  <a:extLst>
                    <a:ext uri="{9D8B030D-6E8A-4147-A177-3AD203B41FA5}">
                      <a16:colId xmlns:a16="http://schemas.microsoft.com/office/drawing/2014/main" val="2263908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Address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rgbClr val="7030A0"/>
                          </a:solidFill>
                        </a:rPr>
                        <a:t>140725454247872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09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896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Next Address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140725454248096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680140"/>
                  </a:ext>
                </a:extLst>
              </a:tr>
            </a:tbl>
          </a:graphicData>
        </a:graphic>
      </p:graphicFrame>
      <p:graphicFrame>
        <p:nvGraphicFramePr>
          <p:cNvPr id="13" name="Table 10">
            <a:extLst>
              <a:ext uri="{FF2B5EF4-FFF2-40B4-BE49-F238E27FC236}">
                <a16:creationId xmlns:a16="http://schemas.microsoft.com/office/drawing/2014/main" id="{E30868F0-1629-479B-97BD-DB5970EE9C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76528"/>
              </p:ext>
            </p:extLst>
          </p:nvPr>
        </p:nvGraphicFramePr>
        <p:xfrm>
          <a:off x="7682523" y="5479235"/>
          <a:ext cx="4376616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188308">
                  <a:extLst>
                    <a:ext uri="{9D8B030D-6E8A-4147-A177-3AD203B41FA5}">
                      <a16:colId xmlns:a16="http://schemas.microsoft.com/office/drawing/2014/main" val="139457299"/>
                    </a:ext>
                  </a:extLst>
                </a:gridCol>
                <a:gridCol w="2188308">
                  <a:extLst>
                    <a:ext uri="{9D8B030D-6E8A-4147-A177-3AD203B41FA5}">
                      <a16:colId xmlns:a16="http://schemas.microsoft.com/office/drawing/2014/main" val="2263908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Address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rgbClr val="7030A0"/>
                          </a:solidFill>
                        </a:rPr>
                        <a:t>140725454248096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09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896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Next Address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End of list</a:t>
                      </a:r>
                      <a:endParaRPr lang="en-GB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680140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62C10F-41BB-4FB2-B649-2C4D09080E59}"/>
              </a:ext>
            </a:extLst>
          </p:cNvPr>
          <p:cNvCxnSpPr>
            <a:cxnSpLocks/>
          </p:cNvCxnSpPr>
          <p:nvPr/>
        </p:nvCxnSpPr>
        <p:spPr>
          <a:xfrm>
            <a:off x="10949354" y="3160801"/>
            <a:ext cx="0" cy="602957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FAC9D75-F76F-43D1-B829-7F2D8C0FD8E3}"/>
              </a:ext>
            </a:extLst>
          </p:cNvPr>
          <p:cNvCxnSpPr>
            <a:cxnSpLocks/>
          </p:cNvCxnSpPr>
          <p:nvPr/>
        </p:nvCxnSpPr>
        <p:spPr>
          <a:xfrm>
            <a:off x="10961077" y="4876278"/>
            <a:ext cx="0" cy="602957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590155D-6390-45FD-9341-70B70D1193DA}"/>
              </a:ext>
            </a:extLst>
          </p:cNvPr>
          <p:cNvSpPr txBox="1"/>
          <p:nvPr/>
        </p:nvSpPr>
        <p:spPr>
          <a:xfrm rot="16200000">
            <a:off x="6653434" y="2373709"/>
            <a:ext cx="1112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list1[0]</a:t>
            </a:r>
            <a:endParaRPr lang="en-GB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02F914-40EE-4128-A5B2-5D1CEB736FF5}"/>
              </a:ext>
            </a:extLst>
          </p:cNvPr>
          <p:cNvSpPr txBox="1"/>
          <p:nvPr/>
        </p:nvSpPr>
        <p:spPr>
          <a:xfrm rot="16200000">
            <a:off x="6653435" y="4089185"/>
            <a:ext cx="1112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list1[1]</a:t>
            </a:r>
            <a:endParaRPr lang="en-GB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485E8-4816-430B-B274-6C0E81A9CB3D}"/>
              </a:ext>
            </a:extLst>
          </p:cNvPr>
          <p:cNvSpPr txBox="1"/>
          <p:nvPr/>
        </p:nvSpPr>
        <p:spPr>
          <a:xfrm rot="16200000">
            <a:off x="6653434" y="5804660"/>
            <a:ext cx="1112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list1[2]</a:t>
            </a:r>
            <a:endParaRPr lang="en-GB" sz="2400" b="1" dirty="0"/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0356BC8C-5981-4F19-8DAC-A890AA6D62A3}"/>
              </a:ext>
            </a:extLst>
          </p:cNvPr>
          <p:cNvSpPr/>
          <p:nvPr/>
        </p:nvSpPr>
        <p:spPr>
          <a:xfrm>
            <a:off x="7502768" y="2048281"/>
            <a:ext cx="117231" cy="1112520"/>
          </a:xfrm>
          <a:prstGeom prst="leftBrac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93625AA8-3A9F-4F21-940C-1CC58A277D78}"/>
              </a:ext>
            </a:extLst>
          </p:cNvPr>
          <p:cNvSpPr/>
          <p:nvPr/>
        </p:nvSpPr>
        <p:spPr>
          <a:xfrm>
            <a:off x="7502766" y="3763757"/>
            <a:ext cx="117231" cy="1112520"/>
          </a:xfrm>
          <a:prstGeom prst="leftBrac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083067D4-8DB7-4352-BF79-5CD167801563}"/>
              </a:ext>
            </a:extLst>
          </p:cNvPr>
          <p:cNvSpPr/>
          <p:nvPr/>
        </p:nvSpPr>
        <p:spPr>
          <a:xfrm>
            <a:off x="7502767" y="5479232"/>
            <a:ext cx="117231" cy="1112520"/>
          </a:xfrm>
          <a:prstGeom prst="leftBrac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951557-C5BB-4417-82E3-36369FFFA965}"/>
              </a:ext>
            </a:extLst>
          </p:cNvPr>
          <p:cNvSpPr/>
          <p:nvPr/>
        </p:nvSpPr>
        <p:spPr>
          <a:xfrm>
            <a:off x="6705600" y="1953846"/>
            <a:ext cx="5416062" cy="4759569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5" name="Table 7">
            <a:extLst>
              <a:ext uri="{FF2B5EF4-FFF2-40B4-BE49-F238E27FC236}">
                <a16:creationId xmlns:a16="http://schemas.microsoft.com/office/drawing/2014/main" id="{D3F6C3F1-1A3B-4B1A-86EF-E4C5696AF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770174"/>
              </p:ext>
            </p:extLst>
          </p:nvPr>
        </p:nvGraphicFramePr>
        <p:xfrm>
          <a:off x="425937" y="5107740"/>
          <a:ext cx="5877168" cy="1484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056">
                  <a:extLst>
                    <a:ext uri="{9D8B030D-6E8A-4147-A177-3AD203B41FA5}">
                      <a16:colId xmlns:a16="http://schemas.microsoft.com/office/drawing/2014/main" val="3641291649"/>
                    </a:ext>
                  </a:extLst>
                </a:gridCol>
                <a:gridCol w="1959056">
                  <a:extLst>
                    <a:ext uri="{9D8B030D-6E8A-4147-A177-3AD203B41FA5}">
                      <a16:colId xmlns:a16="http://schemas.microsoft.com/office/drawing/2014/main" val="1538670741"/>
                    </a:ext>
                  </a:extLst>
                </a:gridCol>
                <a:gridCol w="1959056">
                  <a:extLst>
                    <a:ext uri="{9D8B030D-6E8A-4147-A177-3AD203B41FA5}">
                      <a16:colId xmlns:a16="http://schemas.microsoft.com/office/drawing/2014/main" val="138062890"/>
                    </a:ext>
                  </a:extLst>
                </a:gridCol>
              </a:tblGrid>
              <a:tr h="37100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Identifier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Memory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099612"/>
                  </a:ext>
                </a:extLst>
              </a:tr>
              <a:tr h="37100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Address</a:t>
                      </a:r>
                      <a:endParaRPr lang="en-GB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</a:t>
                      </a:r>
                      <a:endParaRPr lang="en-GB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398185"/>
                  </a:ext>
                </a:extLst>
              </a:tr>
              <a:tr h="371003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   list1</a:t>
                      </a:r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1769354632448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List value</a:t>
                      </a:r>
                      <a:endParaRPr lang="en-GB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243794"/>
                  </a:ext>
                </a:extLst>
              </a:tr>
              <a:tr h="37100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81244"/>
                  </a:ext>
                </a:extLst>
              </a:tr>
            </a:tbl>
          </a:graphicData>
        </a:graphic>
      </p:graphicFrame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CBBE791-9B1F-468F-B09F-89C026313967}"/>
              </a:ext>
            </a:extLst>
          </p:cNvPr>
          <p:cNvCxnSpPr>
            <a:cxnSpLocks/>
          </p:cNvCxnSpPr>
          <p:nvPr/>
        </p:nvCxnSpPr>
        <p:spPr>
          <a:xfrm>
            <a:off x="1058985" y="6035492"/>
            <a:ext cx="1512277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68EFC5E-987A-4A48-8F4A-7ACC59728D2D}"/>
              </a:ext>
            </a:extLst>
          </p:cNvPr>
          <p:cNvCxnSpPr>
            <a:endCxn id="18" idx="0"/>
          </p:cNvCxnSpPr>
          <p:nvPr/>
        </p:nvCxnSpPr>
        <p:spPr>
          <a:xfrm>
            <a:off x="6486769" y="2604541"/>
            <a:ext cx="492092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85C0232-21AD-4DA2-B460-977207CF3BBC}"/>
              </a:ext>
            </a:extLst>
          </p:cNvPr>
          <p:cNvCxnSpPr>
            <a:cxnSpLocks/>
          </p:cNvCxnSpPr>
          <p:nvPr/>
        </p:nvCxnSpPr>
        <p:spPr>
          <a:xfrm>
            <a:off x="6486769" y="2604541"/>
            <a:ext cx="0" cy="3430951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08FFC27-DE88-4CFC-B88C-34EFB7960863}"/>
              </a:ext>
            </a:extLst>
          </p:cNvPr>
          <p:cNvCxnSpPr>
            <a:cxnSpLocks/>
          </p:cNvCxnSpPr>
          <p:nvPr/>
        </p:nvCxnSpPr>
        <p:spPr>
          <a:xfrm>
            <a:off x="5811716" y="6035492"/>
            <a:ext cx="691036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064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B9BAC-5298-45F5-BAF1-96B85A260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management in lists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54829-8AA2-4E27-AB0C-2BE5E70F1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When playing with simple (non-compound) types of variables, such as int, float and strings, Python is smart enough to address aliasing.</a:t>
            </a:r>
          </a:p>
          <a:p>
            <a:r>
              <a:rPr lang="en-GB" dirty="0"/>
              <a:t>If x1 is changed, Python will adjust so that the list remains unaffected.</a:t>
            </a:r>
          </a:p>
          <a:p>
            <a:r>
              <a:rPr lang="en-GB" dirty="0"/>
              <a:t>It simply reallocates x1 to another location in memory, so the list remains unaffected.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DE8C3C-A996-4B99-A1E7-3E8A09B34E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31" t="38359" r="37180" b="39282"/>
          <a:stretch/>
        </p:blipFill>
        <p:spPr>
          <a:xfrm>
            <a:off x="6744676" y="1498182"/>
            <a:ext cx="4478216" cy="513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027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2252A-DE0A-4FEC-A0CF-BCA34D609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Aliasing in lists: problem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AD0F20-9289-4A7A-8CF5-C25B73D9F8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31" t="48000" r="36154" b="33949"/>
          <a:stretch/>
        </p:blipFill>
        <p:spPr>
          <a:xfrm>
            <a:off x="7227278" y="1581119"/>
            <a:ext cx="4183184" cy="3316398"/>
          </a:xfrm>
          <a:prstGeom prst="rect">
            <a:avLst/>
          </a:prstGeom>
        </p:spPr>
      </p:pic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66D41B40-AB4F-476D-B058-2BBCDF39C5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25603"/>
            <a:ext cx="5181600" cy="45513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list</a:t>
            </a:r>
            <a:r>
              <a:rPr lang="en-US" dirty="0"/>
              <a:t> is a collection of variables. </a:t>
            </a:r>
          </a:p>
          <a:p>
            <a:r>
              <a:rPr lang="en-US" dirty="0"/>
              <a:t>The variables in a list are </a:t>
            </a:r>
            <a:r>
              <a:rPr lang="en-US" b="1" dirty="0"/>
              <a:t>chained</a:t>
            </a:r>
            <a:r>
              <a:rPr lang="en-US" dirty="0"/>
              <a:t> together.</a:t>
            </a:r>
          </a:p>
          <a:p>
            <a:r>
              <a:rPr lang="en-GB" b="1" dirty="0"/>
              <a:t>Aliasing: </a:t>
            </a:r>
            <a:r>
              <a:rPr lang="en-GB" dirty="0"/>
              <a:t>We can assign a list to another variable name and reuse the existing memory spaces, not creating new ones.</a:t>
            </a:r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9031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2252A-DE0A-4FEC-A0CF-BCA34D609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Aliasing in lists: problem</a:t>
            </a:r>
            <a:endParaRPr lang="en-GB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37727ECE-EEE1-4657-8A25-BCE13E29EA33}"/>
              </a:ext>
            </a:extLst>
          </p:cNvPr>
          <p:cNvGraphicFramePr>
            <a:graphicFrameLocks noGrp="1"/>
          </p:cNvGraphicFramePr>
          <p:nvPr/>
        </p:nvGraphicFramePr>
        <p:xfrm>
          <a:off x="7682523" y="2048281"/>
          <a:ext cx="4376616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188308">
                  <a:extLst>
                    <a:ext uri="{9D8B030D-6E8A-4147-A177-3AD203B41FA5}">
                      <a16:colId xmlns:a16="http://schemas.microsoft.com/office/drawing/2014/main" val="139457299"/>
                    </a:ext>
                  </a:extLst>
                </a:gridCol>
                <a:gridCol w="2188308">
                  <a:extLst>
                    <a:ext uri="{9D8B030D-6E8A-4147-A177-3AD203B41FA5}">
                      <a16:colId xmlns:a16="http://schemas.microsoft.com/office/drawing/2014/main" val="2263908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Address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rgbClr val="7030A0"/>
                          </a:solidFill>
                        </a:rPr>
                        <a:t>140725454247936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09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896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Next Address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140725454247872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680140"/>
                  </a:ext>
                </a:extLst>
              </a:tr>
            </a:tbl>
          </a:graphicData>
        </a:graphic>
      </p:graphicFrame>
      <p:graphicFrame>
        <p:nvGraphicFramePr>
          <p:cNvPr id="12" name="Table 10">
            <a:extLst>
              <a:ext uri="{FF2B5EF4-FFF2-40B4-BE49-F238E27FC236}">
                <a16:creationId xmlns:a16="http://schemas.microsoft.com/office/drawing/2014/main" id="{BFC39889-5E84-48E3-B60E-13D851185B55}"/>
              </a:ext>
            </a:extLst>
          </p:cNvPr>
          <p:cNvGraphicFramePr>
            <a:graphicFrameLocks noGrp="1"/>
          </p:cNvGraphicFramePr>
          <p:nvPr/>
        </p:nvGraphicFramePr>
        <p:xfrm>
          <a:off x="7682523" y="3763758"/>
          <a:ext cx="4376616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188308">
                  <a:extLst>
                    <a:ext uri="{9D8B030D-6E8A-4147-A177-3AD203B41FA5}">
                      <a16:colId xmlns:a16="http://schemas.microsoft.com/office/drawing/2014/main" val="139457299"/>
                    </a:ext>
                  </a:extLst>
                </a:gridCol>
                <a:gridCol w="2188308">
                  <a:extLst>
                    <a:ext uri="{9D8B030D-6E8A-4147-A177-3AD203B41FA5}">
                      <a16:colId xmlns:a16="http://schemas.microsoft.com/office/drawing/2014/main" val="2263908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Address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rgbClr val="7030A0"/>
                          </a:solidFill>
                        </a:rPr>
                        <a:t>140725454247872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09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896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Next Address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140725454248096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680140"/>
                  </a:ext>
                </a:extLst>
              </a:tr>
            </a:tbl>
          </a:graphicData>
        </a:graphic>
      </p:graphicFrame>
      <p:graphicFrame>
        <p:nvGraphicFramePr>
          <p:cNvPr id="13" name="Table 10">
            <a:extLst>
              <a:ext uri="{FF2B5EF4-FFF2-40B4-BE49-F238E27FC236}">
                <a16:creationId xmlns:a16="http://schemas.microsoft.com/office/drawing/2014/main" id="{E30868F0-1629-479B-97BD-DB5970EE9C93}"/>
              </a:ext>
            </a:extLst>
          </p:cNvPr>
          <p:cNvGraphicFramePr>
            <a:graphicFrameLocks noGrp="1"/>
          </p:cNvGraphicFramePr>
          <p:nvPr/>
        </p:nvGraphicFramePr>
        <p:xfrm>
          <a:off x="7682523" y="5479235"/>
          <a:ext cx="4376616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188308">
                  <a:extLst>
                    <a:ext uri="{9D8B030D-6E8A-4147-A177-3AD203B41FA5}">
                      <a16:colId xmlns:a16="http://schemas.microsoft.com/office/drawing/2014/main" val="139457299"/>
                    </a:ext>
                  </a:extLst>
                </a:gridCol>
                <a:gridCol w="2188308">
                  <a:extLst>
                    <a:ext uri="{9D8B030D-6E8A-4147-A177-3AD203B41FA5}">
                      <a16:colId xmlns:a16="http://schemas.microsoft.com/office/drawing/2014/main" val="2263908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Address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rgbClr val="7030A0"/>
                          </a:solidFill>
                        </a:rPr>
                        <a:t>140725454248096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09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896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Next Address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End of list</a:t>
                      </a:r>
                      <a:endParaRPr lang="en-GB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680140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62C10F-41BB-4FB2-B649-2C4D09080E59}"/>
              </a:ext>
            </a:extLst>
          </p:cNvPr>
          <p:cNvCxnSpPr>
            <a:cxnSpLocks/>
          </p:cNvCxnSpPr>
          <p:nvPr/>
        </p:nvCxnSpPr>
        <p:spPr>
          <a:xfrm>
            <a:off x="10949354" y="3160801"/>
            <a:ext cx="0" cy="602957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FAC9D75-F76F-43D1-B829-7F2D8C0FD8E3}"/>
              </a:ext>
            </a:extLst>
          </p:cNvPr>
          <p:cNvCxnSpPr>
            <a:cxnSpLocks/>
          </p:cNvCxnSpPr>
          <p:nvPr/>
        </p:nvCxnSpPr>
        <p:spPr>
          <a:xfrm>
            <a:off x="10961077" y="4876278"/>
            <a:ext cx="0" cy="602957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590155D-6390-45FD-9341-70B70D1193DA}"/>
              </a:ext>
            </a:extLst>
          </p:cNvPr>
          <p:cNvSpPr txBox="1"/>
          <p:nvPr/>
        </p:nvSpPr>
        <p:spPr>
          <a:xfrm rot="16200000">
            <a:off x="6653434" y="2189043"/>
            <a:ext cx="11125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list1[0]</a:t>
            </a:r>
            <a:br>
              <a:rPr lang="en-US" sz="2400" b="1" dirty="0"/>
            </a:br>
            <a:r>
              <a:rPr lang="en-US" sz="2400" b="1" dirty="0"/>
              <a:t>list2[0]</a:t>
            </a:r>
            <a:endParaRPr lang="en-GB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02F914-40EE-4128-A5B2-5D1CEB736FF5}"/>
              </a:ext>
            </a:extLst>
          </p:cNvPr>
          <p:cNvSpPr txBox="1"/>
          <p:nvPr/>
        </p:nvSpPr>
        <p:spPr>
          <a:xfrm rot="16200000">
            <a:off x="6653435" y="3904519"/>
            <a:ext cx="11125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list1[1]</a:t>
            </a:r>
          </a:p>
          <a:p>
            <a:pPr algn="ctr"/>
            <a:r>
              <a:rPr lang="en-US" sz="2400" b="1" dirty="0"/>
              <a:t>list2[1]</a:t>
            </a:r>
            <a:endParaRPr lang="en-GB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485E8-4816-430B-B274-6C0E81A9CB3D}"/>
              </a:ext>
            </a:extLst>
          </p:cNvPr>
          <p:cNvSpPr txBox="1"/>
          <p:nvPr/>
        </p:nvSpPr>
        <p:spPr>
          <a:xfrm rot="16200000">
            <a:off x="6653434" y="5619994"/>
            <a:ext cx="11125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list1[2]</a:t>
            </a:r>
          </a:p>
          <a:p>
            <a:pPr algn="ctr"/>
            <a:r>
              <a:rPr lang="en-US" sz="2400" b="1" dirty="0"/>
              <a:t>list2[2]</a:t>
            </a:r>
            <a:endParaRPr lang="en-GB" sz="2400" b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951557-C5BB-4417-82E3-36369FFFA965}"/>
              </a:ext>
            </a:extLst>
          </p:cNvPr>
          <p:cNvSpPr/>
          <p:nvPr/>
        </p:nvSpPr>
        <p:spPr>
          <a:xfrm>
            <a:off x="6705600" y="1953846"/>
            <a:ext cx="5416062" cy="4759569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5" name="Table 7">
            <a:extLst>
              <a:ext uri="{FF2B5EF4-FFF2-40B4-BE49-F238E27FC236}">
                <a16:creationId xmlns:a16="http://schemas.microsoft.com/office/drawing/2014/main" id="{D3F6C3F1-1A3B-4B1A-86EF-E4C5696AF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382128"/>
              </p:ext>
            </p:extLst>
          </p:nvPr>
        </p:nvGraphicFramePr>
        <p:xfrm>
          <a:off x="425937" y="5107740"/>
          <a:ext cx="5877168" cy="1484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056">
                  <a:extLst>
                    <a:ext uri="{9D8B030D-6E8A-4147-A177-3AD203B41FA5}">
                      <a16:colId xmlns:a16="http://schemas.microsoft.com/office/drawing/2014/main" val="3641291649"/>
                    </a:ext>
                  </a:extLst>
                </a:gridCol>
                <a:gridCol w="1959056">
                  <a:extLst>
                    <a:ext uri="{9D8B030D-6E8A-4147-A177-3AD203B41FA5}">
                      <a16:colId xmlns:a16="http://schemas.microsoft.com/office/drawing/2014/main" val="1538670741"/>
                    </a:ext>
                  </a:extLst>
                </a:gridCol>
                <a:gridCol w="1959056">
                  <a:extLst>
                    <a:ext uri="{9D8B030D-6E8A-4147-A177-3AD203B41FA5}">
                      <a16:colId xmlns:a16="http://schemas.microsoft.com/office/drawing/2014/main" val="138062890"/>
                    </a:ext>
                  </a:extLst>
                </a:gridCol>
              </a:tblGrid>
              <a:tr h="37100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Identifier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Memory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099612"/>
                  </a:ext>
                </a:extLst>
              </a:tr>
              <a:tr h="37100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Address</a:t>
                      </a:r>
                      <a:endParaRPr lang="en-GB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</a:t>
                      </a:r>
                      <a:endParaRPr lang="en-GB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398185"/>
                  </a:ext>
                </a:extLst>
              </a:tr>
              <a:tr h="371003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   list1, list2</a:t>
                      </a:r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1769354632448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List value</a:t>
                      </a:r>
                      <a:endParaRPr lang="en-GB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243794"/>
                  </a:ext>
                </a:extLst>
              </a:tr>
              <a:tr h="37100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81244"/>
                  </a:ext>
                </a:extLst>
              </a:tr>
            </a:tbl>
          </a:graphicData>
        </a:graphic>
      </p:graphicFrame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CBBE791-9B1F-468F-B09F-89C026313967}"/>
              </a:ext>
            </a:extLst>
          </p:cNvPr>
          <p:cNvCxnSpPr>
            <a:cxnSpLocks/>
          </p:cNvCxnSpPr>
          <p:nvPr/>
        </p:nvCxnSpPr>
        <p:spPr>
          <a:xfrm>
            <a:off x="1609969" y="6035492"/>
            <a:ext cx="961293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68EFC5E-987A-4A48-8F4A-7ACC59728D2D}"/>
              </a:ext>
            </a:extLst>
          </p:cNvPr>
          <p:cNvCxnSpPr>
            <a:endCxn id="18" idx="0"/>
          </p:cNvCxnSpPr>
          <p:nvPr/>
        </p:nvCxnSpPr>
        <p:spPr>
          <a:xfrm>
            <a:off x="6486769" y="2604541"/>
            <a:ext cx="30742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85C0232-21AD-4DA2-B460-977207CF3BBC}"/>
              </a:ext>
            </a:extLst>
          </p:cNvPr>
          <p:cNvCxnSpPr>
            <a:cxnSpLocks/>
          </p:cNvCxnSpPr>
          <p:nvPr/>
        </p:nvCxnSpPr>
        <p:spPr>
          <a:xfrm>
            <a:off x="6486769" y="2604541"/>
            <a:ext cx="0" cy="3430951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08FFC27-DE88-4CFC-B88C-34EFB7960863}"/>
              </a:ext>
            </a:extLst>
          </p:cNvPr>
          <p:cNvCxnSpPr>
            <a:cxnSpLocks/>
          </p:cNvCxnSpPr>
          <p:nvPr/>
        </p:nvCxnSpPr>
        <p:spPr>
          <a:xfrm>
            <a:off x="5811716" y="6035492"/>
            <a:ext cx="691036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60F08C7-8719-427C-B644-0FD4A219B1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25603"/>
            <a:ext cx="5181600" cy="45513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list</a:t>
            </a:r>
            <a:r>
              <a:rPr lang="en-US" dirty="0"/>
              <a:t> is a collection of variables. </a:t>
            </a:r>
          </a:p>
          <a:p>
            <a:r>
              <a:rPr lang="en-US" dirty="0"/>
              <a:t>The variables in a list are </a:t>
            </a:r>
            <a:r>
              <a:rPr lang="en-US" b="1" dirty="0"/>
              <a:t>chained</a:t>
            </a:r>
            <a:r>
              <a:rPr lang="en-US" dirty="0"/>
              <a:t> together.</a:t>
            </a:r>
          </a:p>
          <a:p>
            <a:r>
              <a:rPr lang="en-GB" b="1" dirty="0"/>
              <a:t>Aliasing: </a:t>
            </a:r>
            <a:r>
              <a:rPr lang="en-GB" dirty="0"/>
              <a:t>We can assign a list to another variable name and reuse the existing memory spaces, not creating new ones.</a:t>
            </a:r>
          </a:p>
        </p:txBody>
      </p:sp>
    </p:spTree>
    <p:extLst>
      <p:ext uri="{BB962C8B-B14F-4D97-AF65-F5344CB8AC3E}">
        <p14:creationId xmlns:p14="http://schemas.microsoft.com/office/powerpoint/2010/main" val="119775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CE7D4-6F7B-4A48-9CFF-34045CA98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Aliasing in lists: problem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25473B-E8BE-4D4E-823C-C62A800530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95" t="28923" r="35128" b="40308"/>
          <a:stretch/>
        </p:blipFill>
        <p:spPr>
          <a:xfrm>
            <a:off x="7227276" y="1381833"/>
            <a:ext cx="4495800" cy="535215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B01A618-CC93-4062-B661-2BDB1AFB1DEF}"/>
              </a:ext>
            </a:extLst>
          </p:cNvPr>
          <p:cNvSpPr txBox="1">
            <a:spLocks/>
          </p:cNvSpPr>
          <p:nvPr/>
        </p:nvSpPr>
        <p:spPr>
          <a:xfrm>
            <a:off x="838200" y="1625603"/>
            <a:ext cx="5181600" cy="4551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Problem: </a:t>
            </a:r>
            <a:r>
              <a:rPr lang="en-US" dirty="0"/>
              <a:t>changing list1[0] changes list1 values, but also changes list2!</a:t>
            </a:r>
            <a:endParaRPr lang="en-GB" dirty="0"/>
          </a:p>
          <a:p>
            <a:r>
              <a:rPr lang="en-GB" dirty="0"/>
              <a:t>When aliasing is used on list variables, Python is not smart enough to address the aliasing to leave the second list unaffected!</a:t>
            </a:r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3740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2252A-DE0A-4FEC-A0CF-BCA34D609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Aliasing in lists: problem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6CD47-CE1B-4C1A-A84A-DD18E567AB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25603"/>
            <a:ext cx="5181600" cy="455136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Problem: </a:t>
            </a:r>
            <a:r>
              <a:rPr lang="en-US" dirty="0"/>
              <a:t>changing list1[0] changes list1 values, but also changes list2!</a:t>
            </a:r>
            <a:endParaRPr lang="en-GB" dirty="0"/>
          </a:p>
          <a:p>
            <a:r>
              <a:rPr lang="en-GB" dirty="0"/>
              <a:t>When aliasing is used on list variables, Python is not smart enough to address the aliasing to leave the second list unaffected!</a:t>
            </a:r>
          </a:p>
          <a:p>
            <a:endParaRPr lang="en-GB" dirty="0"/>
          </a:p>
          <a:p>
            <a:endParaRPr lang="en-US" dirty="0"/>
          </a:p>
          <a:p>
            <a:endParaRPr lang="en-GB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37727ECE-EEE1-4657-8A25-BCE13E29EA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575676"/>
              </p:ext>
            </p:extLst>
          </p:nvPr>
        </p:nvGraphicFramePr>
        <p:xfrm>
          <a:off x="7682523" y="2048281"/>
          <a:ext cx="4376616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188308">
                  <a:extLst>
                    <a:ext uri="{9D8B030D-6E8A-4147-A177-3AD203B41FA5}">
                      <a16:colId xmlns:a16="http://schemas.microsoft.com/office/drawing/2014/main" val="139457299"/>
                    </a:ext>
                  </a:extLst>
                </a:gridCol>
                <a:gridCol w="2188308">
                  <a:extLst>
                    <a:ext uri="{9D8B030D-6E8A-4147-A177-3AD203B41FA5}">
                      <a16:colId xmlns:a16="http://schemas.microsoft.com/office/drawing/2014/main" val="2263908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Address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rgbClr val="7030A0"/>
                          </a:solidFill>
                        </a:rPr>
                        <a:t>140725454247936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09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rgbClr val="C00000"/>
                          </a:solidFill>
                        </a:rPr>
                        <a:t>12 </a:t>
                      </a:r>
                      <a:r>
                        <a:rPr lang="en-GB" b="1" dirty="0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GB" b="1" dirty="0">
                          <a:solidFill>
                            <a:srgbClr val="C00000"/>
                          </a:solidFill>
                        </a:rPr>
                        <a:t>“SUTD”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896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Next Address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140725454247872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680140"/>
                  </a:ext>
                </a:extLst>
              </a:tr>
            </a:tbl>
          </a:graphicData>
        </a:graphic>
      </p:graphicFrame>
      <p:graphicFrame>
        <p:nvGraphicFramePr>
          <p:cNvPr id="12" name="Table 10">
            <a:extLst>
              <a:ext uri="{FF2B5EF4-FFF2-40B4-BE49-F238E27FC236}">
                <a16:creationId xmlns:a16="http://schemas.microsoft.com/office/drawing/2014/main" id="{BFC39889-5E84-48E3-B60E-13D851185B55}"/>
              </a:ext>
            </a:extLst>
          </p:cNvPr>
          <p:cNvGraphicFramePr>
            <a:graphicFrameLocks noGrp="1"/>
          </p:cNvGraphicFramePr>
          <p:nvPr/>
        </p:nvGraphicFramePr>
        <p:xfrm>
          <a:off x="7682523" y="3763758"/>
          <a:ext cx="4376616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188308">
                  <a:extLst>
                    <a:ext uri="{9D8B030D-6E8A-4147-A177-3AD203B41FA5}">
                      <a16:colId xmlns:a16="http://schemas.microsoft.com/office/drawing/2014/main" val="139457299"/>
                    </a:ext>
                  </a:extLst>
                </a:gridCol>
                <a:gridCol w="2188308">
                  <a:extLst>
                    <a:ext uri="{9D8B030D-6E8A-4147-A177-3AD203B41FA5}">
                      <a16:colId xmlns:a16="http://schemas.microsoft.com/office/drawing/2014/main" val="2263908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Address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rgbClr val="7030A0"/>
                          </a:solidFill>
                        </a:rPr>
                        <a:t>140725454247872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09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896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Next Address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7030A0"/>
                          </a:solidFill>
                        </a:rPr>
                        <a:t>140725454248096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680140"/>
                  </a:ext>
                </a:extLst>
              </a:tr>
            </a:tbl>
          </a:graphicData>
        </a:graphic>
      </p:graphicFrame>
      <p:graphicFrame>
        <p:nvGraphicFramePr>
          <p:cNvPr id="13" name="Table 10">
            <a:extLst>
              <a:ext uri="{FF2B5EF4-FFF2-40B4-BE49-F238E27FC236}">
                <a16:creationId xmlns:a16="http://schemas.microsoft.com/office/drawing/2014/main" id="{E30868F0-1629-479B-97BD-DB5970EE9C93}"/>
              </a:ext>
            </a:extLst>
          </p:cNvPr>
          <p:cNvGraphicFramePr>
            <a:graphicFrameLocks noGrp="1"/>
          </p:cNvGraphicFramePr>
          <p:nvPr/>
        </p:nvGraphicFramePr>
        <p:xfrm>
          <a:off x="7682523" y="5479235"/>
          <a:ext cx="4376616" cy="1112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188308">
                  <a:extLst>
                    <a:ext uri="{9D8B030D-6E8A-4147-A177-3AD203B41FA5}">
                      <a16:colId xmlns:a16="http://schemas.microsoft.com/office/drawing/2014/main" val="139457299"/>
                    </a:ext>
                  </a:extLst>
                </a:gridCol>
                <a:gridCol w="2188308">
                  <a:extLst>
                    <a:ext uri="{9D8B030D-6E8A-4147-A177-3AD203B41FA5}">
                      <a16:colId xmlns:a16="http://schemas.microsoft.com/office/drawing/2014/main" val="2263908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Address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rgbClr val="7030A0"/>
                          </a:solidFill>
                        </a:rPr>
                        <a:t>140725454248096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09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896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Next Address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7030A0"/>
                          </a:solidFill>
                        </a:rPr>
                        <a:t>End of list</a:t>
                      </a:r>
                      <a:endParaRPr lang="en-GB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680140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62C10F-41BB-4FB2-B649-2C4D09080E59}"/>
              </a:ext>
            </a:extLst>
          </p:cNvPr>
          <p:cNvCxnSpPr>
            <a:cxnSpLocks/>
          </p:cNvCxnSpPr>
          <p:nvPr/>
        </p:nvCxnSpPr>
        <p:spPr>
          <a:xfrm>
            <a:off x="10949354" y="3160801"/>
            <a:ext cx="0" cy="602957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FAC9D75-F76F-43D1-B829-7F2D8C0FD8E3}"/>
              </a:ext>
            </a:extLst>
          </p:cNvPr>
          <p:cNvCxnSpPr>
            <a:cxnSpLocks/>
          </p:cNvCxnSpPr>
          <p:nvPr/>
        </p:nvCxnSpPr>
        <p:spPr>
          <a:xfrm>
            <a:off x="10961077" y="4876278"/>
            <a:ext cx="0" cy="602957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590155D-6390-45FD-9341-70B70D1193DA}"/>
              </a:ext>
            </a:extLst>
          </p:cNvPr>
          <p:cNvSpPr txBox="1"/>
          <p:nvPr/>
        </p:nvSpPr>
        <p:spPr>
          <a:xfrm rot="16200000">
            <a:off x="6653434" y="2189043"/>
            <a:ext cx="11125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list1[0]</a:t>
            </a:r>
            <a:br>
              <a:rPr lang="en-US" sz="2400" b="1" dirty="0"/>
            </a:br>
            <a:r>
              <a:rPr lang="en-US" sz="2400" b="1" dirty="0"/>
              <a:t>list2[0]</a:t>
            </a:r>
            <a:endParaRPr lang="en-GB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02F914-40EE-4128-A5B2-5D1CEB736FF5}"/>
              </a:ext>
            </a:extLst>
          </p:cNvPr>
          <p:cNvSpPr txBox="1"/>
          <p:nvPr/>
        </p:nvSpPr>
        <p:spPr>
          <a:xfrm rot="16200000">
            <a:off x="6653435" y="3904519"/>
            <a:ext cx="11125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list1[1]</a:t>
            </a:r>
          </a:p>
          <a:p>
            <a:pPr algn="ctr"/>
            <a:r>
              <a:rPr lang="en-US" sz="2400" b="1" dirty="0"/>
              <a:t>list2[1]</a:t>
            </a:r>
            <a:endParaRPr lang="en-GB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485E8-4816-430B-B274-6C0E81A9CB3D}"/>
              </a:ext>
            </a:extLst>
          </p:cNvPr>
          <p:cNvSpPr txBox="1"/>
          <p:nvPr/>
        </p:nvSpPr>
        <p:spPr>
          <a:xfrm rot="16200000">
            <a:off x="6653434" y="5619994"/>
            <a:ext cx="11125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list1[2]</a:t>
            </a:r>
          </a:p>
          <a:p>
            <a:pPr algn="ctr"/>
            <a:r>
              <a:rPr lang="en-US" sz="2400" b="1" dirty="0"/>
              <a:t>list2[2]</a:t>
            </a:r>
            <a:endParaRPr lang="en-GB" sz="2400" b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951557-C5BB-4417-82E3-36369FFFA965}"/>
              </a:ext>
            </a:extLst>
          </p:cNvPr>
          <p:cNvSpPr/>
          <p:nvPr/>
        </p:nvSpPr>
        <p:spPr>
          <a:xfrm>
            <a:off x="6705600" y="1953846"/>
            <a:ext cx="5416062" cy="4759569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5" name="Table 7">
            <a:extLst>
              <a:ext uri="{FF2B5EF4-FFF2-40B4-BE49-F238E27FC236}">
                <a16:creationId xmlns:a16="http://schemas.microsoft.com/office/drawing/2014/main" id="{D3F6C3F1-1A3B-4B1A-86EF-E4C5696AFA8E}"/>
              </a:ext>
            </a:extLst>
          </p:cNvPr>
          <p:cNvGraphicFramePr>
            <a:graphicFrameLocks noGrp="1"/>
          </p:cNvGraphicFramePr>
          <p:nvPr/>
        </p:nvGraphicFramePr>
        <p:xfrm>
          <a:off x="425937" y="5107740"/>
          <a:ext cx="5877168" cy="1484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056">
                  <a:extLst>
                    <a:ext uri="{9D8B030D-6E8A-4147-A177-3AD203B41FA5}">
                      <a16:colId xmlns:a16="http://schemas.microsoft.com/office/drawing/2014/main" val="3641291649"/>
                    </a:ext>
                  </a:extLst>
                </a:gridCol>
                <a:gridCol w="1959056">
                  <a:extLst>
                    <a:ext uri="{9D8B030D-6E8A-4147-A177-3AD203B41FA5}">
                      <a16:colId xmlns:a16="http://schemas.microsoft.com/office/drawing/2014/main" val="1538670741"/>
                    </a:ext>
                  </a:extLst>
                </a:gridCol>
                <a:gridCol w="1959056">
                  <a:extLst>
                    <a:ext uri="{9D8B030D-6E8A-4147-A177-3AD203B41FA5}">
                      <a16:colId xmlns:a16="http://schemas.microsoft.com/office/drawing/2014/main" val="138062890"/>
                    </a:ext>
                  </a:extLst>
                </a:gridCol>
              </a:tblGrid>
              <a:tr h="37100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Identifier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Memory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099612"/>
                  </a:ext>
                </a:extLst>
              </a:tr>
              <a:tr h="37100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Address</a:t>
                      </a:r>
                      <a:endParaRPr lang="en-GB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Value</a:t>
                      </a:r>
                      <a:endParaRPr lang="en-GB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398185"/>
                  </a:ext>
                </a:extLst>
              </a:tr>
              <a:tr h="371003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   list1, list2</a:t>
                      </a:r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1769354632448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List value</a:t>
                      </a:r>
                      <a:endParaRPr lang="en-GB" b="1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243794"/>
                  </a:ext>
                </a:extLst>
              </a:tr>
              <a:tr h="37100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81244"/>
                  </a:ext>
                </a:extLst>
              </a:tr>
            </a:tbl>
          </a:graphicData>
        </a:graphic>
      </p:graphicFrame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CBBE791-9B1F-468F-B09F-89C026313967}"/>
              </a:ext>
            </a:extLst>
          </p:cNvPr>
          <p:cNvCxnSpPr>
            <a:cxnSpLocks/>
          </p:cNvCxnSpPr>
          <p:nvPr/>
        </p:nvCxnSpPr>
        <p:spPr>
          <a:xfrm>
            <a:off x="1609969" y="6035492"/>
            <a:ext cx="961293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68EFC5E-987A-4A48-8F4A-7ACC59728D2D}"/>
              </a:ext>
            </a:extLst>
          </p:cNvPr>
          <p:cNvCxnSpPr>
            <a:endCxn id="18" idx="0"/>
          </p:cNvCxnSpPr>
          <p:nvPr/>
        </p:nvCxnSpPr>
        <p:spPr>
          <a:xfrm>
            <a:off x="6486769" y="2604541"/>
            <a:ext cx="30742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85C0232-21AD-4DA2-B460-977207CF3BBC}"/>
              </a:ext>
            </a:extLst>
          </p:cNvPr>
          <p:cNvCxnSpPr>
            <a:cxnSpLocks/>
          </p:cNvCxnSpPr>
          <p:nvPr/>
        </p:nvCxnSpPr>
        <p:spPr>
          <a:xfrm>
            <a:off x="6486769" y="2604541"/>
            <a:ext cx="0" cy="3430951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08FFC27-DE88-4CFC-B88C-34EFB7960863}"/>
              </a:ext>
            </a:extLst>
          </p:cNvPr>
          <p:cNvCxnSpPr>
            <a:cxnSpLocks/>
          </p:cNvCxnSpPr>
          <p:nvPr/>
        </p:nvCxnSpPr>
        <p:spPr>
          <a:xfrm>
            <a:off x="5811716" y="6035492"/>
            <a:ext cx="691036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497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CE7D4-6F7B-4A48-9CFF-34045CA98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Shallow copy of a list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18A41-58DD-4BF3-9447-0978969B98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3801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 (</a:t>
            </a:r>
            <a:r>
              <a:rPr lang="en-US" b="1" dirty="0">
                <a:solidFill>
                  <a:srgbClr val="00B050"/>
                </a:solidFill>
              </a:rPr>
              <a:t>shallow copying</a:t>
            </a:r>
            <a:r>
              <a:rPr lang="en-US" b="1" dirty="0"/>
              <a:t>):</a:t>
            </a:r>
          </a:p>
          <a:p>
            <a:pPr marL="0" indent="0">
              <a:buNone/>
            </a:pPr>
            <a:r>
              <a:rPr lang="en-US" dirty="0"/>
              <a:t>The operation list2 = list1[:] makes list2 a </a:t>
            </a:r>
            <a:r>
              <a:rPr lang="en-US" b="1" dirty="0">
                <a:solidFill>
                  <a:srgbClr val="00B050"/>
                </a:solidFill>
              </a:rPr>
              <a:t>shallow copy </a:t>
            </a:r>
            <a:r>
              <a:rPr lang="en-US" dirty="0"/>
              <a:t>of list1.</a:t>
            </a:r>
            <a:br>
              <a:rPr lang="en-US" dirty="0"/>
            </a:br>
            <a:r>
              <a:rPr lang="en-US" dirty="0"/>
              <a:t>By doing so, list2 will be saved to its own location of memory.</a:t>
            </a:r>
          </a:p>
          <a:p>
            <a:r>
              <a:rPr lang="en-US" dirty="0"/>
              <a:t>Having done a shallow copy, changing a value in list1, with list1[index] = …, no longer affects the values list2. They have different memory IDs now!</a:t>
            </a:r>
          </a:p>
          <a:p>
            <a:r>
              <a:rPr lang="en-US" b="1" dirty="0"/>
              <a:t>Note: </a:t>
            </a:r>
            <a:r>
              <a:rPr lang="en-US" dirty="0"/>
              <a:t>you can also use the copy() method.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D690D9-D779-491B-B2E5-9620CF959B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31" t="38975" r="34872" b="20820"/>
          <a:stretch/>
        </p:blipFill>
        <p:spPr>
          <a:xfrm>
            <a:off x="7823201" y="470714"/>
            <a:ext cx="4196860" cy="627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201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3C23C-5797-47E3-A311-DB319A11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Shallow copy: problem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BF883-CB4E-4F07-A48F-EC9739EF31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Note: </a:t>
            </a:r>
            <a:r>
              <a:rPr lang="en-US" dirty="0"/>
              <a:t>if an element of a list is a list (case of lists of lists), then the shallow copy will not copy the </a:t>
            </a:r>
            <a:r>
              <a:rPr lang="en-US" dirty="0" err="1"/>
              <a:t>sublists</a:t>
            </a:r>
            <a:r>
              <a:rPr lang="en-US" dirty="0"/>
              <a:t> to different locations of memory.</a:t>
            </a:r>
          </a:p>
          <a:p>
            <a:r>
              <a:rPr lang="en-US" b="1" dirty="0"/>
              <a:t>Problem: </a:t>
            </a:r>
            <a:r>
              <a:rPr lang="en-US" dirty="0"/>
              <a:t>changing the element of a </a:t>
            </a:r>
            <a:r>
              <a:rPr lang="en-US" dirty="0" err="1"/>
              <a:t>sublist</a:t>
            </a:r>
            <a:r>
              <a:rPr lang="en-US" dirty="0"/>
              <a:t> then affects both lists, even though these lists are shallow copies of each other…</a:t>
            </a:r>
          </a:p>
          <a:p>
            <a:r>
              <a:rPr lang="en-US" dirty="0"/>
              <a:t>The problem repeats!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2F7A63-3FE5-4629-9F14-C19BD7C8F8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95" t="26051" r="33013" b="26359"/>
          <a:stretch/>
        </p:blipFill>
        <p:spPr>
          <a:xfrm>
            <a:off x="6932246" y="175501"/>
            <a:ext cx="4579816" cy="668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423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3C23C-5797-47E3-A311-DB319A11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copy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BF883-CB4E-4F07-A48F-EC9739EF31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Solution: </a:t>
            </a:r>
            <a:r>
              <a:rPr lang="en-US" dirty="0"/>
              <a:t>make a </a:t>
            </a:r>
            <a:r>
              <a:rPr lang="en-US" b="1" dirty="0">
                <a:solidFill>
                  <a:srgbClr val="00B050"/>
                </a:solidFill>
              </a:rPr>
              <a:t>deep copy</a:t>
            </a:r>
            <a:r>
              <a:rPr lang="en-US" dirty="0"/>
              <a:t>, using the </a:t>
            </a:r>
            <a:r>
              <a:rPr lang="en-US" b="1" dirty="0" err="1"/>
              <a:t>deepcopy</a:t>
            </a:r>
            <a:r>
              <a:rPr lang="en-US" dirty="0"/>
              <a:t> function from the Python built-in </a:t>
            </a:r>
            <a:r>
              <a:rPr lang="en-US" b="1" dirty="0"/>
              <a:t>copy</a:t>
            </a:r>
            <a:r>
              <a:rPr lang="en-US" dirty="0"/>
              <a:t> library.</a:t>
            </a:r>
          </a:p>
          <a:p>
            <a:r>
              <a:rPr lang="en-US" dirty="0"/>
              <a:t>A deep copy forces Python to make sure </a:t>
            </a:r>
            <a:r>
              <a:rPr lang="en-US" b="1" dirty="0"/>
              <a:t>all elements and sub-elements</a:t>
            </a:r>
            <a:r>
              <a:rPr lang="en-US" dirty="0"/>
              <a:t> are assigned to different locations in memory.</a:t>
            </a:r>
          </a:p>
          <a:p>
            <a:r>
              <a:rPr lang="en-US" b="1" dirty="0"/>
              <a:t>Stronger and safer than a shallow copy!</a:t>
            </a:r>
          </a:p>
          <a:p>
            <a:r>
              <a:rPr lang="en-US" b="1" dirty="0"/>
              <a:t>If in doubt, just deep copy!</a:t>
            </a:r>
            <a:endParaRPr lang="en-GB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F03F63-9A38-47F2-8BF5-2C88416432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923" t="31558" r="31026" b="15488"/>
          <a:stretch/>
        </p:blipFill>
        <p:spPr>
          <a:xfrm>
            <a:off x="6754443" y="15630"/>
            <a:ext cx="4953000" cy="680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140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153FD87-5B3C-4376-AF54-807184599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Matt’s Great advice</a:t>
            </a:r>
          </a:p>
        </p:txBody>
      </p:sp>
      <p:pic>
        <p:nvPicPr>
          <p:cNvPr id="10" name="Picture 9" descr="A picture containing person, indoor, table, woman&#10;&#10;Description automatically generated">
            <a:extLst>
              <a:ext uri="{FF2B5EF4-FFF2-40B4-BE49-F238E27FC236}">
                <a16:creationId xmlns:a16="http://schemas.microsoft.com/office/drawing/2014/main" id="{93F7CB8F-466F-4FBF-B9B9-0DEA6FD78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662" y="1996829"/>
            <a:ext cx="5163364" cy="3872523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569D6F-BC92-40F3-82E8-2041D580BA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522542"/>
          </a:xfrm>
          <a:solidFill>
            <a:schemeClr val="accent5">
              <a:lumMod val="40000"/>
              <a:lumOff val="60000"/>
            </a:schemeClr>
          </a:solidFill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Matt’s Great Advice: Keep the aliasing, shallow and deep copies concepts in mind for now.</a:t>
            </a:r>
          </a:p>
          <a:p>
            <a:pPr marL="0" indent="0">
              <a:buNone/>
            </a:pPr>
            <a:r>
              <a:rPr lang="en-US" sz="2400" dirty="0"/>
              <a:t>If you find that modifying a list object ends up unexpectedly changing another, then you might have an aliasing or shallow copy problem.</a:t>
            </a:r>
          </a:p>
          <a:p>
            <a:pPr marL="0" indent="0">
              <a:buNone/>
            </a:pPr>
            <a:r>
              <a:rPr lang="en-US" sz="2400" b="1" dirty="0"/>
              <a:t>When in doubt, make a deep copy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For now, do not worry about understanding all these memory concepts, these will be covered in another advanced course!</a:t>
            </a:r>
          </a:p>
        </p:txBody>
      </p:sp>
    </p:spTree>
    <p:extLst>
      <p:ext uri="{BB962C8B-B14F-4D97-AF65-F5344CB8AC3E}">
        <p14:creationId xmlns:p14="http://schemas.microsoft.com/office/powerpoint/2010/main" val="3595317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8002D92-AB5D-59FC-2B20-96B491D0DD4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GB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B8F7D22-B07A-77D6-2C46-02F722FAB011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070F589-33E2-D920-63E7-A92B2BE562B9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E036E0D-1F4F-9550-AF34-D2D3D0DCBB61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1C38776-12B7-ACF9-0EEC-C0E6CDC8A39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00" b="1">
                <a:solidFill>
                  <a:srgbClr val="5B5B5B"/>
                </a:solidFill>
              </a:rPr>
              <a:t>What will be printed here?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9C5D4E-6912-2C27-E943-F16A8283898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GB" sz="2200" b="1">
                <a:solidFill>
                  <a:srgbClr val="5B5B5B"/>
                </a:solidFill>
              </a:rPr>
              <a:t>ⓘ</a:t>
            </a:r>
            <a:r>
              <a:rPr lang="en-GB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2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3C7DC2A-7B6A-A35D-C807-AD5F40D69EE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GB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D47D686-63B0-7615-B844-F2BE40E3F997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F78BD02-238C-D4C1-3E7F-2EDEB0DF884A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229EC38-C97E-1B66-5054-12BD5FA4E060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6D6D731-A126-4A15-3BFE-905F916353E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700" b="1">
                <a:solidFill>
                  <a:srgbClr val="5B5B5B"/>
                </a:solidFill>
              </a:rPr>
              <a:t>What needs to be changed to make the printed result [[0, 5, 0], [0, 0, 0], [0, 0, 0]]?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167ACD-B9AA-B29D-444B-3945180DB574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GB" sz="2200" b="1">
                <a:solidFill>
                  <a:srgbClr val="5B5B5B"/>
                </a:solidFill>
              </a:rPr>
              <a:t>ⓘ</a:t>
            </a:r>
            <a:r>
              <a:rPr lang="en-GB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607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9FE0283-2B23-6DA7-126A-06C625B33C9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GB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2859C0B-12C3-E595-438B-0557390D42FD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D40F1BB-2388-8226-AA4C-7C592E854CAF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53381A3-3E1F-2A41-D27C-ED9487A09B8E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ED56174-51AC-AAFC-C53F-A53D01B0284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00" b="1">
                <a:solidFill>
                  <a:srgbClr val="5B5B5B"/>
                </a:solidFill>
              </a:rPr>
              <a:t>What will be displayed?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C8B64C-0D51-8D76-4F60-E5BB88E559B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GB" sz="2200" b="1">
                <a:solidFill>
                  <a:srgbClr val="5B5B5B"/>
                </a:solidFill>
              </a:rPr>
              <a:t>ⓘ</a:t>
            </a:r>
            <a:r>
              <a:rPr lang="en-GB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367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508507-92CA-4B78-A04D-18C8F72E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</a:t>
            </a:r>
            <a:r>
              <a:rPr lang="en-US" dirty="0" err="1"/>
              <a:t>numpy</a:t>
            </a:r>
            <a:r>
              <a:rPr lang="en-US" dirty="0"/>
              <a:t> library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7E3900-07A7-4384-B473-8AD8D47D5D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8096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NumPy (or </a:t>
            </a:r>
            <a:r>
              <a:rPr lang="en-US" b="1" dirty="0" err="1"/>
              <a:t>numpy</a:t>
            </a:r>
            <a:r>
              <a:rPr lang="en-US" b="1" dirty="0"/>
              <a:t> or </a:t>
            </a:r>
            <a:r>
              <a:rPr lang="en-US" b="1" dirty="0" err="1"/>
              <a:t>Numpy</a:t>
            </a:r>
            <a:r>
              <a:rPr lang="en-US" b="1" dirty="0"/>
              <a:t>)</a:t>
            </a:r>
            <a:br>
              <a:rPr lang="en-US" b="1" dirty="0"/>
            </a:br>
            <a:r>
              <a:rPr lang="en-US" dirty="0"/>
              <a:t>is one of the most common </a:t>
            </a:r>
            <a:r>
              <a:rPr lang="en-US" b="1" dirty="0"/>
              <a:t>libraries</a:t>
            </a:r>
            <a:r>
              <a:rPr lang="en-US" dirty="0"/>
              <a:t> (if not the most popular one) in Python.</a:t>
            </a:r>
          </a:p>
          <a:p>
            <a:r>
              <a:rPr lang="en-US" dirty="0"/>
              <a:t>It is used for many applications: computing, modelling, data science, astrophysics, etc.</a:t>
            </a:r>
          </a:p>
          <a:p>
            <a:r>
              <a:rPr lang="en-US" b="1" dirty="0"/>
              <a:t>Linear</a:t>
            </a:r>
            <a:r>
              <a:rPr lang="en-US" dirty="0"/>
              <a:t> </a:t>
            </a:r>
            <a:r>
              <a:rPr lang="en-US" b="1" dirty="0"/>
              <a:t>algebra</a:t>
            </a:r>
            <a:r>
              <a:rPr lang="en-US" dirty="0"/>
              <a:t> (one of the main concepts of math with many applications in computing)</a:t>
            </a:r>
            <a:endParaRPr lang="en-GB" b="1" dirty="0"/>
          </a:p>
        </p:txBody>
      </p:sp>
      <p:pic>
        <p:nvPicPr>
          <p:cNvPr id="8" name="Picture 7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B8281298-4583-4E54-BE0B-EBAE62FF07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071" y="777728"/>
            <a:ext cx="3170364" cy="12549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72B461-1EF3-490E-A95D-F182790A2F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173" t="31755" r="31582" b="27592"/>
          <a:stretch/>
        </p:blipFill>
        <p:spPr>
          <a:xfrm>
            <a:off x="7617870" y="2374639"/>
            <a:ext cx="4226767" cy="438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125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5022F-72B3-4F58-861A-7A7461F1B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new type of objects: </a:t>
            </a:r>
            <a:r>
              <a:rPr lang="en-US" dirty="0" err="1"/>
              <a:t>Numpy</a:t>
            </a:r>
            <a:r>
              <a:rPr lang="en-US" dirty="0"/>
              <a:t> Arrays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FC477-19EC-4575-9551-1013792B1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fr-FR" b="1" dirty="0" err="1"/>
              <a:t>Numpy</a:t>
            </a:r>
            <a:r>
              <a:rPr lang="fr-FR" b="1" dirty="0"/>
              <a:t> </a:t>
            </a:r>
            <a:r>
              <a:rPr lang="fr-FR" b="1" dirty="0" err="1"/>
              <a:t>arrays</a:t>
            </a:r>
            <a:r>
              <a:rPr lang="fr-FR" b="1" dirty="0"/>
              <a:t> </a:t>
            </a:r>
            <a:r>
              <a:rPr lang="fr-FR" dirty="0"/>
              <a:t>are </a:t>
            </a:r>
            <a:r>
              <a:rPr lang="fr-FR" dirty="0" err="1"/>
              <a:t>objects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the </a:t>
            </a:r>
            <a:r>
              <a:rPr lang="fr-FR" b="1" dirty="0" err="1"/>
              <a:t>Numpy</a:t>
            </a:r>
            <a:r>
              <a:rPr lang="fr-FR" dirty="0"/>
              <a:t> </a:t>
            </a:r>
            <a:r>
              <a:rPr lang="fr-FR" dirty="0" err="1"/>
              <a:t>library</a:t>
            </a:r>
            <a:r>
              <a:rPr lang="fr-FR" dirty="0"/>
              <a:t>.</a:t>
            </a:r>
          </a:p>
          <a:p>
            <a:r>
              <a:rPr lang="fr-FR" dirty="0" err="1"/>
              <a:t>Typically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to </a:t>
            </a:r>
            <a:r>
              <a:rPr lang="fr-FR" dirty="0" err="1"/>
              <a:t>describe</a:t>
            </a:r>
            <a:r>
              <a:rPr lang="fr-FR" dirty="0"/>
              <a:t> </a:t>
            </a:r>
            <a:r>
              <a:rPr lang="fr-FR" b="1" dirty="0"/>
              <a:t>matrices</a:t>
            </a:r>
            <a:r>
              <a:rPr lang="fr-FR" dirty="0"/>
              <a:t> and </a:t>
            </a:r>
            <a:r>
              <a:rPr lang="fr-FR" b="1" dirty="0" err="1"/>
              <a:t>vectors</a:t>
            </a:r>
            <a:r>
              <a:rPr lang="fr-FR" b="1" dirty="0"/>
              <a:t>,</a:t>
            </a:r>
            <a:endParaRPr lang="fr-FR" dirty="0"/>
          </a:p>
          <a:p>
            <a:r>
              <a:rPr lang="fr-FR" dirty="0"/>
              <a:t>Or </a:t>
            </a:r>
            <a:r>
              <a:rPr lang="fr-FR" b="1" dirty="0"/>
              <a:t>tables</a:t>
            </a:r>
            <a:r>
              <a:rPr lang="fr-FR" dirty="0"/>
              <a:t> of data.</a:t>
            </a:r>
          </a:p>
          <a:p>
            <a:pPr marL="0" indent="0">
              <a:buNone/>
            </a:pPr>
            <a:r>
              <a:rPr lang="fr-FR" dirty="0" err="1"/>
              <a:t>They</a:t>
            </a:r>
            <a:r>
              <a:rPr lang="fr-FR" dirty="0"/>
              <a:t> look </a:t>
            </a:r>
            <a:r>
              <a:rPr lang="fr-FR" dirty="0" err="1"/>
              <a:t>very</a:t>
            </a:r>
            <a:r>
              <a:rPr lang="fr-FR" dirty="0"/>
              <a:t> </a:t>
            </a:r>
            <a:r>
              <a:rPr lang="fr-FR" dirty="0" err="1"/>
              <a:t>similar</a:t>
            </a:r>
            <a:r>
              <a:rPr lang="fr-FR" dirty="0"/>
              <a:t> to </a:t>
            </a:r>
            <a:r>
              <a:rPr lang="fr-FR" b="1" dirty="0" err="1"/>
              <a:t>lists</a:t>
            </a:r>
            <a:r>
              <a:rPr lang="fr-FR" b="1" dirty="0"/>
              <a:t> of </a:t>
            </a:r>
            <a:r>
              <a:rPr lang="fr-FR" b="1" dirty="0" err="1"/>
              <a:t>lists</a:t>
            </a:r>
            <a:r>
              <a:rPr lang="fr-FR" dirty="0"/>
              <a:t>,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have </a:t>
            </a:r>
            <a:r>
              <a:rPr lang="fr-FR" dirty="0" err="1"/>
              <a:t>used</a:t>
            </a:r>
            <a:r>
              <a:rPr lang="fr-FR" dirty="0"/>
              <a:t> </a:t>
            </a:r>
            <a:r>
              <a:rPr lang="fr-FR" dirty="0" err="1"/>
              <a:t>earlier</a:t>
            </a:r>
            <a:r>
              <a:rPr lang="fr-FR" dirty="0"/>
              <a:t> for </a:t>
            </a:r>
            <a:r>
              <a:rPr lang="fr-FR" dirty="0" err="1"/>
              <a:t>many</a:t>
            </a:r>
            <a:r>
              <a:rPr lang="fr-FR" dirty="0"/>
              <a:t> applications.</a:t>
            </a:r>
          </a:p>
          <a:p>
            <a:pPr marL="0" indent="0">
              <a:buNone/>
            </a:pPr>
            <a:r>
              <a:rPr lang="fr-FR" dirty="0"/>
              <a:t>The </a:t>
            </a:r>
            <a:r>
              <a:rPr lang="fr-FR" dirty="0" err="1"/>
              <a:t>Numpy</a:t>
            </a:r>
            <a:r>
              <a:rPr lang="fr-FR" dirty="0"/>
              <a:t> </a:t>
            </a:r>
            <a:r>
              <a:rPr lang="fr-FR" dirty="0" err="1"/>
              <a:t>library</a:t>
            </a:r>
            <a:r>
              <a:rPr lang="fr-FR" dirty="0"/>
              <a:t>, </a:t>
            </a:r>
            <a:r>
              <a:rPr lang="fr-FR" dirty="0" err="1"/>
              <a:t>however</a:t>
            </a:r>
            <a:r>
              <a:rPr lang="fr-FR" dirty="0"/>
              <a:t>, </a:t>
            </a:r>
            <a:r>
              <a:rPr lang="fr-FR" dirty="0" err="1"/>
              <a:t>comes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additional</a:t>
            </a:r>
            <a:r>
              <a:rPr lang="fr-FR" dirty="0"/>
              <a:t> </a:t>
            </a:r>
            <a:r>
              <a:rPr lang="fr-FR" dirty="0" err="1"/>
              <a:t>functions</a:t>
            </a:r>
            <a:r>
              <a:rPr lang="fr-FR" dirty="0"/>
              <a:t> and </a:t>
            </a:r>
            <a:r>
              <a:rPr lang="fr-FR" dirty="0" err="1"/>
              <a:t>methods</a:t>
            </a:r>
            <a:r>
              <a:rPr lang="fr-FR" dirty="0"/>
              <a:t>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DD1394-A3AE-4402-B00B-8A2FB5575C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923" t="26462" r="31346" b="35589"/>
          <a:stretch/>
        </p:blipFill>
        <p:spPr>
          <a:xfrm>
            <a:off x="6848232" y="1690688"/>
            <a:ext cx="4843584" cy="489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447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A0764-5A94-49A4-A52D-01535C5F6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Length, size, shape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AC419-9391-4281-9D50-8EE27549F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759245" cy="49424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 lists, </a:t>
            </a:r>
            <a:r>
              <a:rPr lang="en-US" dirty="0" err="1"/>
              <a:t>Numpy</a:t>
            </a:r>
            <a:r>
              <a:rPr lang="en-US" dirty="0"/>
              <a:t> arrays have a length, which can be checked with </a:t>
            </a:r>
            <a:r>
              <a:rPr lang="en-US" b="1" dirty="0" err="1">
                <a:solidFill>
                  <a:srgbClr val="00B050"/>
                </a:solidFill>
              </a:rPr>
              <a:t>len</a:t>
            </a:r>
            <a:r>
              <a:rPr lang="en-US" b="1" dirty="0"/>
              <a:t>()</a:t>
            </a:r>
            <a:r>
              <a:rPr lang="en-US" dirty="0"/>
              <a:t>.</a:t>
            </a:r>
          </a:p>
          <a:p>
            <a:r>
              <a:rPr lang="en-US" dirty="0"/>
              <a:t>The also have a </a:t>
            </a:r>
            <a:r>
              <a:rPr lang="en-US" b="1" dirty="0">
                <a:solidFill>
                  <a:srgbClr val="00B050"/>
                </a:solidFill>
              </a:rPr>
              <a:t>shape</a:t>
            </a:r>
            <a:r>
              <a:rPr lang="en-US" dirty="0"/>
              <a:t> and a </a:t>
            </a:r>
            <a:r>
              <a:rPr lang="en-US" b="1" dirty="0">
                <a:solidFill>
                  <a:srgbClr val="00B050"/>
                </a:solidFill>
              </a:rPr>
              <a:t>size</a:t>
            </a:r>
            <a:r>
              <a:rPr lang="en-US" dirty="0"/>
              <a:t> </a:t>
            </a:r>
            <a:r>
              <a:rPr lang="en-US" b="1" dirty="0"/>
              <a:t>attribute</a:t>
            </a:r>
            <a:r>
              <a:rPr lang="en-US" dirty="0"/>
              <a:t>, which give additional information, in the case of arrays with more than 1D.</a:t>
            </a:r>
          </a:p>
          <a:p>
            <a:r>
              <a:rPr lang="en-US" b="1" dirty="0"/>
              <a:t>Attribute: “sub-variable” </a:t>
            </a:r>
            <a:r>
              <a:rPr lang="en-US" dirty="0"/>
              <a:t>of an object; can be drawn from an object using the </a:t>
            </a:r>
            <a:r>
              <a:rPr lang="en-US" b="1" dirty="0">
                <a:solidFill>
                  <a:srgbClr val="00B050"/>
                </a:solidFill>
              </a:rPr>
              <a:t>.</a:t>
            </a:r>
            <a:r>
              <a:rPr lang="en-US" dirty="0"/>
              <a:t> operator </a:t>
            </a:r>
            <a:r>
              <a:rPr lang="en-GB" dirty="0"/>
              <a:t>(Has to do with object-oriented prog., covered later).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C5DCD6-F379-4C94-BD01-E6CAB6BC69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95" t="32820" r="29423" b="23487"/>
          <a:stretch/>
        </p:blipFill>
        <p:spPr>
          <a:xfrm>
            <a:off x="6823724" y="1288026"/>
            <a:ext cx="5157259" cy="510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0765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A0764-5A94-49A4-A52D-01535C5F6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an array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AC419-9391-4281-9D50-8EE27549F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9424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Just like lists, the </a:t>
            </a:r>
            <a:r>
              <a:rPr lang="en-US" dirty="0" err="1"/>
              <a:t>Numpy</a:t>
            </a:r>
            <a:r>
              <a:rPr lang="en-US" dirty="0"/>
              <a:t> arrays are indexed and their element can be accessed with </a:t>
            </a:r>
            <a:r>
              <a:rPr lang="en-US" b="1" dirty="0">
                <a:solidFill>
                  <a:srgbClr val="00B050"/>
                </a:solidFill>
              </a:rPr>
              <a:t>[]</a:t>
            </a:r>
            <a:r>
              <a:rPr lang="en-US" dirty="0"/>
              <a:t>.</a:t>
            </a:r>
          </a:p>
          <a:p>
            <a:r>
              <a:rPr lang="en-US" dirty="0"/>
              <a:t>You can equivalently use the </a:t>
            </a:r>
            <a:r>
              <a:rPr lang="en-US" b="1" dirty="0">
                <a:solidFill>
                  <a:srgbClr val="00B050"/>
                </a:solidFill>
              </a:rPr>
              <a:t>[</a:t>
            </a:r>
            <a:r>
              <a:rPr lang="en-US" b="1" dirty="0" err="1">
                <a:solidFill>
                  <a:srgbClr val="00B050"/>
                </a:solidFill>
              </a:rPr>
              <a:t>i,j</a:t>
            </a:r>
            <a:r>
              <a:rPr lang="en-US" b="1" dirty="0">
                <a:solidFill>
                  <a:srgbClr val="00B050"/>
                </a:solidFill>
              </a:rPr>
              <a:t>]</a:t>
            </a:r>
            <a:r>
              <a:rPr lang="en-US" dirty="0"/>
              <a:t> and </a:t>
            </a:r>
            <a:r>
              <a:rPr lang="en-US" b="1" dirty="0">
                <a:solidFill>
                  <a:srgbClr val="00B050"/>
                </a:solidFill>
              </a:rPr>
              <a:t>[</a:t>
            </a:r>
            <a:r>
              <a:rPr lang="en-US" b="1" dirty="0" err="1">
                <a:solidFill>
                  <a:srgbClr val="00B050"/>
                </a:solidFill>
              </a:rPr>
              <a:t>i</a:t>
            </a:r>
            <a:r>
              <a:rPr lang="en-US" b="1" dirty="0">
                <a:solidFill>
                  <a:srgbClr val="00B050"/>
                </a:solidFill>
              </a:rPr>
              <a:t>][j] </a:t>
            </a:r>
            <a:r>
              <a:rPr lang="en-US" dirty="0"/>
              <a:t>notations on arrays.</a:t>
            </a:r>
          </a:p>
          <a:p>
            <a:r>
              <a:rPr lang="en-US" dirty="0"/>
              <a:t>Replacing an index with a colon symbol </a:t>
            </a:r>
            <a:r>
              <a:rPr lang="en-US" b="1" dirty="0">
                <a:solidFill>
                  <a:srgbClr val="00B050"/>
                </a:solidFill>
              </a:rPr>
              <a:t>:</a:t>
            </a:r>
            <a:r>
              <a:rPr lang="en-US" dirty="0"/>
              <a:t>, means “take all”.</a:t>
            </a:r>
          </a:p>
          <a:p>
            <a:r>
              <a:rPr lang="en-US" dirty="0"/>
              <a:t>For instance, </a:t>
            </a:r>
            <a:r>
              <a:rPr lang="en-US" b="1" dirty="0">
                <a:solidFill>
                  <a:srgbClr val="00B050"/>
                </a:solidFill>
              </a:rPr>
              <a:t>[:, j] </a:t>
            </a:r>
            <a:r>
              <a:rPr lang="en-US" dirty="0"/>
              <a:t>means </a:t>
            </a:r>
            <a:r>
              <a:rPr lang="en-US" b="1" dirty="0"/>
              <a:t>all elements in column j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whereas </a:t>
            </a:r>
            <a:r>
              <a:rPr lang="en-US" b="1" dirty="0">
                <a:solidFill>
                  <a:srgbClr val="00B050"/>
                </a:solidFill>
              </a:rPr>
              <a:t>[</a:t>
            </a:r>
            <a:r>
              <a:rPr lang="en-US" b="1" dirty="0" err="1">
                <a:solidFill>
                  <a:srgbClr val="00B050"/>
                </a:solidFill>
              </a:rPr>
              <a:t>i</a:t>
            </a:r>
            <a:r>
              <a:rPr lang="en-US" b="1" dirty="0">
                <a:solidFill>
                  <a:srgbClr val="00B050"/>
                </a:solidFill>
              </a:rPr>
              <a:t>, :] </a:t>
            </a:r>
            <a:r>
              <a:rPr lang="en-US" dirty="0"/>
              <a:t>means </a:t>
            </a:r>
            <a:r>
              <a:rPr lang="en-US" b="1" dirty="0"/>
              <a:t>all elements in row </a:t>
            </a:r>
            <a:r>
              <a:rPr lang="en-US" b="1" dirty="0" err="1"/>
              <a:t>i</a:t>
            </a:r>
            <a:r>
              <a:rPr lang="en-US" dirty="0"/>
              <a:t>.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96040F-8045-42F2-8946-A248235B72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863" t="22204" r="29438" b="20734"/>
          <a:stretch/>
        </p:blipFill>
        <p:spPr>
          <a:xfrm>
            <a:off x="6578080" y="32689"/>
            <a:ext cx="5181600" cy="674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71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A0E6D-30CE-4551-800B-CB2274357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Traversing an array with </a:t>
            </a:r>
            <a:r>
              <a:rPr lang="en-US" b="1" dirty="0">
                <a:solidFill>
                  <a:srgbClr val="00B050"/>
                </a:solidFill>
              </a:rPr>
              <a:t>for</a:t>
            </a:r>
            <a:endParaRPr lang="en-GB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C8D5A-3437-48A7-AEDF-5F27C62442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 with </a:t>
            </a:r>
            <a:r>
              <a:rPr lang="en-US" b="1" dirty="0"/>
              <a:t>lists</a:t>
            </a:r>
            <a:r>
              <a:rPr lang="en-US" dirty="0"/>
              <a:t>, we can traverse a </a:t>
            </a:r>
            <a:r>
              <a:rPr lang="en-US" dirty="0" err="1"/>
              <a:t>Numpy</a:t>
            </a:r>
            <a:r>
              <a:rPr lang="en-US" dirty="0"/>
              <a:t> array, in an element-wise manner, using a </a:t>
            </a:r>
            <a:r>
              <a:rPr lang="en-US" b="1" dirty="0">
                <a:solidFill>
                  <a:srgbClr val="00B050"/>
                </a:solidFill>
              </a:rPr>
              <a:t>for</a:t>
            </a:r>
            <a:r>
              <a:rPr lang="en-US" dirty="0"/>
              <a:t> loop.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F89D25-A951-4484-BD38-DA36E3A550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09" t="27102" r="30893" b="51246"/>
          <a:stretch/>
        </p:blipFill>
        <p:spPr>
          <a:xfrm>
            <a:off x="772620" y="3429000"/>
            <a:ext cx="6085379" cy="33210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A05854-FE31-4176-A25D-05B84FA7DC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321" t="22154" r="81090" b="42154"/>
          <a:stretch/>
        </p:blipFill>
        <p:spPr>
          <a:xfrm>
            <a:off x="7408507" y="557659"/>
            <a:ext cx="4618653" cy="599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906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CE3FF-DDD8-4819-AA4D-420A590F5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00B050"/>
                </a:solidFill>
              </a:rPr>
              <a:t>+</a:t>
            </a:r>
            <a:r>
              <a:rPr lang="en-US" dirty="0"/>
              <a:t> operator on arrays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561D8-84F7-45A1-A5BE-1CB93EB584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5010944"/>
          </a:xfrm>
        </p:spPr>
        <p:txBody>
          <a:bodyPr>
            <a:normAutofit/>
          </a:bodyPr>
          <a:lstStyle/>
          <a:p>
            <a:r>
              <a:rPr lang="en-US" b="1" dirty="0"/>
              <a:t>The</a:t>
            </a:r>
            <a:r>
              <a:rPr lang="en-US" b="1" dirty="0">
                <a:solidFill>
                  <a:srgbClr val="00B050"/>
                </a:solidFill>
              </a:rPr>
              <a:t> +</a:t>
            </a:r>
            <a:r>
              <a:rPr lang="en-US" dirty="0"/>
              <a:t> </a:t>
            </a:r>
            <a:r>
              <a:rPr lang="en-US" b="1" dirty="0"/>
              <a:t>operator on </a:t>
            </a:r>
            <a:r>
              <a:rPr lang="en-US" b="1" dirty="0">
                <a:solidFill>
                  <a:srgbClr val="7030A0"/>
                </a:solidFill>
              </a:rPr>
              <a:t>lists</a:t>
            </a:r>
            <a:r>
              <a:rPr lang="en-US" dirty="0"/>
              <a:t>: On lists, the </a:t>
            </a:r>
            <a:r>
              <a:rPr lang="en-US" b="1" dirty="0">
                <a:solidFill>
                  <a:srgbClr val="00B050"/>
                </a:solidFill>
              </a:rPr>
              <a:t>+</a:t>
            </a:r>
            <a:r>
              <a:rPr lang="en-US" dirty="0"/>
              <a:t> operator will </a:t>
            </a:r>
            <a:r>
              <a:rPr lang="en-US" b="1" u="sng" dirty="0"/>
              <a:t>concatenate</a:t>
            </a:r>
            <a:r>
              <a:rPr lang="en-US" dirty="0"/>
              <a:t> both lists into a new one.</a:t>
            </a:r>
          </a:p>
          <a:p>
            <a:r>
              <a:rPr lang="en-US" b="1" dirty="0"/>
              <a:t>The </a:t>
            </a:r>
            <a:r>
              <a:rPr lang="en-US" b="1" dirty="0">
                <a:solidFill>
                  <a:srgbClr val="00B050"/>
                </a:solidFill>
              </a:rPr>
              <a:t>+</a:t>
            </a:r>
            <a:r>
              <a:rPr lang="en-US" b="1" dirty="0"/>
              <a:t> operator on </a:t>
            </a:r>
            <a:r>
              <a:rPr lang="en-US" b="1" dirty="0" err="1">
                <a:solidFill>
                  <a:srgbClr val="7030A0"/>
                </a:solidFill>
              </a:rPr>
              <a:t>Numpy</a:t>
            </a:r>
            <a:r>
              <a:rPr lang="en-US" b="1" dirty="0">
                <a:solidFill>
                  <a:srgbClr val="7030A0"/>
                </a:solidFill>
              </a:rPr>
              <a:t> arrays</a:t>
            </a:r>
            <a:r>
              <a:rPr lang="en-US" b="1" dirty="0"/>
              <a:t> – (vector sum): </a:t>
            </a:r>
            <a:r>
              <a:rPr lang="en-US" dirty="0"/>
              <a:t>On </a:t>
            </a:r>
            <a:r>
              <a:rPr lang="en-US" dirty="0" err="1"/>
              <a:t>Numpy</a:t>
            </a:r>
            <a:r>
              <a:rPr lang="en-US" dirty="0"/>
              <a:t> arrays, however, the </a:t>
            </a:r>
            <a:r>
              <a:rPr lang="en-US" b="1" dirty="0">
                <a:solidFill>
                  <a:srgbClr val="00B050"/>
                </a:solidFill>
              </a:rPr>
              <a:t>+</a:t>
            </a:r>
            <a:r>
              <a:rPr lang="en-US" dirty="0"/>
              <a:t> operator will </a:t>
            </a:r>
            <a:r>
              <a:rPr lang="en-US" b="1" u="sng" dirty="0"/>
              <a:t>sum</a:t>
            </a:r>
            <a:r>
              <a:rPr lang="en-US" dirty="0"/>
              <a:t> the elements of both </a:t>
            </a:r>
            <a:r>
              <a:rPr lang="en-US" dirty="0" err="1"/>
              <a:t>Numpy</a:t>
            </a:r>
            <a:r>
              <a:rPr lang="en-US" dirty="0"/>
              <a:t> arrays.</a:t>
            </a:r>
          </a:p>
          <a:p>
            <a:r>
              <a:rPr lang="en-US" b="1" dirty="0"/>
              <a:t>Broadcasting: </a:t>
            </a:r>
            <a:r>
              <a:rPr lang="en-US" dirty="0"/>
              <a:t>If summed with a number instead, the elements in the </a:t>
            </a:r>
            <a:r>
              <a:rPr lang="en-US" dirty="0" err="1"/>
              <a:t>Numpy</a:t>
            </a:r>
            <a:r>
              <a:rPr lang="en-US" dirty="0"/>
              <a:t> array will each be incremented by the given value. 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74C409-57C0-46C0-84FE-0849CA9501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332" t="42618" r="79748" b="45469"/>
          <a:stretch/>
        </p:blipFill>
        <p:spPr>
          <a:xfrm>
            <a:off x="6875584" y="144994"/>
            <a:ext cx="4478216" cy="16806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7FF0A8-2B88-4654-9F5F-B24CE9DB80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859" t="32820" r="30961" b="25128"/>
          <a:stretch/>
        </p:blipFill>
        <p:spPr>
          <a:xfrm>
            <a:off x="6875583" y="1825625"/>
            <a:ext cx="4644293" cy="501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136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A557A-7EA5-417C-BE14-D130D830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Aliasing, Shallow and Deep copies in arrays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EA8A4-9114-4943-906D-3006687F33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As with lists, </a:t>
            </a:r>
            <a:r>
              <a:rPr lang="en-US" dirty="0" err="1"/>
              <a:t>Numpy</a:t>
            </a:r>
            <a:r>
              <a:rPr lang="en-US" dirty="0"/>
              <a:t> arrays are subject to the same issues about </a:t>
            </a:r>
            <a:r>
              <a:rPr lang="en-US" b="1" dirty="0"/>
              <a:t>aliasing, shallow and deep copies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If needed, use deep copies of the arrays.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293073-6A44-457E-8372-D78ED4389F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859" t="22973" r="28974" b="28821"/>
          <a:stretch/>
        </p:blipFill>
        <p:spPr>
          <a:xfrm>
            <a:off x="6516077" y="1576752"/>
            <a:ext cx="4837723" cy="514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0980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E18430-AD23-4415-A695-25DA5940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Activity 1 - Exam adjustments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9D8EF5-F54F-479B-A62E-4AADCDE99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 us assume, that I have </a:t>
            </a:r>
            <a:r>
              <a:rPr lang="en-US" b="1" dirty="0"/>
              <a:t>grades</a:t>
            </a:r>
            <a:r>
              <a:rPr lang="en-US" dirty="0"/>
              <a:t> from my students listed in some </a:t>
            </a:r>
            <a:r>
              <a:rPr lang="en-US" b="1" dirty="0" err="1"/>
              <a:t>Numpy</a:t>
            </a:r>
            <a:r>
              <a:rPr lang="en-US" b="1" dirty="0"/>
              <a:t> array </a:t>
            </a:r>
            <a:r>
              <a:rPr lang="en-US" dirty="0"/>
              <a:t>variable, as shown below. 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0BF853-D4FE-3F63-776F-8BC760B24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57" y="3035938"/>
            <a:ext cx="11051562" cy="345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6138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E18430-AD23-4415-A695-25DA5940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Activity 1 - Exam adjustments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9D8EF5-F54F-479B-A62E-4AADCDE991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US" dirty="0"/>
              <a:t>Let us assume, that I have </a:t>
            </a:r>
            <a:r>
              <a:rPr lang="en-US" b="1" dirty="0"/>
              <a:t>grades</a:t>
            </a:r>
            <a:r>
              <a:rPr lang="en-US" dirty="0"/>
              <a:t> from my students listed in some </a:t>
            </a:r>
            <a:r>
              <a:rPr lang="en-US" b="1" dirty="0" err="1"/>
              <a:t>Numpy</a:t>
            </a:r>
            <a:r>
              <a:rPr lang="en-US" b="1" dirty="0"/>
              <a:t> array </a:t>
            </a:r>
            <a:r>
              <a:rPr lang="en-US" dirty="0"/>
              <a:t>variable. </a:t>
            </a:r>
          </a:p>
          <a:p>
            <a:r>
              <a:rPr lang="en-US" dirty="0"/>
              <a:t>The first line contains the column labels (student name, some scores) and the other lines will consist of entries regarding some of the students.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94F15C-E909-499E-A37D-9B498BFEA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US" dirty="0"/>
              <a:t>Let us assume that, as a professor, I have decided to be lenient towards my students.</a:t>
            </a:r>
          </a:p>
          <a:p>
            <a:r>
              <a:rPr lang="en-US" dirty="0"/>
              <a:t>I realized that the midterm was a bit too difficult compared to last year, and they failed more than expected… To compensate for that, I would like to increase the scores of all students on the midterm by 50%.</a:t>
            </a:r>
          </a:p>
          <a:p>
            <a:r>
              <a:rPr lang="en-US" dirty="0"/>
              <a:t>Will use a function to do so!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98686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E18430-AD23-4415-A695-25DA5940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Activity 1 - Exam adjustments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9D8EF5-F54F-479B-A62E-4AADCDE991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96572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Write a function </a:t>
            </a:r>
            <a:r>
              <a:rPr lang="en-US" b="1" dirty="0" err="1"/>
              <a:t>grade_adjustment</a:t>
            </a:r>
            <a:r>
              <a:rPr lang="en-US" b="1" dirty="0"/>
              <a:t>()</a:t>
            </a:r>
            <a:r>
              <a:rPr lang="en-US" dirty="0"/>
              <a:t>,</a:t>
            </a:r>
            <a:r>
              <a:rPr lang="en-US" b="1" dirty="0"/>
              <a:t> </a:t>
            </a:r>
          </a:p>
          <a:p>
            <a:r>
              <a:rPr lang="en-US" dirty="0"/>
              <a:t>which</a:t>
            </a:r>
            <a:r>
              <a:rPr lang="en-US" b="1" dirty="0"/>
              <a:t> receives</a:t>
            </a:r>
            <a:r>
              <a:rPr lang="en-US" dirty="0"/>
              <a:t> a grades table, </a:t>
            </a:r>
            <a:r>
              <a:rPr lang="en-US" b="1" dirty="0" err="1"/>
              <a:t>grades_table</a:t>
            </a:r>
            <a:r>
              <a:rPr lang="en-US" dirty="0"/>
              <a:t>,</a:t>
            </a:r>
          </a:p>
          <a:p>
            <a:r>
              <a:rPr lang="en-US" b="1" dirty="0"/>
              <a:t>increases</a:t>
            </a:r>
            <a:r>
              <a:rPr lang="en-US" dirty="0"/>
              <a:t> the </a:t>
            </a:r>
            <a:r>
              <a:rPr lang="en-US" b="1" dirty="0"/>
              <a:t>scores</a:t>
            </a:r>
            <a:r>
              <a:rPr lang="en-US" dirty="0"/>
              <a:t> of all students on </a:t>
            </a:r>
            <a:r>
              <a:rPr lang="en-US" b="1" dirty="0"/>
              <a:t>midterm</a:t>
            </a:r>
            <a:r>
              <a:rPr lang="en-US" dirty="0"/>
              <a:t> by </a:t>
            </a:r>
            <a:r>
              <a:rPr lang="en-US" b="1" dirty="0"/>
              <a:t>50%</a:t>
            </a:r>
            <a:r>
              <a:rPr lang="en-US" dirty="0"/>
              <a:t>,</a:t>
            </a:r>
          </a:p>
          <a:p>
            <a:r>
              <a:rPr lang="en-US" b="1" dirty="0"/>
              <a:t>re-calculates</a:t>
            </a:r>
            <a:r>
              <a:rPr lang="en-US" dirty="0"/>
              <a:t> the </a:t>
            </a:r>
            <a:r>
              <a:rPr lang="en-US" b="1" dirty="0"/>
              <a:t>average</a:t>
            </a:r>
            <a:r>
              <a:rPr lang="en-US" dirty="0"/>
              <a:t> </a:t>
            </a:r>
            <a:r>
              <a:rPr lang="en-US" b="1" dirty="0"/>
              <a:t>score</a:t>
            </a:r>
            <a:r>
              <a:rPr lang="en-US" dirty="0"/>
              <a:t>, with the </a:t>
            </a:r>
            <a:r>
              <a:rPr lang="en-US" b="1" dirty="0"/>
              <a:t>new</a:t>
            </a:r>
            <a:r>
              <a:rPr lang="en-US" dirty="0"/>
              <a:t> </a:t>
            </a:r>
            <a:r>
              <a:rPr lang="en-US" b="1" dirty="0"/>
              <a:t>adjusted</a:t>
            </a:r>
            <a:r>
              <a:rPr lang="en-US" dirty="0"/>
              <a:t> </a:t>
            </a:r>
            <a:r>
              <a:rPr lang="en-US" b="1" dirty="0"/>
              <a:t>midterm</a:t>
            </a:r>
            <a:r>
              <a:rPr lang="en-US" dirty="0"/>
              <a:t> </a:t>
            </a:r>
            <a:r>
              <a:rPr lang="en-US" b="1" dirty="0"/>
              <a:t>score</a:t>
            </a:r>
            <a:r>
              <a:rPr lang="en-US" dirty="0"/>
              <a:t>,</a:t>
            </a:r>
          </a:p>
          <a:p>
            <a:r>
              <a:rPr lang="en-US" dirty="0"/>
              <a:t>and then returns a </a:t>
            </a:r>
            <a:r>
              <a:rPr lang="en-US" b="1" u="sng" dirty="0"/>
              <a:t>new</a:t>
            </a:r>
            <a:r>
              <a:rPr lang="en-US" dirty="0"/>
              <a:t> </a:t>
            </a:r>
            <a:r>
              <a:rPr lang="en-US" b="1" dirty="0"/>
              <a:t>updated</a:t>
            </a:r>
            <a:r>
              <a:rPr lang="en-US" dirty="0"/>
              <a:t> </a:t>
            </a:r>
            <a:r>
              <a:rPr lang="en-US" b="1" dirty="0"/>
              <a:t>grades table</a:t>
            </a:r>
            <a:r>
              <a:rPr lang="en-US" dirty="0"/>
              <a:t> as its sole output.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94F15C-E909-499E-A37D-9B498BFEA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51174" y="1825624"/>
            <a:ext cx="3802626" cy="5032375"/>
          </a:xfrm>
        </p:spPr>
        <p:txBody>
          <a:bodyPr>
            <a:normAutofit/>
          </a:bodyPr>
          <a:lstStyle/>
          <a:p>
            <a:r>
              <a:rPr lang="en-US" b="1" dirty="0"/>
              <a:t>Important note: </a:t>
            </a:r>
            <a:r>
              <a:rPr lang="en-US" dirty="0"/>
              <a:t>The </a:t>
            </a:r>
            <a:r>
              <a:rPr lang="en-US" b="1" dirty="0"/>
              <a:t>maximal</a:t>
            </a:r>
            <a:r>
              <a:rPr lang="en-US" dirty="0"/>
              <a:t> </a:t>
            </a:r>
            <a:r>
              <a:rPr lang="en-US" b="1" dirty="0"/>
              <a:t>score</a:t>
            </a:r>
            <a:r>
              <a:rPr lang="en-US" dirty="0"/>
              <a:t> for the midterm exam is </a:t>
            </a:r>
            <a:r>
              <a:rPr lang="en-US" b="1" dirty="0"/>
              <a:t>capped</a:t>
            </a:r>
            <a:r>
              <a:rPr lang="en-US" dirty="0"/>
              <a:t> to </a:t>
            </a:r>
            <a:r>
              <a:rPr lang="en-US" b="1" dirty="0"/>
              <a:t>100</a:t>
            </a:r>
            <a:r>
              <a:rPr lang="en-US" dirty="0"/>
              <a:t>. This means that a student which scores 80 points on the midterm, will not obtain 120 points after the adjustment, but only 100.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8072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C8CD8-7621-41B9-B19A-A8A012E98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Concatenation on arrays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58700-30F0-4B63-89A4-C04113838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the </a:t>
            </a:r>
            <a:r>
              <a:rPr lang="en-US" b="1" dirty="0">
                <a:solidFill>
                  <a:srgbClr val="00B050"/>
                </a:solidFill>
              </a:rPr>
              <a:t>+</a:t>
            </a:r>
            <a:r>
              <a:rPr lang="en-US" dirty="0"/>
              <a:t> operator cannot be used for </a:t>
            </a:r>
            <a:r>
              <a:rPr lang="en-US" b="1" dirty="0"/>
              <a:t>concatenation</a:t>
            </a:r>
            <a:r>
              <a:rPr lang="en-US" dirty="0"/>
              <a:t>, </a:t>
            </a:r>
            <a:r>
              <a:rPr lang="en-US" dirty="0" err="1"/>
              <a:t>Numpy</a:t>
            </a:r>
            <a:r>
              <a:rPr lang="en-US" dirty="0"/>
              <a:t> comes with a </a:t>
            </a:r>
            <a:r>
              <a:rPr lang="en-US" b="1" dirty="0">
                <a:solidFill>
                  <a:srgbClr val="00B050"/>
                </a:solidFill>
              </a:rPr>
              <a:t>concatenate</a:t>
            </a:r>
            <a:r>
              <a:rPr lang="en-US" b="1" dirty="0"/>
              <a:t>() </a:t>
            </a:r>
            <a:r>
              <a:rPr lang="en-US" dirty="0"/>
              <a:t>function.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AFF129-B8FB-4471-8219-E7DBD59644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95" t="43487" r="26730" b="38667"/>
          <a:stretch/>
        </p:blipFill>
        <p:spPr>
          <a:xfrm>
            <a:off x="1004132" y="3237722"/>
            <a:ext cx="10105681" cy="342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9798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65B5C06-255C-448B-AA5C-E5FED5C217B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dirty="0"/>
                  <a:t> operator on arrays</a:t>
                </a:r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65B5C06-255C-448B-AA5C-E5FED5C217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2F444E-21FB-4AD4-B0D6-55CCFA174A8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dirty="0"/>
                  <a:t> operator behaves as the </a:t>
                </a:r>
                <a:r>
                  <a:rPr lang="en-US" b="1" dirty="0">
                    <a:solidFill>
                      <a:srgbClr val="00B050"/>
                    </a:solidFill>
                  </a:rPr>
                  <a:t>+</a:t>
                </a:r>
                <a:r>
                  <a:rPr lang="en-US" dirty="0"/>
                  <a:t> operator on </a:t>
                </a:r>
                <a:r>
                  <a:rPr lang="en-US" dirty="0" err="1"/>
                  <a:t>Numpy</a:t>
                </a:r>
                <a:r>
                  <a:rPr lang="en-US" dirty="0"/>
                  <a:t> arrays.</a:t>
                </a:r>
              </a:p>
              <a:p>
                <a:r>
                  <a:rPr lang="en-US" dirty="0"/>
                  <a:t>It consists of an </a:t>
                </a:r>
                <a:r>
                  <a:rPr lang="en-US" b="1" dirty="0"/>
                  <a:t>element-wise multiplication </a:t>
                </a:r>
                <a:r>
                  <a:rPr lang="en-US" dirty="0"/>
                  <a:t>of the elements in arrays.</a:t>
                </a:r>
              </a:p>
              <a:p>
                <a:r>
                  <a:rPr lang="en-GB" b="1" dirty="0"/>
                  <a:t>Broadcasting: </a:t>
                </a:r>
                <a:r>
                  <a:rPr lang="en-GB" dirty="0"/>
                  <a:t>if a </a:t>
                </a:r>
                <a:r>
                  <a:rPr lang="en-GB" dirty="0" err="1"/>
                  <a:t>Numpy</a:t>
                </a:r>
                <a:r>
                  <a:rPr lang="en-GB" dirty="0"/>
                  <a:t> array is multiplied by a number, the number will multiply each element in the array.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2F444E-21FB-4AD4-B0D6-55CCFA174A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118" t="-2241" r="-3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3BB01E3-8814-465F-8496-69A625ADC6F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795" t="29949" r="31282" b="35259"/>
          <a:stretch/>
        </p:blipFill>
        <p:spPr>
          <a:xfrm>
            <a:off x="6650891" y="1690688"/>
            <a:ext cx="5353539" cy="488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621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EB9A-395F-4572-BEDB-45DADD2C2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functions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1014C-4283-4C55-B2E6-148C98649D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Additional </a:t>
            </a:r>
            <a:r>
              <a:rPr lang="en-US" dirty="0" err="1"/>
              <a:t>Numpy</a:t>
            </a:r>
            <a:r>
              <a:rPr lang="en-US" dirty="0"/>
              <a:t> functions</a:t>
            </a:r>
          </a:p>
          <a:p>
            <a:r>
              <a:rPr lang="en-US" b="1" dirty="0"/>
              <a:t>Min, max: </a:t>
            </a:r>
            <a:r>
              <a:rPr lang="en-US" dirty="0"/>
              <a:t>returns the minimal, resp. maximal, values in array.</a:t>
            </a:r>
          </a:p>
          <a:p>
            <a:r>
              <a:rPr lang="en-US" b="1" dirty="0" err="1"/>
              <a:t>Argmin</a:t>
            </a:r>
            <a:r>
              <a:rPr lang="en-US" b="1" dirty="0"/>
              <a:t>, argmax: </a:t>
            </a:r>
            <a:r>
              <a:rPr lang="en-US" dirty="0"/>
              <a:t>returns the index where the minimal, resp. maximal, values are.</a:t>
            </a:r>
          </a:p>
          <a:p>
            <a:r>
              <a:rPr lang="en-US" b="1" dirty="0"/>
              <a:t>Mean, median: </a:t>
            </a:r>
            <a:r>
              <a:rPr lang="en-US" dirty="0"/>
              <a:t>returns the mean, resp. median, value for a given array.</a:t>
            </a:r>
          </a:p>
          <a:p>
            <a:r>
              <a:rPr lang="en-US" b="1" dirty="0"/>
              <a:t>Sum: </a:t>
            </a:r>
            <a:r>
              <a:rPr lang="en-US" dirty="0"/>
              <a:t>sums all the elements in the array together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0AD254-268D-429A-BE7D-96359B4770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31" t="28513" r="30448" b="17538"/>
          <a:stretch/>
        </p:blipFill>
        <p:spPr>
          <a:xfrm>
            <a:off x="6807199" y="109452"/>
            <a:ext cx="5048740" cy="663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6658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56DCD-EA1D-4BD4-8222-B06BB3582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functions and constants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23F65-6417-47E0-82C7-16EB49E283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Numpy</a:t>
            </a:r>
            <a:r>
              <a:rPr lang="en-US" dirty="0"/>
              <a:t> also contains</a:t>
            </a:r>
          </a:p>
          <a:p>
            <a:r>
              <a:rPr lang="en-US" dirty="0"/>
              <a:t>Many </a:t>
            </a:r>
            <a:r>
              <a:rPr lang="en-US" b="1" dirty="0"/>
              <a:t>mathematical functions </a:t>
            </a:r>
            <a:r>
              <a:rPr lang="en-US" dirty="0"/>
              <a:t>(cosine, sine, logarithm, exponential, etc.)</a:t>
            </a:r>
          </a:p>
          <a:p>
            <a:r>
              <a:rPr lang="en-US" dirty="0"/>
              <a:t>And many </a:t>
            </a:r>
            <a:r>
              <a:rPr lang="en-US" b="1" dirty="0"/>
              <a:t>mathematical constants </a:t>
            </a:r>
            <a:r>
              <a:rPr lang="en-US" dirty="0"/>
              <a:t>(pi, etc.)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7EBB3E-568A-4ADD-B807-82AC5BD85D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95" t="28718" r="36218" b="47077"/>
          <a:stretch/>
        </p:blipFill>
        <p:spPr>
          <a:xfrm>
            <a:off x="6895021" y="1690688"/>
            <a:ext cx="4374763" cy="473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391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CB5A7-EF57-48F6-9D3B-BBBC94505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so much more!</a:t>
            </a:r>
            <a:br>
              <a:rPr lang="en-US" dirty="0"/>
            </a:br>
            <a:r>
              <a:rPr lang="en-US" dirty="0"/>
              <a:t>RTFM!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AF91B-FF81-4212-A95E-8E0D3B34B5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Numpy</a:t>
            </a:r>
            <a:r>
              <a:rPr lang="en-US" dirty="0"/>
              <a:t> has </a:t>
            </a:r>
            <a:r>
              <a:rPr lang="en-US" b="1" dirty="0"/>
              <a:t>many more functions and tools </a:t>
            </a:r>
            <a:r>
              <a:rPr lang="en-US" dirty="0"/>
              <a:t>to offer!</a:t>
            </a:r>
          </a:p>
          <a:p>
            <a:r>
              <a:rPr lang="en-US" dirty="0"/>
              <a:t>E.g., </a:t>
            </a:r>
            <a:r>
              <a:rPr lang="en-US" b="1" dirty="0"/>
              <a:t>Random functions </a:t>
            </a:r>
            <a:r>
              <a:rPr lang="en-US" dirty="0"/>
              <a:t>(to be covered in an upcoming</a:t>
            </a:r>
            <a:br>
              <a:rPr lang="en-US" dirty="0"/>
            </a:br>
            <a:r>
              <a:rPr lang="en-US" dirty="0"/>
              <a:t>session, if time allows?)</a:t>
            </a:r>
          </a:p>
          <a:p>
            <a:endParaRPr lang="en-US" dirty="0"/>
          </a:p>
          <a:p>
            <a:r>
              <a:rPr lang="en-US" dirty="0"/>
              <a:t>Learn more about </a:t>
            </a:r>
            <a:r>
              <a:rPr lang="en-US" dirty="0" err="1"/>
              <a:t>Numpy</a:t>
            </a:r>
            <a:r>
              <a:rPr lang="en-US" dirty="0"/>
              <a:t> (RTFM!) here: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https://numpy.org/doc/stable/</a:t>
            </a:r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D14BDD-EF9B-4262-B5E0-DA660C3523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795" t="33025" r="25770" b="24103"/>
          <a:stretch/>
        </p:blipFill>
        <p:spPr>
          <a:xfrm>
            <a:off x="5831660" y="1609969"/>
            <a:ext cx="6219696" cy="477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9871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F01CFD-8AFD-46B9-8E7D-E5C2BDCFD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00B050"/>
                </a:solidFill>
              </a:rPr>
              <a:t>import</a:t>
            </a:r>
            <a:r>
              <a:rPr lang="en-US" dirty="0"/>
              <a:t> procedure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78A286-4E90-4B7B-9BAF-833BC72F1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929738"/>
          </a:xfrm>
        </p:spPr>
        <p:txBody>
          <a:bodyPr>
            <a:normAutofit/>
          </a:bodyPr>
          <a:lstStyle/>
          <a:p>
            <a:r>
              <a:rPr lang="en-US" dirty="0"/>
              <a:t>The import procedure is used to </a:t>
            </a:r>
            <a:r>
              <a:rPr lang="en-US" b="1" dirty="0"/>
              <a:t>import functions defined</a:t>
            </a:r>
            <a:r>
              <a:rPr lang="en-US" dirty="0"/>
              <a:t> </a:t>
            </a:r>
            <a:r>
              <a:rPr lang="en-US" b="1" dirty="0"/>
              <a:t>in</a:t>
            </a:r>
            <a:r>
              <a:rPr lang="en-US" dirty="0"/>
              <a:t> </a:t>
            </a:r>
            <a:r>
              <a:rPr lang="en-US" b="1" dirty="0"/>
              <a:t>external</a:t>
            </a:r>
            <a:r>
              <a:rPr lang="en-US" dirty="0"/>
              <a:t> </a:t>
            </a:r>
            <a:r>
              <a:rPr lang="en-US" b="1" dirty="0"/>
              <a:t>.</a:t>
            </a:r>
            <a:r>
              <a:rPr lang="en-US" b="1" dirty="0" err="1"/>
              <a:t>py</a:t>
            </a:r>
            <a:r>
              <a:rPr lang="en-US" b="1" dirty="0"/>
              <a:t> files.</a:t>
            </a:r>
          </a:p>
          <a:p>
            <a:r>
              <a:rPr lang="en-US" dirty="0"/>
              <a:t>To demonstrate, we have defined a </a:t>
            </a:r>
            <a:r>
              <a:rPr lang="en-US" b="1" dirty="0"/>
              <a:t>my_code.py </a:t>
            </a:r>
            <a:r>
              <a:rPr lang="en-US" dirty="0"/>
              <a:t>file with three functions.</a:t>
            </a:r>
          </a:p>
          <a:p>
            <a:r>
              <a:rPr lang="en-US" dirty="0"/>
              <a:t>We can then import one of these functions in our Notebook, by using the </a:t>
            </a:r>
            <a:r>
              <a:rPr lang="en-US" b="1" dirty="0">
                <a:solidFill>
                  <a:srgbClr val="00B050"/>
                </a:solidFill>
              </a:rPr>
              <a:t>from</a:t>
            </a:r>
            <a:r>
              <a:rPr lang="en-US" b="1" dirty="0"/>
              <a:t> … </a:t>
            </a:r>
            <a:r>
              <a:rPr lang="en-US" b="1" dirty="0">
                <a:solidFill>
                  <a:srgbClr val="00B050"/>
                </a:solidFill>
              </a:rPr>
              <a:t>import</a:t>
            </a:r>
            <a:r>
              <a:rPr lang="en-US" b="1" dirty="0"/>
              <a:t> … </a:t>
            </a:r>
            <a:r>
              <a:rPr lang="en-US" dirty="0"/>
              <a:t>command.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D3DDA7-7B4D-4C15-8DDE-CE11F8459A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86" t="25878" r="31199" b="61632"/>
          <a:stretch/>
        </p:blipFill>
        <p:spPr>
          <a:xfrm>
            <a:off x="6713294" y="5038039"/>
            <a:ext cx="4907944" cy="159430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64A6CB-1C9A-4D2C-9E1A-BC7F105C27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730" t="7917" r="31505" b="61877"/>
          <a:stretch/>
        </p:blipFill>
        <p:spPr>
          <a:xfrm>
            <a:off x="6292060" y="690915"/>
            <a:ext cx="5750411" cy="344299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54685E-051F-47D9-ACB1-E0E94BDF789A}"/>
              </a:ext>
            </a:extLst>
          </p:cNvPr>
          <p:cNvSpPr txBox="1"/>
          <p:nvPr/>
        </p:nvSpPr>
        <p:spPr>
          <a:xfrm>
            <a:off x="7698155" y="225658"/>
            <a:ext cx="2227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my_code.py file</a:t>
            </a:r>
            <a:endParaRPr lang="en-GB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34537F-EE4A-4337-9932-45E318A37662}"/>
              </a:ext>
            </a:extLst>
          </p:cNvPr>
          <p:cNvSpPr txBox="1"/>
          <p:nvPr/>
        </p:nvSpPr>
        <p:spPr>
          <a:xfrm>
            <a:off x="8053573" y="4576374"/>
            <a:ext cx="2227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 our notebook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8942695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F01CFD-8AFD-46B9-8E7D-E5C2BDCFD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00B050"/>
                </a:solidFill>
              </a:rPr>
              <a:t>import</a:t>
            </a:r>
            <a:r>
              <a:rPr lang="en-US" dirty="0"/>
              <a:t> procedure</a:t>
            </a:r>
            <a:endParaRPr lang="en-GB" dirty="0"/>
          </a:p>
        </p:txBody>
      </p:sp>
      <p:pic>
        <p:nvPicPr>
          <p:cNvPr id="18" name="Picture 17" descr="A person looking at the camera&#10;&#10;Description automatically generated">
            <a:extLst>
              <a:ext uri="{FF2B5EF4-FFF2-40B4-BE49-F238E27FC236}">
                <a16:creationId xmlns:a16="http://schemas.microsoft.com/office/drawing/2014/main" id="{63E8B2A0-B2DD-D3E1-0075-EA0416E1A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315" y="4130155"/>
            <a:ext cx="3294920" cy="2568481"/>
          </a:xfrm>
          <a:prstGeom prst="rect">
            <a:avLst/>
          </a:prstGeom>
        </p:spPr>
      </p:pic>
      <p:pic>
        <p:nvPicPr>
          <p:cNvPr id="20" name="Picture 19" descr="A person sitting in a chair&#10;&#10;Description automatically generated">
            <a:extLst>
              <a:ext uri="{FF2B5EF4-FFF2-40B4-BE49-F238E27FC236}">
                <a16:creationId xmlns:a16="http://schemas.microsoft.com/office/drawing/2014/main" id="{418B4B7D-83A4-9A98-970F-B52350D9B7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24" r="13706"/>
          <a:stretch/>
        </p:blipFill>
        <p:spPr>
          <a:xfrm>
            <a:off x="132594" y="1465044"/>
            <a:ext cx="2648635" cy="243854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459F841-8121-792F-B9FE-2EB190209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923" y="5606312"/>
            <a:ext cx="2579625" cy="58454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ABB456F-B279-2506-83DD-9525F1325636}"/>
              </a:ext>
            </a:extLst>
          </p:cNvPr>
          <p:cNvSpPr txBox="1"/>
          <p:nvPr/>
        </p:nvSpPr>
        <p:spPr>
          <a:xfrm>
            <a:off x="2894439" y="1592826"/>
            <a:ext cx="278860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Operator: Cosine function coming right up!</a:t>
            </a:r>
            <a:endParaRPr lang="en-SG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6B1EFE-05F7-6F69-C07E-9CE0E393B5F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0000"/>
          <a:stretch/>
        </p:blipFill>
        <p:spPr>
          <a:xfrm>
            <a:off x="5796255" y="1163198"/>
            <a:ext cx="6334293" cy="27403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0A2068-1AC8-E81E-AF53-26BBF53543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1211"/>
          <a:stretch/>
        </p:blipFill>
        <p:spPr>
          <a:xfrm>
            <a:off x="981648" y="4085198"/>
            <a:ext cx="6334293" cy="2674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6670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787BD-408C-4865-9C19-889605EF1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</a:t>
            </a:r>
            <a:r>
              <a:rPr lang="en-US" b="1" dirty="0">
                <a:solidFill>
                  <a:srgbClr val="00B050"/>
                </a:solidFill>
              </a:rPr>
              <a:t>as</a:t>
            </a:r>
            <a:endParaRPr lang="en-GB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2D930-DFA2-4D6C-B06D-12B73C7818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If needed, we can </a:t>
            </a:r>
            <a:r>
              <a:rPr lang="en-US" b="1" dirty="0"/>
              <a:t>import</a:t>
            </a:r>
            <a:r>
              <a:rPr lang="en-US" dirty="0"/>
              <a:t> and </a:t>
            </a:r>
            <a:r>
              <a:rPr lang="en-US" b="1" dirty="0"/>
              <a:t>rename</a:t>
            </a:r>
            <a:r>
              <a:rPr lang="en-US" dirty="0"/>
              <a:t> a function by using the </a:t>
            </a:r>
            <a:r>
              <a:rPr lang="en-US" b="1" dirty="0">
                <a:solidFill>
                  <a:srgbClr val="00B050"/>
                </a:solidFill>
              </a:rPr>
              <a:t>as</a:t>
            </a:r>
            <a:r>
              <a:rPr lang="en-US" dirty="0"/>
              <a:t> keyword after an </a:t>
            </a:r>
            <a:r>
              <a:rPr lang="en-US" b="1" dirty="0">
                <a:solidFill>
                  <a:srgbClr val="00B050"/>
                </a:solidFill>
              </a:rPr>
              <a:t>import</a:t>
            </a:r>
            <a:r>
              <a:rPr lang="en-US" dirty="0"/>
              <a:t>.</a:t>
            </a:r>
            <a:endParaRPr lang="en-GB" dirty="0"/>
          </a:p>
          <a:p>
            <a:r>
              <a:rPr lang="en-GB" dirty="0"/>
              <a:t>The whole command then reads </a:t>
            </a:r>
            <a:r>
              <a:rPr lang="en-GB" b="1" dirty="0">
                <a:solidFill>
                  <a:srgbClr val="00B050"/>
                </a:solidFill>
              </a:rPr>
              <a:t>from</a:t>
            </a:r>
            <a:r>
              <a:rPr lang="en-GB" b="1" dirty="0"/>
              <a:t> … </a:t>
            </a:r>
            <a:r>
              <a:rPr lang="en-GB" b="1" dirty="0">
                <a:solidFill>
                  <a:srgbClr val="00B050"/>
                </a:solidFill>
              </a:rPr>
              <a:t>import</a:t>
            </a:r>
            <a:r>
              <a:rPr lang="en-GB" b="1" dirty="0"/>
              <a:t> … </a:t>
            </a:r>
            <a:r>
              <a:rPr lang="en-GB" b="1" dirty="0">
                <a:solidFill>
                  <a:srgbClr val="00B050"/>
                </a:solidFill>
              </a:rPr>
              <a:t>as</a:t>
            </a:r>
            <a:r>
              <a:rPr lang="en-GB" b="1" dirty="0"/>
              <a:t> …</a:t>
            </a:r>
          </a:p>
          <a:p>
            <a:endParaRPr lang="en-GB" b="1" dirty="0"/>
          </a:p>
          <a:p>
            <a:r>
              <a:rPr lang="en-GB" b="1" dirty="0"/>
              <a:t>Note: </a:t>
            </a:r>
            <a:r>
              <a:rPr lang="en-GB" dirty="0"/>
              <a:t>if you rename the function, its calling name changes to the alias you specified.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B68194-35C5-4515-9F5D-AD370A6C43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730" t="7917" r="31505" b="61877"/>
          <a:stretch/>
        </p:blipFill>
        <p:spPr>
          <a:xfrm>
            <a:off x="6292060" y="690915"/>
            <a:ext cx="5750411" cy="344299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71AF9C-F940-4E2A-8340-6EAA769532B1}"/>
              </a:ext>
            </a:extLst>
          </p:cNvPr>
          <p:cNvSpPr txBox="1"/>
          <p:nvPr/>
        </p:nvSpPr>
        <p:spPr>
          <a:xfrm>
            <a:off x="7698155" y="225658"/>
            <a:ext cx="2227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my_code.py file</a:t>
            </a:r>
            <a:endParaRPr lang="en-GB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E43EEF-20FE-430B-B0B1-EC81CA09A0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859" t="40410" r="18141" b="25810"/>
          <a:stretch/>
        </p:blipFill>
        <p:spPr>
          <a:xfrm>
            <a:off x="6292060" y="4305044"/>
            <a:ext cx="5833250" cy="246308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7EC85B-95B9-4E60-A08A-4F729C5070E6}"/>
              </a:ext>
            </a:extLst>
          </p:cNvPr>
          <p:cNvSpPr txBox="1"/>
          <p:nvPr/>
        </p:nvSpPr>
        <p:spPr>
          <a:xfrm rot="16200000">
            <a:off x="5017082" y="5342560"/>
            <a:ext cx="2227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 our notebook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32789706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6C029-6081-4458-B48B-6C188B67D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several</a:t>
            </a:r>
            <a:br>
              <a:rPr lang="en-US" dirty="0"/>
            </a:br>
            <a:r>
              <a:rPr lang="en-US" dirty="0"/>
              <a:t>functions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7AB2FA-74E2-451E-A508-483FE20A67D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495031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If needed, you can import </a:t>
                </a:r>
                <a:r>
                  <a:rPr lang="en-US" b="1" dirty="0"/>
                  <a:t>multiple</a:t>
                </a:r>
                <a:r>
                  <a:rPr lang="en-US" dirty="0"/>
                  <a:t> </a:t>
                </a:r>
                <a:r>
                  <a:rPr lang="en-US" b="1" dirty="0"/>
                  <a:t>functions at once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Simply use </a:t>
                </a:r>
                <a:r>
                  <a:rPr lang="en-US" b="1" dirty="0"/>
                  <a:t>commas</a:t>
                </a:r>
                <a:r>
                  <a:rPr lang="en-US" dirty="0"/>
                  <a:t> </a:t>
                </a:r>
                <a:r>
                  <a:rPr lang="en-US" b="1" dirty="0"/>
                  <a:t>(</a:t>
                </a:r>
                <a:r>
                  <a:rPr lang="en-US" b="1" dirty="0">
                    <a:solidFill>
                      <a:srgbClr val="00B050"/>
                    </a:solidFill>
                  </a:rPr>
                  <a:t>,</a:t>
                </a:r>
                <a:r>
                  <a:rPr lang="en-US" b="1" dirty="0"/>
                  <a:t>)</a:t>
                </a:r>
                <a:r>
                  <a:rPr lang="en-US" dirty="0"/>
                  <a:t> </a:t>
                </a:r>
                <a:r>
                  <a:rPr lang="en-US" b="1" dirty="0"/>
                  <a:t>symbols</a:t>
                </a:r>
                <a:r>
                  <a:rPr lang="en-US" dirty="0"/>
                  <a:t> to separate the different functions names.</a:t>
                </a:r>
              </a:p>
              <a:p>
                <a:r>
                  <a:rPr lang="en-US" dirty="0"/>
                  <a:t>Or, you can also </a:t>
                </a:r>
                <a:r>
                  <a:rPr lang="en-US" b="1" dirty="0"/>
                  <a:t>import all functions</a:t>
                </a:r>
                <a:r>
                  <a:rPr lang="en-US" dirty="0"/>
                  <a:t> at once, by simply entering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i="1" dirty="0"/>
                  <a:t>(This is considered malpractice, however, you should just import what you need!)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7AB2FA-74E2-451E-A508-483FE20A67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4950313"/>
              </a:xfrm>
              <a:blipFill>
                <a:blip r:embed="rId2"/>
                <a:stretch>
                  <a:fillRect l="-2471" t="-19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CF6835E-B6DF-43C3-A401-ED8289CC28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795" t="32205" r="26730" b="50000"/>
          <a:stretch/>
        </p:blipFill>
        <p:spPr>
          <a:xfrm>
            <a:off x="6019800" y="4769214"/>
            <a:ext cx="5944977" cy="200672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4D2B14-C7E1-4295-802C-7965B9D7BD80}"/>
              </a:ext>
            </a:extLst>
          </p:cNvPr>
          <p:cNvSpPr txBox="1"/>
          <p:nvPr/>
        </p:nvSpPr>
        <p:spPr>
          <a:xfrm>
            <a:off x="7698155" y="225658"/>
            <a:ext cx="2227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my_code.py file</a:t>
            </a:r>
            <a:endParaRPr lang="en-GB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44BFD6-356F-46BD-A4DD-ECE23D9D761B}"/>
              </a:ext>
            </a:extLst>
          </p:cNvPr>
          <p:cNvSpPr txBox="1"/>
          <p:nvPr/>
        </p:nvSpPr>
        <p:spPr>
          <a:xfrm>
            <a:off x="7698154" y="4307549"/>
            <a:ext cx="2227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 our notebook</a:t>
            </a:r>
            <a:endParaRPr lang="en-GB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4A935B-ABDA-0824-2BDD-BC1278E569A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730" t="7917" r="31505" b="61877"/>
          <a:stretch/>
        </p:blipFill>
        <p:spPr>
          <a:xfrm>
            <a:off x="6292060" y="690915"/>
            <a:ext cx="5750411" cy="344299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133008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C3624-B803-4948-8535-9E9B5305A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an entire </a:t>
            </a:r>
            <a:r>
              <a:rPr lang="en-US" b="1" dirty="0">
                <a:solidFill>
                  <a:srgbClr val="00B050"/>
                </a:solidFill>
              </a:rPr>
              <a:t>module</a:t>
            </a:r>
            <a:endParaRPr lang="en-GB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70EFA-D4BB-43F6-9627-668955B9A3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91905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You can also import a whole file or library as a </a:t>
            </a:r>
            <a:r>
              <a:rPr lang="en-US" b="1" dirty="0"/>
              <a:t>module.</a:t>
            </a:r>
          </a:p>
          <a:p>
            <a:r>
              <a:rPr lang="en-US" dirty="0"/>
              <a:t>To do so, simply start with </a:t>
            </a:r>
            <a:r>
              <a:rPr lang="en-US" b="1" dirty="0">
                <a:solidFill>
                  <a:srgbClr val="00B050"/>
                </a:solidFill>
              </a:rPr>
              <a:t>import</a:t>
            </a:r>
            <a:r>
              <a:rPr lang="en-US" dirty="0"/>
              <a:t> instead of </a:t>
            </a:r>
            <a:r>
              <a:rPr lang="en-US" b="1" dirty="0">
                <a:solidFill>
                  <a:srgbClr val="00B050"/>
                </a:solidFill>
              </a:rPr>
              <a:t>from</a:t>
            </a:r>
            <a:r>
              <a:rPr lang="en-US" dirty="0"/>
              <a:t>.</a:t>
            </a:r>
          </a:p>
          <a:p>
            <a:r>
              <a:rPr lang="en-US" dirty="0"/>
              <a:t>By doing so, you import all the functions, but </a:t>
            </a:r>
            <a:r>
              <a:rPr lang="en-US" b="1" dirty="0"/>
              <a:t>they </a:t>
            </a:r>
            <a:r>
              <a:rPr lang="en-US" b="1" u="sng" dirty="0"/>
              <a:t>have to be called using the module name </a:t>
            </a:r>
            <a:r>
              <a:rPr lang="en-US" b="1" dirty="0"/>
              <a:t>and the</a:t>
            </a:r>
            <a:r>
              <a:rPr lang="en-US" dirty="0"/>
              <a:t> </a:t>
            </a:r>
            <a:r>
              <a:rPr lang="en-US" b="1" dirty="0"/>
              <a:t>dot</a:t>
            </a:r>
            <a:r>
              <a:rPr lang="en-US" dirty="0"/>
              <a:t> </a:t>
            </a:r>
            <a:r>
              <a:rPr lang="en-US" b="1" dirty="0"/>
              <a:t>operator</a:t>
            </a:r>
            <a:r>
              <a:rPr lang="en-US" dirty="0"/>
              <a:t> (</a:t>
            </a:r>
            <a:r>
              <a:rPr lang="en-US" b="1" dirty="0">
                <a:solidFill>
                  <a:srgbClr val="00B050"/>
                </a:solidFill>
              </a:rPr>
              <a:t>.</a:t>
            </a:r>
            <a:r>
              <a:rPr lang="en-US" dirty="0"/>
              <a:t>).</a:t>
            </a:r>
          </a:p>
          <a:p>
            <a:r>
              <a:rPr lang="en-US" dirty="0"/>
              <a:t>This can make the code more readable, but is also a bit more inconvenient (your choice!).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A45B22-F888-4ECA-82B5-4FC09BD390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692" t="7917" r="31090" b="68410"/>
          <a:stretch/>
        </p:blipFill>
        <p:spPr>
          <a:xfrm>
            <a:off x="7205784" y="1338996"/>
            <a:ext cx="4829908" cy="220317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B9D81F-6601-4E0E-BB16-ABB1C3937520}"/>
              </a:ext>
            </a:extLst>
          </p:cNvPr>
          <p:cNvSpPr txBox="1"/>
          <p:nvPr/>
        </p:nvSpPr>
        <p:spPr>
          <a:xfrm>
            <a:off x="8253046" y="877331"/>
            <a:ext cx="2735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more_code.py file</a:t>
            </a:r>
            <a:endParaRPr lang="en-GB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D3E5A1-D603-45EC-85E6-20F24DA959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474" t="28307" r="18141" b="36901"/>
          <a:stretch/>
        </p:blipFill>
        <p:spPr>
          <a:xfrm>
            <a:off x="6096000" y="4185413"/>
            <a:ext cx="5995783" cy="256803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C3CD6F-0984-4E9E-B0EB-C12DB16E1345}"/>
              </a:ext>
            </a:extLst>
          </p:cNvPr>
          <p:cNvSpPr txBox="1"/>
          <p:nvPr/>
        </p:nvSpPr>
        <p:spPr>
          <a:xfrm>
            <a:off x="7980199" y="3723748"/>
            <a:ext cx="2227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 our notebook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1858197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C3624-B803-4948-8535-9E9B5305A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an entire </a:t>
            </a:r>
            <a:r>
              <a:rPr lang="en-US" b="1" dirty="0">
                <a:solidFill>
                  <a:srgbClr val="00B050"/>
                </a:solidFill>
              </a:rPr>
              <a:t>module</a:t>
            </a:r>
            <a:endParaRPr lang="en-GB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70EFA-D4BB-43F6-9627-668955B9A3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91905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You can also use an alias for the module using the </a:t>
            </a:r>
            <a:r>
              <a:rPr lang="en-US" b="1" dirty="0">
                <a:solidFill>
                  <a:srgbClr val="00B050"/>
                </a:solidFill>
              </a:rPr>
              <a:t>as</a:t>
            </a:r>
            <a:r>
              <a:rPr lang="en-US" dirty="0"/>
              <a:t> keyword, as before.</a:t>
            </a:r>
          </a:p>
          <a:p>
            <a:r>
              <a:rPr lang="en-US" dirty="0"/>
              <a:t>Typically, we often do it with the </a:t>
            </a:r>
            <a:r>
              <a:rPr lang="en-US" dirty="0" err="1"/>
              <a:t>Numpy</a:t>
            </a:r>
            <a:r>
              <a:rPr lang="en-US" dirty="0"/>
              <a:t> library!</a:t>
            </a:r>
          </a:p>
          <a:p>
            <a:pPr marL="0" indent="0" algn="ctr">
              <a:buNone/>
            </a:pPr>
            <a:br>
              <a:rPr lang="en-US" dirty="0"/>
            </a:br>
            <a:r>
              <a:rPr lang="en-US" b="1" i="1" dirty="0">
                <a:solidFill>
                  <a:srgbClr val="00B050"/>
                </a:solidFill>
              </a:rPr>
              <a:t>import</a:t>
            </a:r>
            <a:r>
              <a:rPr lang="en-US" b="1" i="1" dirty="0"/>
              <a:t> </a:t>
            </a:r>
            <a:r>
              <a:rPr lang="en-US" b="1" i="1" dirty="0" err="1"/>
              <a:t>numpy</a:t>
            </a:r>
            <a:r>
              <a:rPr lang="en-US" b="1" i="1" dirty="0"/>
              <a:t> </a:t>
            </a:r>
            <a:r>
              <a:rPr lang="en-US" b="1" i="1" dirty="0">
                <a:solidFill>
                  <a:srgbClr val="00B050"/>
                </a:solidFill>
              </a:rPr>
              <a:t>as</a:t>
            </a:r>
            <a:r>
              <a:rPr lang="en-US" b="1" i="1" dirty="0"/>
              <a:t> np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A45B22-F888-4ECA-82B5-4FC09BD390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692" t="7917" r="31090" b="68410"/>
          <a:stretch/>
        </p:blipFill>
        <p:spPr>
          <a:xfrm>
            <a:off x="7205784" y="1338996"/>
            <a:ext cx="4829908" cy="220317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B9D81F-6601-4E0E-BB16-ABB1C3937520}"/>
              </a:ext>
            </a:extLst>
          </p:cNvPr>
          <p:cNvSpPr txBox="1"/>
          <p:nvPr/>
        </p:nvSpPr>
        <p:spPr>
          <a:xfrm>
            <a:off x="8253046" y="877331"/>
            <a:ext cx="2735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more_code.py file</a:t>
            </a:r>
            <a:endParaRPr lang="en-GB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3CD6F-0984-4E9E-B0EB-C12DB16E1345}"/>
              </a:ext>
            </a:extLst>
          </p:cNvPr>
          <p:cNvSpPr txBox="1"/>
          <p:nvPr/>
        </p:nvSpPr>
        <p:spPr>
          <a:xfrm>
            <a:off x="7980199" y="3723748"/>
            <a:ext cx="2227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 our notebook</a:t>
            </a:r>
            <a:endParaRPr lang="en-GB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B8FBE6-1688-40A6-B653-5DACBA315F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667" t="42174" r="33205" b="31280"/>
          <a:stretch/>
        </p:blipFill>
        <p:spPr>
          <a:xfrm>
            <a:off x="7635630" y="4184089"/>
            <a:ext cx="3126154" cy="256058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319762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01262-2610-426E-9900-604577B83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Folders to import from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57E52-BAFF-4CDD-9673-F15028A246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Observation: </a:t>
            </a:r>
            <a:r>
              <a:rPr lang="en-US" dirty="0"/>
              <a:t>Python imported functions from my_code.py, which was located in the same folder as my Notebook.</a:t>
            </a:r>
          </a:p>
          <a:p>
            <a:r>
              <a:rPr lang="en-US" b="1" dirty="0"/>
              <a:t>But there was no </a:t>
            </a:r>
            <a:r>
              <a:rPr lang="en-US" b="1" u="sng" dirty="0"/>
              <a:t>numpy.py file </a:t>
            </a:r>
            <a:r>
              <a:rPr lang="en-US" b="1" dirty="0"/>
              <a:t>in this location.</a:t>
            </a:r>
          </a:p>
          <a:p>
            <a:r>
              <a:rPr lang="en-US" b="1" dirty="0"/>
              <a:t>What happened?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A5CF3-039B-4A59-916D-E9BDD1E83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840898"/>
          </a:xfrm>
        </p:spPr>
        <p:txBody>
          <a:bodyPr>
            <a:normAutofit/>
          </a:bodyPr>
          <a:lstStyle/>
          <a:p>
            <a:r>
              <a:rPr lang="en-US" dirty="0"/>
              <a:t>Python looks for files in your current folder first,</a:t>
            </a:r>
          </a:p>
          <a:p>
            <a:r>
              <a:rPr lang="en-US" dirty="0"/>
              <a:t>And then looks in your Python installation directory.</a:t>
            </a:r>
          </a:p>
          <a:p>
            <a:endParaRPr lang="en-US" dirty="0"/>
          </a:p>
          <a:p>
            <a:r>
              <a:rPr lang="en-US" dirty="0"/>
              <a:t>When you installed the </a:t>
            </a:r>
            <a:r>
              <a:rPr lang="en-US" dirty="0" err="1"/>
              <a:t>Numpy</a:t>
            </a:r>
            <a:r>
              <a:rPr lang="en-US" dirty="0"/>
              <a:t> package with </a:t>
            </a:r>
            <a:r>
              <a:rPr lang="en-US" b="1" dirty="0">
                <a:solidFill>
                  <a:srgbClr val="00B050"/>
                </a:solidFill>
              </a:rPr>
              <a:t>pip</a:t>
            </a:r>
            <a:r>
              <a:rPr lang="en-US" dirty="0"/>
              <a:t> on Week 1, you downloaded some </a:t>
            </a:r>
            <a:r>
              <a:rPr lang="en-US" b="1" dirty="0" err="1"/>
              <a:t>numpy</a:t>
            </a:r>
            <a:r>
              <a:rPr lang="en-US" b="1" dirty="0"/>
              <a:t> files</a:t>
            </a:r>
            <a:r>
              <a:rPr lang="en-US" dirty="0"/>
              <a:t> and stored them in your Python installation folder!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05930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4644D15-E345-40E2-964E-FDD30823AE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838" t="9641" r="65546" b="27807"/>
          <a:stretch/>
        </p:blipFill>
        <p:spPr>
          <a:xfrm>
            <a:off x="6096000" y="103383"/>
            <a:ext cx="5994399" cy="6651234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0C4D963-4804-4B8C-A72E-3FECB54118FA}"/>
              </a:ext>
            </a:extLst>
          </p:cNvPr>
          <p:cNvSpPr txBox="1">
            <a:spLocks/>
          </p:cNvSpPr>
          <p:nvPr/>
        </p:nvSpPr>
        <p:spPr>
          <a:xfrm>
            <a:off x="412263" y="1952430"/>
            <a:ext cx="5181600" cy="4840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Python looks for files in your current folder first,</a:t>
            </a:r>
          </a:p>
          <a:p>
            <a:r>
              <a:rPr lang="en-US" dirty="0"/>
              <a:t>And then looks in your Python installation directory.</a:t>
            </a:r>
          </a:p>
          <a:p>
            <a:endParaRPr lang="en-US" dirty="0"/>
          </a:p>
          <a:p>
            <a:r>
              <a:rPr lang="en-US" dirty="0"/>
              <a:t>When you installed the </a:t>
            </a:r>
            <a:r>
              <a:rPr lang="en-US" dirty="0" err="1"/>
              <a:t>Numpy</a:t>
            </a:r>
            <a:r>
              <a:rPr lang="en-US" dirty="0"/>
              <a:t> package with </a:t>
            </a:r>
            <a:r>
              <a:rPr lang="en-US" b="1" dirty="0">
                <a:solidFill>
                  <a:srgbClr val="00B050"/>
                </a:solidFill>
              </a:rPr>
              <a:t>pip</a:t>
            </a:r>
            <a:r>
              <a:rPr lang="en-US" dirty="0"/>
              <a:t> on Week 1, you downloaded some </a:t>
            </a:r>
            <a:r>
              <a:rPr lang="en-US" b="1" dirty="0" err="1"/>
              <a:t>numpy</a:t>
            </a:r>
            <a:r>
              <a:rPr lang="en-US" b="1" dirty="0"/>
              <a:t> </a:t>
            </a:r>
            <a:r>
              <a:rPr lang="en-US" dirty="0"/>
              <a:t>files and stored them in your Python installation folder!</a:t>
            </a:r>
          </a:p>
          <a:p>
            <a:endParaRPr lang="en-GB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F1D29A2-2302-491F-8877-F4BDD6ACF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263" y="365125"/>
            <a:ext cx="10941537" cy="1325563"/>
          </a:xfrm>
        </p:spPr>
        <p:txBody>
          <a:bodyPr/>
          <a:lstStyle/>
          <a:p>
            <a:r>
              <a:rPr lang="en-US" dirty="0"/>
              <a:t>Folders to import from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85789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787E2-8503-43BE-8E35-A56B8FAC6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organizing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43FF62-3090-498A-A559-939E2A34E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95863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Question: </a:t>
            </a:r>
            <a:r>
              <a:rPr lang="en-US" dirty="0"/>
              <a:t>How to organize your code/projects, when you start to have many functions working together?</a:t>
            </a:r>
          </a:p>
          <a:p>
            <a:r>
              <a:rPr lang="en-US" dirty="0"/>
              <a:t>In many projects, several developers will often collaborate on a single project.</a:t>
            </a:r>
          </a:p>
          <a:p>
            <a:r>
              <a:rPr lang="en-US" dirty="0"/>
              <a:t>And each one of them will end up working on a single aspect of the project.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AC2470-9F5C-4637-AFFB-6DC1CE93F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E.g. in a video game:</a:t>
            </a:r>
          </a:p>
          <a:p>
            <a:r>
              <a:rPr lang="en-US" dirty="0"/>
              <a:t>One developer can design the main character,</a:t>
            </a:r>
          </a:p>
          <a:p>
            <a:r>
              <a:rPr lang="en-US" dirty="0"/>
              <a:t>Another one will develop enemies,</a:t>
            </a:r>
          </a:p>
          <a:p>
            <a:r>
              <a:rPr lang="en-US" dirty="0"/>
              <a:t>Another one will develop items and weapons,</a:t>
            </a:r>
          </a:p>
          <a:p>
            <a:r>
              <a:rPr lang="en-US" dirty="0"/>
              <a:t>Another one will design the map/environment in which heroes and enemies evolve,</a:t>
            </a:r>
          </a:p>
          <a:p>
            <a:r>
              <a:rPr lang="en-US" dirty="0"/>
              <a:t>Etc.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17693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4A0D11-1B5E-4F15-BCD9-991A19C459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280" t="26405" r="57454" b="16068"/>
          <a:stretch/>
        </p:blipFill>
        <p:spPr>
          <a:xfrm>
            <a:off x="129073" y="298579"/>
            <a:ext cx="11933853" cy="626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4184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C18A5-1AED-47BF-8E0E-C90CBCD89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organizing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9627A-EE82-4127-82D9-8DBDB2DA72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practice,</a:t>
            </a:r>
          </a:p>
          <a:p>
            <a:r>
              <a:rPr lang="en-US" dirty="0"/>
              <a:t>Each developer will then work on his/her own .</a:t>
            </a:r>
            <a:r>
              <a:rPr lang="en-US" dirty="0" err="1"/>
              <a:t>py</a:t>
            </a:r>
            <a:r>
              <a:rPr lang="en-US" dirty="0"/>
              <a:t> file, taking care of his/her specific subtask.</a:t>
            </a:r>
          </a:p>
          <a:p>
            <a:r>
              <a:rPr lang="en-US" dirty="0"/>
              <a:t>Later on, other developers might </a:t>
            </a:r>
            <a:r>
              <a:rPr lang="en-US" b="1" dirty="0"/>
              <a:t>import</a:t>
            </a:r>
            <a:r>
              <a:rPr lang="en-US" dirty="0"/>
              <a:t> functions from files created by other people.</a:t>
            </a:r>
          </a:p>
          <a:p>
            <a:r>
              <a:rPr lang="en-US" dirty="0"/>
              <a:t>Eventually assemble all pieces in a </a:t>
            </a:r>
            <a:r>
              <a:rPr lang="en-US" b="1" dirty="0"/>
              <a:t>main.py </a:t>
            </a:r>
            <a:r>
              <a:rPr lang="en-US" dirty="0"/>
              <a:t>file!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0BB05D-D62D-4525-BCEB-1D5D231FB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US" dirty="0"/>
              <a:t>This is something very common in programming projects.</a:t>
            </a:r>
          </a:p>
          <a:p>
            <a:endParaRPr lang="en-GB" dirty="0"/>
          </a:p>
          <a:p>
            <a:r>
              <a:rPr lang="en-GB" b="1" dirty="0"/>
              <a:t>Important:</a:t>
            </a:r>
            <a:r>
              <a:rPr lang="en-GB" dirty="0"/>
              <a:t> If your code will be reused by other people, even though they have not coded it, you need to build the habit of documenting your functions!</a:t>
            </a:r>
            <a:br>
              <a:rPr lang="en-GB" dirty="0"/>
            </a:br>
            <a:r>
              <a:rPr lang="en-GB" i="1" dirty="0"/>
              <a:t>(Otherwise, they will need to read your code to understand it and they will hate you for it)</a:t>
            </a:r>
          </a:p>
        </p:txBody>
      </p:sp>
    </p:spTree>
    <p:extLst>
      <p:ext uri="{BB962C8B-B14F-4D97-AF65-F5344CB8AC3E}">
        <p14:creationId xmlns:p14="http://schemas.microsoft.com/office/powerpoint/2010/main" val="20374480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153FD87-5B3C-4376-AF54-807184599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Matt’s Great advice</a:t>
            </a:r>
          </a:p>
        </p:txBody>
      </p:sp>
      <p:pic>
        <p:nvPicPr>
          <p:cNvPr id="10" name="Picture 9" descr="A picture containing person, indoor, table, woman&#10;&#10;Description automatically generated">
            <a:extLst>
              <a:ext uri="{FF2B5EF4-FFF2-40B4-BE49-F238E27FC236}">
                <a16:creationId xmlns:a16="http://schemas.microsoft.com/office/drawing/2014/main" id="{93F7CB8F-466F-4FBF-B9B9-0DEA6FD78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7456" y="2006662"/>
            <a:ext cx="5163364" cy="38725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ED569D6F-BC92-40F3-82E8-2041D580BAA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94974" y="1589088"/>
                <a:ext cx="6122136" cy="5167311"/>
              </a:xfrm>
              <a:solidFill>
                <a:schemeClr val="accent5">
                  <a:lumMod val="40000"/>
                  <a:lumOff val="60000"/>
                </a:schemeClr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Matt’s Great Advice: Good import practices and project organizing.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As with the variables and functions, it is a good idea to </a:t>
                </a:r>
                <a:r>
                  <a:rPr lang="en-US" sz="2400" b="1" dirty="0"/>
                  <a:t>make your file names explicit</a:t>
                </a:r>
                <a:r>
                  <a:rPr lang="en-US" sz="2400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Have </a:t>
                </a:r>
                <a:r>
                  <a:rPr lang="en-US" sz="2400" b="1" dirty="0"/>
                  <a:t>a file for each sub-concept</a:t>
                </a:r>
                <a:r>
                  <a:rPr lang="en-US" sz="2400" dirty="0"/>
                  <a:t>, and </a:t>
                </a:r>
                <a:r>
                  <a:rPr lang="en-US" sz="2400" b="1" dirty="0"/>
                  <a:t>a single main file that assembles them all</a:t>
                </a:r>
                <a:r>
                  <a:rPr lang="en-US" sz="2400" dirty="0"/>
                  <a:t> at the end.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It is often better to </a:t>
                </a:r>
                <a:r>
                  <a:rPr lang="en-US" sz="2400" b="1" dirty="0"/>
                  <a:t>import only what is needed </a:t>
                </a:r>
                <a:r>
                  <a:rPr lang="en-US" sz="2400" dirty="0"/>
                  <a:t>(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from</a:t>
                </a:r>
                <a:r>
                  <a:rPr lang="en-US" sz="2400" dirty="0"/>
                  <a:t> …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import</a:t>
                </a:r>
                <a:r>
                  <a:rPr lang="en-US" sz="2400" dirty="0"/>
                  <a:t> …) rather than importing everything which </a:t>
                </a:r>
                <a:r>
                  <a:rPr lang="en-US" sz="2400"/>
                  <a:t>is overkill.</a:t>
                </a:r>
                <a:br>
                  <a:rPr lang="en-US" sz="2400" dirty="0"/>
                </a:br>
                <a:r>
                  <a:rPr lang="en-US" sz="2400" dirty="0"/>
                  <a:t>(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from</a:t>
                </a:r>
                <a:r>
                  <a:rPr lang="en-US" sz="2400" dirty="0"/>
                  <a:t> …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import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2400" dirty="0"/>
                  <a:t>,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import</a:t>
                </a:r>
                <a:r>
                  <a:rPr lang="en-US" sz="2400" dirty="0"/>
                  <a:t> …).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Comment your code! (Don’t be THAT guy).</a:t>
                </a: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ED569D6F-BC92-40F3-82E8-2041D580BA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94974" y="1589088"/>
                <a:ext cx="6122136" cy="5167311"/>
              </a:xfrm>
              <a:blipFill>
                <a:blip r:embed="rId3"/>
                <a:stretch>
                  <a:fillRect/>
                </a:stretch>
              </a:blip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13898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C776-F489-4F89-B9D1-64DFC920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4" y="406968"/>
            <a:ext cx="6798541" cy="837884"/>
          </a:xfrm>
        </p:spPr>
        <p:txBody>
          <a:bodyPr anchor="b">
            <a:normAutofit/>
          </a:bodyPr>
          <a:lstStyle/>
          <a:p>
            <a:r>
              <a:rPr lang="en-US" sz="4000" dirty="0"/>
              <a:t>Conclusion (</a:t>
            </a:r>
            <a:r>
              <a:rPr lang="en-US" sz="4000"/>
              <a:t>Chapter 12)</a:t>
            </a:r>
            <a:endParaRPr lang="en-US" sz="4000" dirty="0"/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943E5914-5549-6D68-0D39-CD2945350A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64" r="40215" b="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85463-414E-4F5F-96DD-C1BA37CF0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1651819"/>
            <a:ext cx="7362963" cy="5004619"/>
          </a:xfrm>
        </p:spPr>
        <p:txBody>
          <a:bodyPr>
            <a:normAutofit/>
          </a:bodyPr>
          <a:lstStyle/>
          <a:p>
            <a:r>
              <a:rPr lang="en-US" dirty="0"/>
              <a:t>A quick word on memory management and lists: </a:t>
            </a:r>
            <a:r>
              <a:rPr lang="en-US" b="1" dirty="0"/>
              <a:t>aliasing</a:t>
            </a:r>
            <a:r>
              <a:rPr lang="en-US" dirty="0"/>
              <a:t>, </a:t>
            </a:r>
            <a:r>
              <a:rPr lang="en-US" b="1" dirty="0"/>
              <a:t>shallow</a:t>
            </a:r>
            <a:r>
              <a:rPr lang="en-US" dirty="0"/>
              <a:t> and </a:t>
            </a:r>
            <a:r>
              <a:rPr lang="en-US" b="1" dirty="0"/>
              <a:t>deep copies.</a:t>
            </a:r>
          </a:p>
          <a:p>
            <a:r>
              <a:rPr lang="en-US" dirty="0"/>
              <a:t>What is a </a:t>
            </a:r>
            <a:r>
              <a:rPr lang="en-US" b="1" dirty="0"/>
              <a:t>library</a:t>
            </a:r>
            <a:r>
              <a:rPr lang="en-US" dirty="0"/>
              <a:t>? What is the </a:t>
            </a:r>
            <a:r>
              <a:rPr lang="en-US" b="1" dirty="0" err="1"/>
              <a:t>Numpy</a:t>
            </a:r>
            <a:r>
              <a:rPr lang="en-US" b="1" dirty="0"/>
              <a:t> library </a:t>
            </a:r>
            <a:r>
              <a:rPr lang="en-US" dirty="0"/>
              <a:t>and its basic concepts (e.g. arrays, math functions, etc.)?</a:t>
            </a:r>
          </a:p>
          <a:p>
            <a:r>
              <a:rPr lang="en-US" dirty="0"/>
              <a:t>What is the </a:t>
            </a:r>
            <a:r>
              <a:rPr lang="en-US" b="1" dirty="0"/>
              <a:t>import procedure </a:t>
            </a:r>
            <a:r>
              <a:rPr lang="en-US" dirty="0"/>
              <a:t>doing exactly?</a:t>
            </a:r>
          </a:p>
          <a:p>
            <a:r>
              <a:rPr lang="en-US" dirty="0"/>
              <a:t>How to organize your different codes for better </a:t>
            </a:r>
            <a:r>
              <a:rPr lang="en-US" b="1" dirty="0"/>
              <a:t>project organizing</a:t>
            </a:r>
            <a:r>
              <a:rPr lang="en-US" dirty="0"/>
              <a:t>?</a:t>
            </a:r>
          </a:p>
          <a:p>
            <a:r>
              <a:rPr lang="en-US" b="1" dirty="0"/>
              <a:t>Our first mini-project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21439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B15CB5-6E28-B9C9-D39C-5AE85C0A2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 us move on to our first </a:t>
            </a:r>
            <a:br>
              <a:rPr lang="en-GB" dirty="0"/>
            </a:br>
            <a:r>
              <a:rPr lang="en-GB" dirty="0"/>
              <a:t>Mini-project now!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633F57-7DBB-ED92-411A-F5CC2A77D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Wait for me to explain </a:t>
            </a:r>
            <a:r>
              <a:rPr lang="en-GB"/>
              <a:t>and show you first.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58001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14.0.5919"/>
  <p:tag name="SLIDO_PRESENTATION_ID" val="f4b49e27-88ee-4989-81e9-f9e09f5337bc"/>
  <p:tag name="SLIDO_EVENT_UUID" val="543d9f5a-106e-4a45-a6b3-aac80f9ba6a8"/>
  <p:tag name="SLIDO_EVENT_SECTION_UUID" val="c963ca05-f3be-429b-ab8f-c930aca1b31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MzYyNjQ4MjF9"/>
  <p:tag name="SLIDO_TYPE" val="SlidoPoll"/>
  <p:tag name="SLIDO_POLL_UUID" val="312f3137-ab17-46e3-a84f-120c158b2c8a"/>
  <p:tag name="SLIDO_POLL_QUESTION_UUID" val="15b212f8-d9f0-4b25-8357-832f52389070"/>
  <p:tag name="SLIDO_TIMELINE" val="W3sic2NyZWVuIjoiUXVpekpvaW5pbmciLCJzaG93UmVzdWx0cyI6ZmFsc2UsInNob3dDb3JyZWN0QW5zd2VycyI6ZmFsc2UsInZvdGluZ0xvY2tlZCI6ZmFsc2V9LHsicG9sbFF1ZXN0aW9uVXVpZCI6IjE1YjIxMmY4LWQ5ZjAtNGIyNS04MzU3LTgzMmY1MjM4OTA3MCIsInNob3dSZXN1bHRzIjpmYWxzZSwic2hvd0NvcnJlY3RBbnN3ZXJzIjpmYWxzZSwidm90aW5nTG9ja2VkIjpmYWxzZX0seyJwb2xsUXVlc3Rpb25VdWlkIjoiMTViMjEyZjgtZDlmMC00YjI1LTgzNTctODMyZjUyMzg5MDcwIiwic2hvd1Jlc3VsdHMiOnRydWUsInNob3dDb3JyZWN0QW5zd2VycyI6ZmFsc2UsInZvdGluZ0xvY2tlZCI6dHJ1ZX0seyJwb2xsUXVlc3Rpb25VdWlkIjoiMTViMjEyZjgtZDlmMC00YjI1LTgzNTctODMyZjUyMzg5MDcwIiwic2hvd1Jlc3VsdHMiOnRydWUsInNob3dDb3JyZWN0QW5zd2VycyI6dHJ1ZSwidm90aW5nTG9ja2VkIjp0cnVlfV0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MzYyNjQ5MDB9"/>
  <p:tag name="SLIDO_TYPE" val="SlidoPoll"/>
  <p:tag name="SLIDO_POLL_UUID" val="312f3137-ab17-46e3-a84f-120c158b2c8a"/>
  <p:tag name="SLIDO_POLL_QUESTION_UUID" val="b8a44cd3-932e-4d94-9571-1658f409df5a"/>
  <p:tag name="SLIDO_TIMELINE" val="W3sicG9sbFF1ZXN0aW9uVXVpZCI6ImI4YTQ0Y2QzLTkzMmUtNGQ5NC05NTcxLTE2NThmNDA5ZGY1YSIsInNob3dSZXN1bHRzIjpmYWxzZSwic2hvd0NvcnJlY3RBbnN3ZXJzIjpmYWxzZSwidm90aW5nTG9ja2VkIjpmYWxzZX0seyJwb2xsUXVlc3Rpb25VdWlkIjoiYjhhNDRjZDMtOTMyZS00ZDk0LTk1NzEtMTY1OGY0MDlkZjVhIiwic2hvd1Jlc3VsdHMiOnRydWUsInNob3dDb3JyZWN0QW5zd2VycyI6ZmFsc2UsInZvdGluZ0xvY2tlZCI6dHJ1ZX0seyJwb2xsUXVlc3Rpb25VdWlkIjoiYjhhNDRjZDMtOTMyZS00ZDk0LTk1NzEtMTY1OGY0MDlkZjVhIiwic2hvd1Jlc3VsdHMiOnRydWUsInNob3dDb3JyZWN0QW5zd2VycyI6dHJ1ZSwidm90aW5nTG9ja2VkIjp0cnVlfV0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MzYyNjQ5NTF9"/>
  <p:tag name="SLIDO_TYPE" val="SlidoPoll"/>
  <p:tag name="SLIDO_POLL_UUID" val="312f3137-ab17-46e3-a84f-120c158b2c8a"/>
  <p:tag name="SLIDO_POLL_QUESTION_UUID" val="8417e5e3-2d6a-452a-938a-25bf782408c0"/>
  <p:tag name="SLIDO_TIMELINE" val="W3sicG9sbFF1ZXN0aW9uVXVpZCI6Ijg0MTdlNWUzLTJkNmEtNDUyYS05MzhhLTI1YmY3ODI0MDhjMCIsInNob3dSZXN1bHRzIjpmYWxzZSwic2hvd0NvcnJlY3RBbnN3ZXJzIjpmYWxzZSwidm90aW5nTG9ja2VkIjpmYWxzZX0seyJwb2xsUXVlc3Rpb25VdWlkIjoiODQxN2U1ZTMtMmQ2YS00NTJhLTkzOGEtMjViZjc4MjQwOGMwIiwic2hvd1Jlc3VsdHMiOnRydWUsInNob3dDb3JyZWN0QW5zd2VycyI6ZmFsc2UsInZvdGluZ0xvY2tlZCI6dHJ1ZX0seyJwb2xsUXVlc3Rpb25VdWlkIjoiODQxN2U1ZTMtMmQ2YS00NTJhLTkzOGEtMjViZjc4MjQwOGMwIiwic2hvd1Jlc3VsdHMiOnRydWUsInNob3dDb3JyZWN0QW5zd2VycyI6dHJ1ZSwidm90aW5nTG9ja2VkIjp0cnVlfSx7InNjcmVlbiI6IlF1aXpMZWFkZXJib2FyZCIsInBvbGxRdWVzdGlvblV1aWQiOiI4NDE3ZTVlMy0yZDZhLTQ1MmEtOTM4YS0yNWJmNzgyNDA4YzAiLCJzaG93UmVzdWx0cyI6dHJ1ZSwic2hvd0NvcnJlY3RBbnN3ZXJzIjp0cnVlLCJ2b3RpbmdMb2NrZWQiOnRydWV9XQ=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4660</TotalTime>
  <Words>2952</Words>
  <Application>Microsoft Office PowerPoint</Application>
  <PresentationFormat>Widescreen</PresentationFormat>
  <Paragraphs>335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Calibri</vt:lpstr>
      <vt:lpstr>Calibri Light</vt:lpstr>
      <vt:lpstr>Cambria Math</vt:lpstr>
      <vt:lpstr>Wingdings</vt:lpstr>
      <vt:lpstr>Office Theme</vt:lpstr>
      <vt:lpstr>A gamified introduction to Python Programming  Lecture 12 Libraries &amp; Importing (Numpy example)</vt:lpstr>
      <vt:lpstr>Outline (Chapter 12)</vt:lpstr>
      <vt:lpstr>Memory of a computer</vt:lpstr>
      <vt:lpstr>Recall: the id() function</vt:lpstr>
      <vt:lpstr>Recall: the id() function</vt:lpstr>
      <vt:lpstr>Memory management in lists</vt:lpstr>
      <vt:lpstr>Memory management in lists</vt:lpstr>
      <vt:lpstr>Memory management in lists</vt:lpstr>
      <vt:lpstr>Aliasing in lists: problem</vt:lpstr>
      <vt:lpstr>Aliasing in lists: problem</vt:lpstr>
      <vt:lpstr>Aliasing in lists: problem</vt:lpstr>
      <vt:lpstr>Aliasing in lists: problem</vt:lpstr>
      <vt:lpstr>Shallow copy of a list</vt:lpstr>
      <vt:lpstr>Shallow copy: problem</vt:lpstr>
      <vt:lpstr>Deep copy</vt:lpstr>
      <vt:lpstr>Matt’s Great advice</vt:lpstr>
      <vt:lpstr>PowerPoint Presentation</vt:lpstr>
      <vt:lpstr>PowerPoint Presentation</vt:lpstr>
      <vt:lpstr>PowerPoint Presentation</vt:lpstr>
      <vt:lpstr>About the numpy library</vt:lpstr>
      <vt:lpstr>A new type of objects: Numpy Arrays</vt:lpstr>
      <vt:lpstr>Length, size, shape</vt:lpstr>
      <vt:lpstr>Indexing an array</vt:lpstr>
      <vt:lpstr>Traversing an array with for</vt:lpstr>
      <vt:lpstr>The + operator on arrays</vt:lpstr>
      <vt:lpstr>Aliasing, Shallow and Deep copies in arrays</vt:lpstr>
      <vt:lpstr>Activity 1 - Exam adjustments</vt:lpstr>
      <vt:lpstr>Activity 1 - Exam adjustments</vt:lpstr>
      <vt:lpstr>Activity 1 - Exam adjustments</vt:lpstr>
      <vt:lpstr>Concatenation on arrays</vt:lpstr>
      <vt:lpstr>The ∗ operator on arrays</vt:lpstr>
      <vt:lpstr>Additional functions</vt:lpstr>
      <vt:lpstr>Mathematical functions and constants</vt:lpstr>
      <vt:lpstr>And so much more! RTFM!</vt:lpstr>
      <vt:lpstr>The import procedure</vt:lpstr>
      <vt:lpstr>The import procedure</vt:lpstr>
      <vt:lpstr>Importing as</vt:lpstr>
      <vt:lpstr>Importing several functions</vt:lpstr>
      <vt:lpstr>Importing an entire module</vt:lpstr>
      <vt:lpstr>Importing an entire module</vt:lpstr>
      <vt:lpstr>Folders to import from</vt:lpstr>
      <vt:lpstr>Folders to import from</vt:lpstr>
      <vt:lpstr>Project organizing</vt:lpstr>
      <vt:lpstr>PowerPoint Presentation</vt:lpstr>
      <vt:lpstr>Project organizing</vt:lpstr>
      <vt:lpstr>Matt’s Great advice</vt:lpstr>
      <vt:lpstr>Conclusion (Chapter 12)</vt:lpstr>
      <vt:lpstr>Let us move on to our first  Mini-project now!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ILP 2020 – W1S1 Syllabus, eDimension, and key concepts of programming</dc:title>
  <dc:creator>Matthieu De Mari</dc:creator>
  <cp:lastModifiedBy>Matthieu DE MARI</cp:lastModifiedBy>
  <cp:revision>773</cp:revision>
  <dcterms:created xsi:type="dcterms:W3CDTF">2020-05-19T08:08:47Z</dcterms:created>
  <dcterms:modified xsi:type="dcterms:W3CDTF">2025-08-29T07:41:03Z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e298231-ee28-4c9e-9ffa-238d0040efda_Enabled">
    <vt:lpwstr>true</vt:lpwstr>
  </property>
  <property fmtid="{D5CDD505-2E9C-101B-9397-08002B2CF9AE}" pid="3" name="MSIP_Label_be298231-ee28-4c9e-9ffa-238d0040efda_SetDate">
    <vt:lpwstr>2023-07-17T05:26:05Z</vt:lpwstr>
  </property>
  <property fmtid="{D5CDD505-2E9C-101B-9397-08002B2CF9AE}" pid="4" name="MSIP_Label_be298231-ee28-4c9e-9ffa-238d0040efda_Method">
    <vt:lpwstr>Privileged</vt:lpwstr>
  </property>
  <property fmtid="{D5CDD505-2E9C-101B-9397-08002B2CF9AE}" pid="5" name="MSIP_Label_be298231-ee28-4c9e-9ffa-238d0040efda_Name">
    <vt:lpwstr>Public</vt:lpwstr>
  </property>
  <property fmtid="{D5CDD505-2E9C-101B-9397-08002B2CF9AE}" pid="6" name="MSIP_Label_be298231-ee28-4c9e-9ffa-238d0040efda_SiteId">
    <vt:lpwstr>3476b776-e990-4f72-b950-62489831623d</vt:lpwstr>
  </property>
  <property fmtid="{D5CDD505-2E9C-101B-9397-08002B2CF9AE}" pid="7" name="MSIP_Label_be298231-ee28-4c9e-9ffa-238d0040efda_ActionId">
    <vt:lpwstr>ce67b870-508f-4e6d-9359-69e565de4275</vt:lpwstr>
  </property>
  <property fmtid="{D5CDD505-2E9C-101B-9397-08002B2CF9AE}" pid="8" name="MSIP_Label_be298231-ee28-4c9e-9ffa-238d0040efda_ContentBits">
    <vt:lpwstr>0</vt:lpwstr>
  </property>
</Properties>
</file>